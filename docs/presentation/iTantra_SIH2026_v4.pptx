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bps</c:v>
                </c:pt>
              </c:strCache>
            </c:strRef>
          </c:tx>
          <c:dPt>
            <c:idx val="0"/>
            <c:spPr>
              <a:solidFill>
                <a:srgbClr val="9AA3AF"/>
              </a:solidFill>
            </c:spPr>
          </c:dPt>
          <c:dPt>
            <c:idx val="1"/>
            <c:spPr>
              <a:solidFill>
                <a:srgbClr val="9AA3AF"/>
              </a:solidFill>
            </c:spPr>
          </c:dPt>
          <c:dPt>
            <c:idx val="2"/>
            <c:spPr>
              <a:solidFill>
                <a:srgbClr val="EA580C"/>
              </a:solidFill>
            </c:spPr>
          </c:dPt>
          <c:cat>
            <c:strRef>
              <c:f>Sheet1!$A$2:$A$4</c:f>
              <c:strCache>
                <c:ptCount val="3"/>
                <c:pt idx="0">
                  <c:v>Raw audio</c:v>
                </c:pt>
                <c:pt idx="1">
                  <c:v>Opus voice</c:v>
                </c:pt>
                <c:pt idx="2">
                  <c:v>iTantra text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256000</c:v>
                </c:pt>
                <c:pt idx="1">
                  <c:v>12000</c:v>
                </c:pt>
                <c:pt idx="2">
                  <c:v>165</c:v>
                </c:pt>
              </c:numCache>
            </c:numRef>
          </c:val>
        </c:ser>
        <c:dLbls>
          <c:numFmt formatCode="[&gt;=1000]0,&quot;k&quot;;0" sourceLinked="0"/>
          <c:txPr>
            <a:bodyPr/>
            <a:lstStyle/>
            <a:p>
              <a:pPr>
                <a:defRPr sz="900" b="1">
                  <a:solidFill>
                    <a:srgbClr val="1B24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50">
                <a:solidFill>
                  <a:srgbClr val="1B2433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logBase val="10"/>
          <c:max val="100000000.0"/>
          <c:min val="1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hyperlink" Target="https://itantra-106.pages.dev/demo/" TargetMode="External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chart" Target="../charts/chart1.xml"/><Relationship Id="rId17" Type="http://schemas.openxmlformats.org/officeDocument/2006/relationships/image" Target="../media/image15.png"/><Relationship Id="rId18" Type="http://schemas.openxmlformats.org/officeDocument/2006/relationships/image" Target="../media/image16.png"/><Relationship Id="rId19" Type="http://schemas.openxmlformats.org/officeDocument/2006/relationships/image" Target="../media/image17.png"/><Relationship Id="rId20" Type="http://schemas.openxmlformats.org/officeDocument/2006/relationships/image" Target="../media/image1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8.png"/><Relationship Id="rId7" Type="http://schemas.openxmlformats.org/officeDocument/2006/relationships/image" Target="../media/image11.png"/><Relationship Id="rId8" Type="http://schemas.openxmlformats.org/officeDocument/2006/relationships/image" Target="../media/image1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image23.png"/><Relationship Id="rId12" Type="http://schemas.openxmlformats.org/officeDocument/2006/relationships/image" Target="../media/image24.png"/><Relationship Id="rId13" Type="http://schemas.openxmlformats.org/officeDocument/2006/relationships/image" Target="../media/image25.png"/><Relationship Id="rId14" Type="http://schemas.openxmlformats.org/officeDocument/2006/relationships/image" Target="../media/image26.png"/><Relationship Id="rId15" Type="http://schemas.openxmlformats.org/officeDocument/2006/relationships/image" Target="../media/image27.png"/><Relationship Id="rId16" Type="http://schemas.openxmlformats.org/officeDocument/2006/relationships/image" Target="../media/image28.png"/><Relationship Id="rId17" Type="http://schemas.openxmlformats.org/officeDocument/2006/relationships/image" Target="../media/image29.png"/><Relationship Id="rId18" Type="http://schemas.openxmlformats.org/officeDocument/2006/relationships/image" Target="../media/image30.png"/><Relationship Id="rId19" Type="http://schemas.openxmlformats.org/officeDocument/2006/relationships/image" Target="../media/image31.png"/><Relationship Id="rId20" Type="http://schemas.openxmlformats.org/officeDocument/2006/relationships/image" Target="../media/image32.png"/><Relationship Id="rId21" Type="http://schemas.openxmlformats.org/officeDocument/2006/relationships/image" Target="../media/image16.png"/><Relationship Id="rId22" Type="http://schemas.openxmlformats.org/officeDocument/2006/relationships/image" Target="../media/image5.jpg"/><Relationship Id="rId23" Type="http://schemas.openxmlformats.org/officeDocument/2006/relationships/image" Target="../media/image33.jpg"/><Relationship Id="rId24" Type="http://schemas.openxmlformats.org/officeDocument/2006/relationships/image" Target="../media/image3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Relationship Id="rId11" Type="http://schemas.openxmlformats.org/officeDocument/2006/relationships/image" Target="../media/image42.png"/><Relationship Id="rId12" Type="http://schemas.openxmlformats.org/officeDocument/2006/relationships/image" Target="../media/image23.png"/><Relationship Id="rId13" Type="http://schemas.openxmlformats.org/officeDocument/2006/relationships/image" Target="../media/image43.png"/><Relationship Id="rId14" Type="http://schemas.openxmlformats.org/officeDocument/2006/relationships/image" Target="../media/image44.png"/><Relationship Id="rId15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5.jpg"/><Relationship Id="rId5" Type="http://schemas.openxmlformats.org/officeDocument/2006/relationships/image" Target="../media/image46.png"/><Relationship Id="rId6" Type="http://schemas.openxmlformats.org/officeDocument/2006/relationships/image" Target="../media/image47.jpg"/><Relationship Id="rId7" Type="http://schemas.openxmlformats.org/officeDocument/2006/relationships/image" Target="../media/image48.png"/><Relationship Id="rId8" Type="http://schemas.openxmlformats.org/officeDocument/2006/relationships/image" Target="../media/image49.jpg"/><Relationship Id="rId9" Type="http://schemas.openxmlformats.org/officeDocument/2006/relationships/image" Target="../media/image23.png"/><Relationship Id="rId10" Type="http://schemas.openxmlformats.org/officeDocument/2006/relationships/image" Target="../media/image50.jpg"/><Relationship Id="rId11" Type="http://schemas.openxmlformats.org/officeDocument/2006/relationships/image" Target="../media/image51.png"/><Relationship Id="rId12" Type="http://schemas.openxmlformats.org/officeDocument/2006/relationships/image" Target="../media/image52.png"/><Relationship Id="rId13" Type="http://schemas.openxmlformats.org/officeDocument/2006/relationships/image" Target="../media/image53.png"/><Relationship Id="rId14" Type="http://schemas.openxmlformats.org/officeDocument/2006/relationships/image" Target="../media/image5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55.png"/><Relationship Id="rId5" Type="http://schemas.openxmlformats.org/officeDocument/2006/relationships/hyperlink" Target="https://huggingface.co/ARTPARK-IISc/SraVaani-1.0" TargetMode="External"/><Relationship Id="rId6" Type="http://schemas.openxmlformats.org/officeDocument/2006/relationships/hyperlink" Target="https://huggingface.co/SPRINGLab/Indic-Mio" TargetMode="External"/><Relationship Id="rId7" Type="http://schemas.openxmlformats.org/officeDocument/2006/relationships/hyperlink" Target="https://huggingface.co/ai4bharat/vits_rasa_13" TargetMode="External"/><Relationship Id="rId8" Type="http://schemas.openxmlformats.org/officeDocument/2006/relationships/hyperlink" Target="https://github.com/snakers4/silero-vad" TargetMode="External"/><Relationship Id="rId9" Type="http://schemas.openxmlformats.org/officeDocument/2006/relationships/image" Target="../media/image56.png"/><Relationship Id="rId10" Type="http://schemas.openxmlformats.org/officeDocument/2006/relationships/hyperlink" Target="https://github.com/k2-fsa/sherpa-onnx" TargetMode="External"/><Relationship Id="rId11" Type="http://schemas.openxmlformats.org/officeDocument/2006/relationships/hyperlink" Target="https://huggingface.co/datasets/google/fleurs" TargetMode="External"/><Relationship Id="rId12" Type="http://schemas.openxmlformats.org/officeDocument/2006/relationships/image" Target="../media/image19.png"/><Relationship Id="rId13" Type="http://schemas.openxmlformats.org/officeDocument/2006/relationships/hyperlink" Target="https://developer.android.com/develop/connectivity/wifi/wifi-direct" TargetMode="External"/><Relationship Id="rId14" Type="http://schemas.openxmlformats.org/officeDocument/2006/relationships/hyperlink" Target="https://developer.android.com/develop/connectivity/bluetooth" TargetMode="External"/><Relationship Id="rId15" Type="http://schemas.openxmlformats.org/officeDocument/2006/relationships/hyperlink" Target="https://developer.android.com/media/optimize/audio-focus" TargetMode="External"/><Relationship Id="rId16" Type="http://schemas.openxmlformats.org/officeDocument/2006/relationships/image" Target="../media/image57.png"/><Relationship Id="rId17" Type="http://schemas.openxmlformats.org/officeDocument/2006/relationships/hyperlink" Target="https://github.com/prasadxa/itantra" TargetMode="External"/><Relationship Id="rId18" Type="http://schemas.openxmlformats.org/officeDocument/2006/relationships/hyperlink" Target="https://itantra-106.pages.dev" TargetMode="External"/><Relationship Id="rId19" Type="http://schemas.openxmlformats.org/officeDocument/2006/relationships/hyperlink" Target="https://itantra-106.pages.dev/demo" TargetMode="External"/><Relationship Id="rId20" Type="http://schemas.openxmlformats.org/officeDocument/2006/relationships/image" Target="../media/image58.png"/><Relationship Id="rId2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  <a:r>
              <a:rPr b="0" sz="1700">
                <a:solidFill>
                  <a:srgbClr val="EA580C"/>
                </a:solidFill>
                <a:latin typeface="Arial"/>
              </a:rPr>
              <a:t> SIH26173</a:t>
            </a:r>
          </a:p>
          <a:p>
            <a:pPr marL="285750" indent="-28575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b="0" sz="1300">
                <a:solidFill>
                  <a:srgbClr val="1B2433"/>
                </a:solidFill>
                <a:latin typeface="Arial"/>
              </a:rPr>
              <a:t> iTantra – Indian Multilingual TTS &amp; STT Aided Neural Transceiver Radio Access for low bitrate links</a:t>
            </a:r>
          </a:p>
          <a:p>
            <a:pPr marL="285750" indent="-28575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r>
              <a:rPr b="0" sz="1700">
                <a:solidFill>
                  <a:srgbClr val="EA580C"/>
                </a:solidFill>
                <a:latin typeface="Arial"/>
              </a:rPr>
              <a:t> Smart Automation</a:t>
            </a:r>
          </a:p>
          <a:p>
            <a:pPr marL="285750" indent="-28575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PS Category-</a:t>
            </a:r>
            <a:r>
              <a:rPr b="0" sz="1700">
                <a:solidFill>
                  <a:srgbClr val="EA580C"/>
                </a:solidFill>
                <a:latin typeface="Arial"/>
              </a:rPr>
              <a:t> Software</a:t>
            </a:r>
          </a:p>
          <a:p>
            <a:pPr marL="285750" indent="-28575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  <a:r>
              <a:rPr b="0" sz="1700">
                <a:solidFill>
                  <a:srgbClr val="EA580C"/>
                </a:solidFill>
                <a:latin typeface="Arial"/>
              </a:rPr>
              <a:t> 188881</a:t>
            </a:r>
          </a:p>
          <a:p>
            <a:pPr marL="285750" indent="-28575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r>
              <a:rPr b="0" sz="1700">
                <a:solidFill>
                  <a:srgbClr val="EA580C"/>
                </a:solidFill>
                <a:latin typeface="Arial"/>
              </a:rPr>
              <a:t> Team Turtle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8" name="Picture 37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28" y="6089904"/>
            <a:ext cx="512064" cy="512064"/>
          </a:xfrm>
          <a:prstGeom prst="roundRect">
            <a:avLst>
              <a:gd name="adj" fmla="val 20000"/>
            </a:avLst>
          </a:prstGeom>
        </p:spPr>
      </p:pic>
      <p:sp>
        <p:nvSpPr>
          <p:cNvPr id="39" name="TextBox 38"/>
          <p:cNvSpPr txBox="1"/>
          <p:nvPr/>
        </p:nvSpPr>
        <p:spPr>
          <a:xfrm>
            <a:off x="7589520" y="6071616"/>
            <a:ext cx="31089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B2433"/>
                </a:solidFill>
                <a:latin typeface="Arial"/>
              </a:rPr>
              <a:t>iTantra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Speak. Send text. Hear it back — offline.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2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iTantra: Speak. Send Text. Hear It Back — Offline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00" b="1"/>
              <a:t>Team Turtle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411480" y="11887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B2433"/>
                </a:solidFill>
                <a:latin typeface="Arial"/>
              </a:rPr>
              <a:t>Proposed Solution (Describe your Idea/Solution/Prototype)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411480" y="1481328"/>
            <a:ext cx="87782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472"/>
                </a:solidFill>
                <a:latin typeface="Arial"/>
              </a:rPr>
              <a:t>An Android app that turns speech into text on the sender's phone, sends only the text, and speaks it aloud on the receiver's phone. </a:t>
            </a:r>
            <a:r>
              <a:rPr sz="1200" b="1" i="0">
                <a:solidFill>
                  <a:srgbClr val="EA580C"/>
                </a:solidFill>
                <a:latin typeface="Arial"/>
              </a:rPr>
              <a:t>No tower, no internet, no cloud.</a:t>
            </a:r>
          </a:p>
        </p:txBody>
      </p:sp>
      <p:pic>
        <p:nvPicPr>
          <p:cNvPr id="15364" name="Picture 15363" descr="qr-dem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6768" y="1170432"/>
            <a:ext cx="960120" cy="960120"/>
          </a:xfrm>
          <a:prstGeom prst="rect">
            <a:avLst/>
          </a:prstGeom>
        </p:spPr>
      </p:pic>
      <p:sp>
        <p:nvSpPr>
          <p:cNvPr id="15365" name="TextBox 15364"/>
          <p:cNvSpPr txBox="1"/>
          <p:nvPr/>
        </p:nvSpPr>
        <p:spPr>
          <a:xfrm>
            <a:off x="8869680" y="1225296"/>
            <a:ext cx="178308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1B2433"/>
                </a:solidFill>
                <a:latin typeface="Arial"/>
              </a:rPr>
              <a:t>Demo film</a:t>
            </a:r>
          </a:p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B6472"/>
                </a:solidFill>
                <a:latin typeface="Arial"/>
              </a:rPr>
              <a:t>1 min 55 s</a:t>
            </a:r>
          </a:p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0F766E"/>
                </a:solidFill>
                <a:latin typeface="Arial"/>
                <a:hlinkClick r:id="rId5"/>
              </a:rPr>
              <a:t>itantra-106.pages.dev/demo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411480" y="2176272"/>
            <a:ext cx="11365992" cy="1572768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67" name="Picture 15366" descr="01_alert_card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2286000"/>
            <a:ext cx="631078" cy="1353312"/>
          </a:xfrm>
          <a:prstGeom prst="roundRect">
            <a:avLst>
              <a:gd name="adj" fmla="val 12000"/>
            </a:avLst>
          </a:prstGeom>
          <a:ln w="9525">
            <a:solidFill>
              <a:srgbClr val="DDE1E7"/>
            </a:solidFill>
          </a:ln>
        </p:spPr>
      </p:pic>
      <p:pic>
        <p:nvPicPr>
          <p:cNvPr id="15368" name="Picture 15367" descr="07_history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8520" y="2286000"/>
            <a:ext cx="631078" cy="1353312"/>
          </a:xfrm>
          <a:prstGeom prst="roundRect">
            <a:avLst>
              <a:gd name="adj" fmla="val 12000"/>
            </a:avLst>
          </a:prstGeom>
          <a:ln w="9525">
            <a:solidFill>
              <a:srgbClr val="DDE1E7"/>
            </a:solidFill>
          </a:ln>
        </p:spPr>
      </p:pic>
      <p:sp>
        <p:nvSpPr>
          <p:cNvPr id="15369" name="TextBox 15368"/>
          <p:cNvSpPr txBox="1"/>
          <p:nvPr/>
        </p:nvSpPr>
        <p:spPr>
          <a:xfrm>
            <a:off x="274320" y="3767327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EA580C"/>
                </a:solidFill>
                <a:latin typeface="Arial"/>
              </a:rPr>
              <a:t>Sender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10744200" y="3767327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Arial"/>
              </a:rPr>
              <a:t>Receiver</a:t>
            </a:r>
          </a:p>
        </p:txBody>
      </p:sp>
      <p:sp>
        <p:nvSpPr>
          <p:cNvPr id="15371" name="Oval 15370"/>
          <p:cNvSpPr/>
          <p:nvPr/>
        </p:nvSpPr>
        <p:spPr>
          <a:xfrm>
            <a:off x="2217420" y="2368296"/>
            <a:ext cx="566928" cy="56692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72" name="Picture 15371" descr="mic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42144" y="2493020"/>
            <a:ext cx="317479" cy="317479"/>
          </a:xfrm>
          <a:prstGeom prst="rect">
            <a:avLst/>
          </a:prstGeom>
        </p:spPr>
      </p:pic>
      <p:sp>
        <p:nvSpPr>
          <p:cNvPr id="15373" name="TextBox 15372"/>
          <p:cNvSpPr txBox="1"/>
          <p:nvPr/>
        </p:nvSpPr>
        <p:spPr>
          <a:xfrm>
            <a:off x="1618488" y="2999232"/>
            <a:ext cx="1764791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EA580C"/>
                </a:solidFill>
                <a:latin typeface="Arial"/>
              </a:rPr>
              <a:t>1  Speak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1664208" y="3255263"/>
            <a:ext cx="1673351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5B6472"/>
                </a:solidFill>
                <a:latin typeface="Arial"/>
              </a:rPr>
              <a:t>push-to-talk; a pause ends the sentence</a:t>
            </a:r>
          </a:p>
        </p:txBody>
      </p:sp>
      <p:cxnSp>
        <p:nvCxnSpPr>
          <p:cNvPr id="15375" name="Connector 15374"/>
          <p:cNvCxnSpPr/>
          <p:nvPr/>
        </p:nvCxnSpPr>
        <p:spPr>
          <a:xfrm>
            <a:off x="2884932" y="2651760"/>
            <a:ext cx="1088136" cy="0"/>
          </a:xfrm>
          <a:prstGeom prst="line">
            <a:avLst/>
          </a:prstGeom>
          <a:ln w="19050">
            <a:solidFill>
              <a:srgbClr val="9A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6" name="Oval 15375"/>
          <p:cNvSpPr/>
          <p:nvPr/>
        </p:nvSpPr>
        <p:spPr>
          <a:xfrm>
            <a:off x="4073652" y="2368296"/>
            <a:ext cx="566928" cy="56692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77" name="Picture 15376" descr="wave-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98376" y="2493020"/>
            <a:ext cx="317479" cy="317479"/>
          </a:xfrm>
          <a:prstGeom prst="rect">
            <a:avLst/>
          </a:prstGeom>
        </p:spPr>
      </p:pic>
      <p:sp>
        <p:nvSpPr>
          <p:cNvPr id="15378" name="TextBox 15377"/>
          <p:cNvSpPr txBox="1"/>
          <p:nvPr/>
        </p:nvSpPr>
        <p:spPr>
          <a:xfrm>
            <a:off x="3474720" y="2999232"/>
            <a:ext cx="1764791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EA580C"/>
                </a:solidFill>
                <a:latin typeface="Arial"/>
              </a:rPr>
              <a:t>2  Speech → text</a:t>
            </a:r>
          </a:p>
        </p:txBody>
      </p:sp>
      <p:sp>
        <p:nvSpPr>
          <p:cNvPr id="15379" name="TextBox 15378"/>
          <p:cNvSpPr txBox="1"/>
          <p:nvPr/>
        </p:nvSpPr>
        <p:spPr>
          <a:xfrm>
            <a:off x="3520440" y="3255263"/>
            <a:ext cx="1673351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5B6472"/>
                </a:solidFill>
                <a:latin typeface="Arial"/>
              </a:rPr>
              <a:t>on-device STT, 10 languages</a:t>
            </a:r>
          </a:p>
        </p:txBody>
      </p:sp>
      <p:cxnSp>
        <p:nvCxnSpPr>
          <p:cNvPr id="15380" name="Connector 15379"/>
          <p:cNvCxnSpPr/>
          <p:nvPr/>
        </p:nvCxnSpPr>
        <p:spPr>
          <a:xfrm>
            <a:off x="4741164" y="2651760"/>
            <a:ext cx="1088136" cy="0"/>
          </a:xfrm>
          <a:prstGeom prst="line">
            <a:avLst/>
          </a:prstGeom>
          <a:ln w="19050">
            <a:solidFill>
              <a:srgbClr val="9A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81" name="Oval 15380"/>
          <p:cNvSpPr/>
          <p:nvPr/>
        </p:nvSpPr>
        <p:spPr>
          <a:xfrm>
            <a:off x="5929883" y="2368296"/>
            <a:ext cx="566928" cy="56692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82" name="Picture 15381" descr="bytes-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54608" y="2493020"/>
            <a:ext cx="317479" cy="317479"/>
          </a:xfrm>
          <a:prstGeom prst="rect">
            <a:avLst/>
          </a:prstGeom>
        </p:spPr>
      </p:pic>
      <p:sp>
        <p:nvSpPr>
          <p:cNvPr id="15383" name="TextBox 15382"/>
          <p:cNvSpPr txBox="1"/>
          <p:nvPr/>
        </p:nvSpPr>
        <p:spPr>
          <a:xfrm>
            <a:off x="5330951" y="2999232"/>
            <a:ext cx="1764791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EA580C"/>
                </a:solidFill>
                <a:latin typeface="Arial"/>
              </a:rPr>
              <a:t>3  Text frame</a:t>
            </a:r>
          </a:p>
        </p:txBody>
      </p:sp>
      <p:sp>
        <p:nvSpPr>
          <p:cNvPr id="15384" name="TextBox 15383"/>
          <p:cNvSpPr txBox="1"/>
          <p:nvPr/>
        </p:nvSpPr>
        <p:spPr>
          <a:xfrm>
            <a:off x="5376671" y="3255263"/>
            <a:ext cx="1673351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5B6472"/>
                </a:solidFill>
                <a:latin typeface="Arial"/>
              </a:rPr>
              <a:t>median 62 bytes per sentence*</a:t>
            </a:r>
          </a:p>
        </p:txBody>
      </p:sp>
      <p:cxnSp>
        <p:nvCxnSpPr>
          <p:cNvPr id="15385" name="Connector 15384"/>
          <p:cNvCxnSpPr/>
          <p:nvPr/>
        </p:nvCxnSpPr>
        <p:spPr>
          <a:xfrm>
            <a:off x="6597395" y="2651760"/>
            <a:ext cx="1088136" cy="0"/>
          </a:xfrm>
          <a:prstGeom prst="line">
            <a:avLst/>
          </a:prstGeom>
          <a:ln w="19050">
            <a:solidFill>
              <a:srgbClr val="9A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86" name="Oval 15385"/>
          <p:cNvSpPr/>
          <p:nvPr/>
        </p:nvSpPr>
        <p:spPr>
          <a:xfrm>
            <a:off x="7786115" y="2368296"/>
            <a:ext cx="566928" cy="566928"/>
          </a:xfrm>
          <a:prstGeom prst="ellipse">
            <a:avLst/>
          </a:prstGeom>
          <a:solidFill>
            <a:srgbClr val="1B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87" name="Picture 15386" descr="wifi-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10840" y="2493020"/>
            <a:ext cx="317479" cy="317479"/>
          </a:xfrm>
          <a:prstGeom prst="rect">
            <a:avLst/>
          </a:prstGeom>
        </p:spPr>
      </p:pic>
      <p:sp>
        <p:nvSpPr>
          <p:cNvPr id="15388" name="TextBox 15387"/>
          <p:cNvSpPr txBox="1"/>
          <p:nvPr/>
        </p:nvSpPr>
        <p:spPr>
          <a:xfrm>
            <a:off x="7187183" y="2999232"/>
            <a:ext cx="1764791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B2433"/>
                </a:solidFill>
                <a:latin typeface="Arial"/>
              </a:rPr>
              <a:t>4  Any link</a:t>
            </a:r>
          </a:p>
        </p:txBody>
      </p:sp>
      <p:sp>
        <p:nvSpPr>
          <p:cNvPr id="15389" name="TextBox 15388"/>
          <p:cNvSpPr txBox="1"/>
          <p:nvPr/>
        </p:nvSpPr>
        <p:spPr>
          <a:xfrm>
            <a:off x="7232903" y="3255263"/>
            <a:ext cx="1673351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5B6472"/>
                </a:solidFill>
                <a:latin typeface="Arial"/>
              </a:rPr>
              <a:t>Wi-Fi → Wi-Fi Direct → Bluetooth LE</a:t>
            </a:r>
          </a:p>
        </p:txBody>
      </p:sp>
      <p:cxnSp>
        <p:nvCxnSpPr>
          <p:cNvPr id="15390" name="Connector 15389"/>
          <p:cNvCxnSpPr/>
          <p:nvPr/>
        </p:nvCxnSpPr>
        <p:spPr>
          <a:xfrm>
            <a:off x="8453628" y="2651760"/>
            <a:ext cx="1088135" cy="0"/>
          </a:xfrm>
          <a:prstGeom prst="line">
            <a:avLst/>
          </a:prstGeom>
          <a:ln w="19050">
            <a:solidFill>
              <a:srgbClr val="9A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1" name="Oval 15390"/>
          <p:cNvSpPr/>
          <p:nvPr/>
        </p:nvSpPr>
        <p:spPr>
          <a:xfrm>
            <a:off x="9642348" y="2368296"/>
            <a:ext cx="566928" cy="56692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92" name="Picture 15391" descr="speaker-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67072" y="2493020"/>
            <a:ext cx="317479" cy="317479"/>
          </a:xfrm>
          <a:prstGeom prst="rect">
            <a:avLst/>
          </a:prstGeom>
        </p:spPr>
      </p:pic>
      <p:sp>
        <p:nvSpPr>
          <p:cNvPr id="15393" name="TextBox 15392"/>
          <p:cNvSpPr txBox="1"/>
          <p:nvPr/>
        </p:nvSpPr>
        <p:spPr>
          <a:xfrm>
            <a:off x="9043416" y="2999232"/>
            <a:ext cx="1764791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Arial"/>
              </a:rPr>
              <a:t>5  Text → speech</a:t>
            </a:r>
          </a:p>
        </p:txBody>
      </p:sp>
      <p:sp>
        <p:nvSpPr>
          <p:cNvPr id="15394" name="TextBox 15393"/>
          <p:cNvSpPr txBox="1"/>
          <p:nvPr/>
        </p:nvSpPr>
        <p:spPr>
          <a:xfrm>
            <a:off x="9089136" y="3255263"/>
            <a:ext cx="1673351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5B6472"/>
                </a:solidFill>
                <a:latin typeface="Arial"/>
              </a:rPr>
              <a:t>spoken aloud; ALERT at alarm volume</a:t>
            </a:r>
          </a:p>
        </p:txBody>
      </p:sp>
      <p:sp>
        <p:nvSpPr>
          <p:cNvPr id="15395" name="Rounded Rectangle 15394"/>
          <p:cNvSpPr/>
          <p:nvPr/>
        </p:nvSpPr>
        <p:spPr>
          <a:xfrm>
            <a:off x="411480" y="3986784"/>
            <a:ext cx="3657600" cy="2130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96" name="Rounded Rectangle 15395"/>
          <p:cNvSpPr/>
          <p:nvPr/>
        </p:nvSpPr>
        <p:spPr>
          <a:xfrm>
            <a:off x="4261104" y="3986784"/>
            <a:ext cx="3657600" cy="2130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97" name="Rounded Rectangle 15396"/>
          <p:cNvSpPr/>
          <p:nvPr/>
        </p:nvSpPr>
        <p:spPr>
          <a:xfrm>
            <a:off x="8110727" y="3986784"/>
            <a:ext cx="3666744" cy="2130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98" name="TextBox 15397"/>
          <p:cNvSpPr txBox="1"/>
          <p:nvPr/>
        </p:nvSpPr>
        <p:spPr>
          <a:xfrm>
            <a:off x="566928" y="4096512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B2433"/>
                </a:solidFill>
                <a:latin typeface="Arial"/>
              </a:rPr>
              <a:t>Detailed explanation of the proposed solution</a:t>
            </a:r>
          </a:p>
        </p:txBody>
      </p:sp>
      <p:pic>
        <p:nvPicPr>
          <p:cNvPr id="15399" name="Picture 15398" descr="langs-sa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3504" y="4608576"/>
            <a:ext cx="274320" cy="274320"/>
          </a:xfrm>
          <a:prstGeom prst="rect">
            <a:avLst/>
          </a:prstGeom>
        </p:spPr>
      </p:pic>
      <p:sp>
        <p:nvSpPr>
          <p:cNvPr id="15400" name="TextBox 15399"/>
          <p:cNvSpPr txBox="1"/>
          <p:nvPr/>
        </p:nvSpPr>
        <p:spPr>
          <a:xfrm>
            <a:off x="987552" y="4590288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B2433"/>
                </a:solidFill>
                <a:latin typeface="Arial"/>
              </a:rPr>
              <a:t>10 Indian languages, speech and voice, fully on the phone</a:t>
            </a:r>
          </a:p>
        </p:txBody>
      </p:sp>
      <p:pic>
        <p:nvPicPr>
          <p:cNvPr id="15401" name="Picture 15400" descr="siren-sa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3504" y="5084064"/>
            <a:ext cx="274320" cy="274320"/>
          </a:xfrm>
          <a:prstGeom prst="rect">
            <a:avLst/>
          </a:prstGeom>
        </p:spPr>
      </p:pic>
      <p:sp>
        <p:nvSpPr>
          <p:cNvPr id="15402" name="TextBox 15401"/>
          <p:cNvSpPr txBox="1"/>
          <p:nvPr/>
        </p:nvSpPr>
        <p:spPr>
          <a:xfrm>
            <a:off x="987552" y="5065776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B2433"/>
                </a:solidFill>
                <a:latin typeface="Arial"/>
              </a:rPr>
              <a:t>ALERT plays at alarm volume; one-tap SOS sends GPS/NavIC location</a:t>
            </a:r>
          </a:p>
        </p:txBody>
      </p:sp>
      <p:pic>
        <p:nvPicPr>
          <p:cNvPr id="15403" name="Picture 15402" descr="mic-ink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3504" y="5559552"/>
            <a:ext cx="274320" cy="274320"/>
          </a:xfrm>
          <a:prstGeom prst="rect">
            <a:avLst/>
          </a:prstGeom>
        </p:spPr>
      </p:pic>
      <p:sp>
        <p:nvSpPr>
          <p:cNvPr id="15404" name="TextBox 15403"/>
          <p:cNvSpPr txBox="1"/>
          <p:nvPr/>
        </p:nvSpPr>
        <p:spPr>
          <a:xfrm>
            <a:off x="987552" y="5541264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B2433"/>
                </a:solidFill>
                <a:latin typeface="Arial"/>
              </a:rPr>
              <a:t>Push-to-talk walkie-talkie and hands-free call mode</a:t>
            </a:r>
          </a:p>
        </p:txBody>
      </p:sp>
      <p:sp>
        <p:nvSpPr>
          <p:cNvPr id="15405" name="TextBox 15404"/>
          <p:cNvSpPr txBox="1"/>
          <p:nvPr/>
        </p:nvSpPr>
        <p:spPr>
          <a:xfrm>
            <a:off x="4416552" y="409651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B2433"/>
                </a:solidFill>
                <a:latin typeface="Arial"/>
              </a:rPr>
              <a:t>How it addresses the problem</a:t>
            </a:r>
          </a:p>
        </p:txBody>
      </p:sp>
      <p:graphicFrame>
        <p:nvGraphicFramePr>
          <p:cNvPr id="15406" name="Chart 15405"/>
          <p:cNvGraphicFramePr>
            <a:graphicFrameLocks noGrp="1"/>
          </p:cNvGraphicFramePr>
          <p:nvPr/>
        </p:nvGraphicFramePr>
        <p:xfrm>
          <a:off x="4315968" y="4370832"/>
          <a:ext cx="3529584" cy="1097280"/>
        </p:xfrm>
        <a:graphic>
          <a:graphicData uri="http://schemas.openxmlformats.org/drawingml/2006/chart">
            <c:chart xmlns:c="http://schemas.openxmlformats.org/drawingml/2006/chart" r:id="rId16"/>
          </a:graphicData>
        </a:graphic>
      </p:graphicFrame>
      <p:sp>
        <p:nvSpPr>
          <p:cNvPr id="15407" name="TextBox 15406"/>
          <p:cNvSpPr txBox="1"/>
          <p:nvPr/>
        </p:nvSpPr>
        <p:spPr>
          <a:xfrm>
            <a:off x="4416552" y="5495544"/>
            <a:ext cx="338328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850" b="0" i="1">
                <a:solidFill>
                  <a:srgbClr val="5B6472"/>
                </a:solidFill>
                <a:latin typeface="Arial"/>
              </a:rPr>
              <a:t>bits per second, one spoken sentence (log scale)</a:t>
            </a:r>
          </a:p>
        </p:txBody>
      </p:sp>
      <p:sp>
        <p:nvSpPr>
          <p:cNvPr id="15408" name="TextBox 15407"/>
          <p:cNvSpPr txBox="1"/>
          <p:nvPr/>
        </p:nvSpPr>
        <p:spPr>
          <a:xfrm>
            <a:off x="4416552" y="5705856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Arial"/>
              </a:rPr>
              <a:t>Output is still speech</a:t>
            </a:r>
            <a:r>
              <a:rPr sz="1050" b="0" i="0">
                <a:solidFill>
                  <a:srgbClr val="1B2433"/>
                </a:solidFill>
                <a:latin typeface="Arial"/>
              </a:rPr>
              <a:t> — people who cannot read are included</a:t>
            </a:r>
          </a:p>
        </p:txBody>
      </p:sp>
      <p:sp>
        <p:nvSpPr>
          <p:cNvPr id="15409" name="TextBox 15408"/>
          <p:cNvSpPr txBox="1"/>
          <p:nvPr/>
        </p:nvSpPr>
        <p:spPr>
          <a:xfrm>
            <a:off x="8266175" y="4096512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B2433"/>
                </a:solidFill>
                <a:latin typeface="Arial"/>
              </a:rPr>
              <a:t>Innovation and uniqueness of the solution</a:t>
            </a:r>
          </a:p>
        </p:txBody>
      </p:sp>
      <p:pic>
        <p:nvPicPr>
          <p:cNvPr id="15410" name="Picture 15409" descr="layers-t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02752" y="4553712"/>
            <a:ext cx="246888" cy="246888"/>
          </a:xfrm>
          <a:prstGeom prst="rect">
            <a:avLst/>
          </a:prstGeom>
        </p:spPr>
      </p:pic>
      <p:sp>
        <p:nvSpPr>
          <p:cNvPr id="15411" name="TextBox 15410"/>
          <p:cNvSpPr txBox="1"/>
          <p:nvPr/>
        </p:nvSpPr>
        <p:spPr>
          <a:xfrm>
            <a:off x="8641080" y="454456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B2433"/>
                </a:solidFill>
                <a:latin typeface="Arial"/>
              </a:rPr>
              <a:t>Speech → text → speech used as the codec for thin links</a:t>
            </a:r>
          </a:p>
        </p:txBody>
      </p:sp>
      <p:pic>
        <p:nvPicPr>
          <p:cNvPr id="15412" name="Picture 15411" descr="siren-t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02752" y="4928616"/>
            <a:ext cx="246888" cy="246888"/>
          </a:xfrm>
          <a:prstGeom prst="rect">
            <a:avLst/>
          </a:prstGeom>
        </p:spPr>
      </p:pic>
      <p:sp>
        <p:nvSpPr>
          <p:cNvPr id="15413" name="TextBox 15412"/>
          <p:cNvSpPr txBox="1"/>
          <p:nvPr/>
        </p:nvSpPr>
        <p:spPr>
          <a:xfrm>
            <a:off x="8641080" y="491947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B2433"/>
                </a:solidFill>
                <a:latin typeface="Arial"/>
              </a:rPr>
              <a:t>Alerts re-voiced on arrival, cannot be interrupted</a:t>
            </a:r>
          </a:p>
        </p:txBody>
      </p:sp>
      <p:pic>
        <p:nvPicPr>
          <p:cNvPr id="15414" name="Picture 15413" descr="link-t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02752" y="5303520"/>
            <a:ext cx="246888" cy="246888"/>
          </a:xfrm>
          <a:prstGeom prst="rect">
            <a:avLst/>
          </a:prstGeom>
        </p:spPr>
      </p:pic>
      <p:sp>
        <p:nvSpPr>
          <p:cNvPr id="15415" name="TextBox 15414"/>
          <p:cNvSpPr txBox="1"/>
          <p:nvPr/>
        </p:nvSpPr>
        <p:spPr>
          <a:xfrm>
            <a:off x="8641080" y="5294376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B2433"/>
                </a:solidFill>
                <a:latin typeface="Arial"/>
              </a:rPr>
              <a:t>Auto link fallback, one packet format on every link</a:t>
            </a:r>
          </a:p>
        </p:txBody>
      </p:sp>
      <p:pic>
        <p:nvPicPr>
          <p:cNvPr id="15416" name="Picture 15415" descr="gauge-t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02752" y="5678424"/>
            <a:ext cx="246888" cy="246888"/>
          </a:xfrm>
          <a:prstGeom prst="rect">
            <a:avLst/>
          </a:prstGeom>
        </p:spPr>
      </p:pic>
      <p:sp>
        <p:nvSpPr>
          <p:cNvPr id="15417" name="TextBox 15416"/>
          <p:cNvSpPr txBox="1"/>
          <p:nvPr/>
        </p:nvSpPr>
        <p:spPr>
          <a:xfrm>
            <a:off x="8641080" y="56692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B2433"/>
                </a:solidFill>
                <a:latin typeface="Arial"/>
              </a:rPr>
              <a:t>LITE profile switches on by itself below 6 GB RAM</a:t>
            </a:r>
          </a:p>
        </p:txBody>
      </p:sp>
      <p:sp>
        <p:nvSpPr>
          <p:cNvPr id="15418" name="TextBox 15417"/>
          <p:cNvSpPr txBox="1"/>
          <p:nvPr/>
        </p:nvSpPr>
        <p:spPr>
          <a:xfrm>
            <a:off x="411480" y="6144768"/>
            <a:ext cx="113385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5B6472"/>
                </a:solidFill>
                <a:latin typeface="Arial"/>
              </a:rPr>
              <a:t>*Median over 310 FLEURS sentences in a unit test; excludes encryption, alert signature and link headers. Bars assume a ~3 s sentence.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00" b="1"/>
              <a:t>Team Turtle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11480" y="1188720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B2433"/>
                </a:solidFill>
                <a:latin typeface="Arial"/>
              </a:rPr>
              <a:t>Technologies to be used (e.g. programming languages, frameworks, hardware)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11480" y="1700784"/>
            <a:ext cx="3794760" cy="512064"/>
          </a:xfrm>
          <a:prstGeom prst="roundRect">
            <a:avLst>
              <a:gd name="adj" fmla="val 18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Oval 17411"/>
          <p:cNvSpPr/>
          <p:nvPr/>
        </p:nvSpPr>
        <p:spPr>
          <a:xfrm>
            <a:off x="530352" y="1773936"/>
            <a:ext cx="365760" cy="365760"/>
          </a:xfrm>
          <a:prstGeom prst="ellipse">
            <a:avLst/>
          </a:prstGeom>
          <a:solidFill>
            <a:srgbClr val="1B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3" name="Picture 17412" descr="android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" y="1854403"/>
            <a:ext cx="204825" cy="204825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1005840" y="175564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B2433"/>
                </a:solidFill>
                <a:latin typeface="Arial"/>
              </a:rPr>
              <a:t>Android app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1005840" y="1975104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B6472"/>
                </a:solidFill>
                <a:latin typeface="Arial"/>
              </a:rPr>
              <a:t>Kotlin · Jetpack Compose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411480" y="2304288"/>
            <a:ext cx="3794760" cy="512064"/>
          </a:xfrm>
          <a:prstGeom prst="roundRect">
            <a:avLst>
              <a:gd name="adj" fmla="val 18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7" name="Oval 17416"/>
          <p:cNvSpPr/>
          <p:nvPr/>
        </p:nvSpPr>
        <p:spPr>
          <a:xfrm>
            <a:off x="530352" y="2377439"/>
            <a:ext cx="365760" cy="365760"/>
          </a:xfrm>
          <a:prstGeom prst="ellipse">
            <a:avLst/>
          </a:prstGeom>
          <a:solidFill>
            <a:srgbClr val="1B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8" name="Picture 17417" descr="ear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819" y="2457907"/>
            <a:ext cx="204825" cy="204825"/>
          </a:xfrm>
          <a:prstGeom prst="rect">
            <a:avLst/>
          </a:prstGeom>
        </p:spPr>
      </p:pic>
      <p:sp>
        <p:nvSpPr>
          <p:cNvPr id="17419" name="TextBox 17418"/>
          <p:cNvSpPr txBox="1"/>
          <p:nvPr/>
        </p:nvSpPr>
        <p:spPr>
          <a:xfrm>
            <a:off x="1005840" y="2359152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B2433"/>
                </a:solidFill>
                <a:latin typeface="Arial"/>
              </a:rPr>
              <a:t>Voice detection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1005840" y="2578608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B6472"/>
                </a:solidFill>
                <a:latin typeface="Arial"/>
              </a:rPr>
              <a:t>Silero VAD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411480" y="2907792"/>
            <a:ext cx="3794760" cy="512064"/>
          </a:xfrm>
          <a:prstGeom prst="roundRect">
            <a:avLst>
              <a:gd name="adj" fmla="val 18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2" name="Oval 17421"/>
          <p:cNvSpPr/>
          <p:nvPr/>
        </p:nvSpPr>
        <p:spPr>
          <a:xfrm>
            <a:off x="530352" y="2980944"/>
            <a:ext cx="365760" cy="365760"/>
          </a:xfrm>
          <a:prstGeom prst="ellipse">
            <a:avLst/>
          </a:prstGeom>
          <a:solidFill>
            <a:srgbClr val="1B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3" name="Picture 17422" descr="wave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819" y="3061411"/>
            <a:ext cx="204825" cy="204825"/>
          </a:xfrm>
          <a:prstGeom prst="rect">
            <a:avLst/>
          </a:prstGeom>
        </p:spPr>
      </p:pic>
      <p:sp>
        <p:nvSpPr>
          <p:cNvPr id="17424" name="TextBox 17423"/>
          <p:cNvSpPr txBox="1"/>
          <p:nvPr/>
        </p:nvSpPr>
        <p:spPr>
          <a:xfrm>
            <a:off x="1005840" y="2962656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B2433"/>
                </a:solidFill>
                <a:latin typeface="Arial"/>
              </a:rPr>
              <a:t>Speech-to-text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1005840" y="3182112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B6472"/>
                </a:solidFill>
                <a:latin typeface="Arial"/>
              </a:rPr>
              <a:t>SraVaani-1.0 · int8 · sherpa-onnx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411480" y="3511296"/>
            <a:ext cx="3794760" cy="512064"/>
          </a:xfrm>
          <a:prstGeom prst="roundRect">
            <a:avLst>
              <a:gd name="adj" fmla="val 18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7" name="Oval 17426"/>
          <p:cNvSpPr/>
          <p:nvPr/>
        </p:nvSpPr>
        <p:spPr>
          <a:xfrm>
            <a:off x="530352" y="3584448"/>
            <a:ext cx="365760" cy="36576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8" name="Picture 17427" descr="speaker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819" y="3664915"/>
            <a:ext cx="204825" cy="204825"/>
          </a:xfrm>
          <a:prstGeom prst="rect">
            <a:avLst/>
          </a:prstGeom>
        </p:spPr>
      </p:pic>
      <p:sp>
        <p:nvSpPr>
          <p:cNvPr id="17429" name="TextBox 17428"/>
          <p:cNvSpPr txBox="1"/>
          <p:nvPr/>
        </p:nvSpPr>
        <p:spPr>
          <a:xfrm>
            <a:off x="1005840" y="3566160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B2433"/>
                </a:solidFill>
                <a:latin typeface="Arial"/>
              </a:rPr>
              <a:t>Text-to-speech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1005840" y="3785615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B6472"/>
                </a:solidFill>
                <a:latin typeface="Arial"/>
              </a:rPr>
              <a:t>VITS Rasa · Indic-Mio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411480" y="4114800"/>
            <a:ext cx="3794760" cy="512064"/>
          </a:xfrm>
          <a:prstGeom prst="roundRect">
            <a:avLst>
              <a:gd name="adj" fmla="val 18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2" name="Oval 17431"/>
          <p:cNvSpPr/>
          <p:nvPr/>
        </p:nvSpPr>
        <p:spPr>
          <a:xfrm>
            <a:off x="530352" y="4187952"/>
            <a:ext cx="365760" cy="365760"/>
          </a:xfrm>
          <a:prstGeom prst="ellipse">
            <a:avLst/>
          </a:prstGeom>
          <a:solidFill>
            <a:srgbClr val="1B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3" name="Picture 17432" descr="wifi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0819" y="4268419"/>
            <a:ext cx="204825" cy="204825"/>
          </a:xfrm>
          <a:prstGeom prst="rect">
            <a:avLst/>
          </a:prstGeom>
        </p:spPr>
      </p:pic>
      <p:sp>
        <p:nvSpPr>
          <p:cNvPr id="17434" name="TextBox 17433"/>
          <p:cNvSpPr txBox="1"/>
          <p:nvPr/>
        </p:nvSpPr>
        <p:spPr>
          <a:xfrm>
            <a:off x="1005840" y="4169663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B2433"/>
                </a:solidFill>
                <a:latin typeface="Arial"/>
              </a:rPr>
              <a:t>Links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1005840" y="4389120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B6472"/>
                </a:solidFill>
                <a:latin typeface="Arial"/>
              </a:rPr>
              <a:t>Wi-Fi (mDNS/TCP) · Wi-Fi Direct · BLE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411480" y="4718304"/>
            <a:ext cx="3794760" cy="512064"/>
          </a:xfrm>
          <a:prstGeom prst="roundRect">
            <a:avLst>
              <a:gd name="adj" fmla="val 18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7" name="Oval 17436"/>
          <p:cNvSpPr/>
          <p:nvPr/>
        </p:nvSpPr>
        <p:spPr>
          <a:xfrm>
            <a:off x="530352" y="4791456"/>
            <a:ext cx="365760" cy="365760"/>
          </a:xfrm>
          <a:prstGeom prst="ellipse">
            <a:avLst/>
          </a:prstGeom>
          <a:solidFill>
            <a:srgbClr val="1B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8" name="Picture 17437" descr="phone-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0819" y="4871923"/>
            <a:ext cx="204825" cy="204825"/>
          </a:xfrm>
          <a:prstGeom prst="rect">
            <a:avLst/>
          </a:prstGeom>
        </p:spPr>
      </p:pic>
      <p:sp>
        <p:nvSpPr>
          <p:cNvPr id="17439" name="TextBox 17438"/>
          <p:cNvSpPr txBox="1"/>
          <p:nvPr/>
        </p:nvSpPr>
        <p:spPr>
          <a:xfrm>
            <a:off x="1005840" y="477316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B2433"/>
                </a:solidFill>
                <a:latin typeface="Arial"/>
              </a:rPr>
              <a:t>Hardware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1005840" y="4992624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B6472"/>
                </a:solidFill>
                <a:latin typeface="Arial"/>
              </a:rPr>
              <a:t>Any Android phone · PC control room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448056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B2433"/>
                </a:solidFill>
                <a:latin typeface="Arial"/>
              </a:rPr>
              <a:t>Methodology and process for implementation (Flow Charts/Images/ working prototype)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4480560" y="1572768"/>
            <a:ext cx="2304288" cy="2331720"/>
          </a:xfrm>
          <a:prstGeom prst="roundRect">
            <a:avLst>
              <a:gd name="adj" fmla="val 7000"/>
            </a:avLst>
          </a:prstGeom>
          <a:solidFill>
            <a:srgbClr val="FF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3" name="TextBox 17442"/>
          <p:cNvSpPr txBox="1"/>
          <p:nvPr/>
        </p:nvSpPr>
        <p:spPr>
          <a:xfrm>
            <a:off x="4480560" y="1645920"/>
            <a:ext cx="2304288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EA580C"/>
                </a:solidFill>
                <a:latin typeface="Arial"/>
              </a:rPr>
              <a:t>SENDER PHONE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4645152" y="1938528"/>
            <a:ext cx="1975104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5" name="Picture 17444" descr="mic-s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4880" y="2011680"/>
            <a:ext cx="237744" cy="237744"/>
          </a:xfrm>
          <a:prstGeom prst="rect">
            <a:avLst/>
          </a:prstGeom>
        </p:spPr>
      </p:pic>
      <p:sp>
        <p:nvSpPr>
          <p:cNvPr id="17446" name="TextBox 17445"/>
          <p:cNvSpPr txBox="1"/>
          <p:nvPr/>
        </p:nvSpPr>
        <p:spPr>
          <a:xfrm>
            <a:off x="5074920" y="1938528"/>
            <a:ext cx="148132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B2433"/>
                </a:solidFill>
                <a:latin typeface="Arial"/>
              </a:rPr>
              <a:t>Mic 16 kHz</a:t>
            </a:r>
          </a:p>
        </p:txBody>
      </p:sp>
      <p:cxnSp>
        <p:nvCxnSpPr>
          <p:cNvPr id="17447" name="Connector 17446"/>
          <p:cNvCxnSpPr/>
          <p:nvPr/>
        </p:nvCxnSpPr>
        <p:spPr>
          <a:xfrm>
            <a:off x="5632704" y="2322576"/>
            <a:ext cx="0" cy="91440"/>
          </a:xfrm>
          <a:prstGeom prst="line">
            <a:avLst/>
          </a:prstGeom>
          <a:ln w="15875">
            <a:solidFill>
              <a:srgbClr val="9A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8" name="Rounded Rectangle 17447"/>
          <p:cNvSpPr/>
          <p:nvPr/>
        </p:nvSpPr>
        <p:spPr>
          <a:xfrm>
            <a:off x="4645152" y="2414016"/>
            <a:ext cx="1975104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9" name="Picture 17448" descr="ear-sa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54880" y="2487168"/>
            <a:ext cx="237744" cy="237744"/>
          </a:xfrm>
          <a:prstGeom prst="rect">
            <a:avLst/>
          </a:prstGeom>
        </p:spPr>
      </p:pic>
      <p:sp>
        <p:nvSpPr>
          <p:cNvPr id="17450" name="TextBox 17449"/>
          <p:cNvSpPr txBox="1"/>
          <p:nvPr/>
        </p:nvSpPr>
        <p:spPr>
          <a:xfrm>
            <a:off x="5074920" y="2414016"/>
            <a:ext cx="148132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B2433"/>
                </a:solidFill>
                <a:latin typeface="Arial"/>
              </a:rPr>
              <a:t>VAD: cut at pause</a:t>
            </a:r>
          </a:p>
        </p:txBody>
      </p:sp>
      <p:cxnSp>
        <p:nvCxnSpPr>
          <p:cNvPr id="17451" name="Connector 17450"/>
          <p:cNvCxnSpPr/>
          <p:nvPr/>
        </p:nvCxnSpPr>
        <p:spPr>
          <a:xfrm>
            <a:off x="5632704" y="2798064"/>
            <a:ext cx="0" cy="91440"/>
          </a:xfrm>
          <a:prstGeom prst="line">
            <a:avLst/>
          </a:prstGeom>
          <a:ln w="15875">
            <a:solidFill>
              <a:srgbClr val="9A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2" name="Rounded Rectangle 17451"/>
          <p:cNvSpPr/>
          <p:nvPr/>
        </p:nvSpPr>
        <p:spPr>
          <a:xfrm>
            <a:off x="4645152" y="2889504"/>
            <a:ext cx="1975104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53" name="Picture 17452" descr="wave-sa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54880" y="2962656"/>
            <a:ext cx="237744" cy="237744"/>
          </a:xfrm>
          <a:prstGeom prst="rect">
            <a:avLst/>
          </a:prstGeom>
        </p:spPr>
      </p:pic>
      <p:sp>
        <p:nvSpPr>
          <p:cNvPr id="17454" name="TextBox 17453"/>
          <p:cNvSpPr txBox="1"/>
          <p:nvPr/>
        </p:nvSpPr>
        <p:spPr>
          <a:xfrm>
            <a:off x="5074920" y="2889504"/>
            <a:ext cx="148132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B2433"/>
                </a:solidFill>
                <a:latin typeface="Arial"/>
              </a:rPr>
              <a:t>STT (int8)</a:t>
            </a:r>
          </a:p>
        </p:txBody>
      </p:sp>
      <p:cxnSp>
        <p:nvCxnSpPr>
          <p:cNvPr id="17455" name="Connector 17454"/>
          <p:cNvCxnSpPr/>
          <p:nvPr/>
        </p:nvCxnSpPr>
        <p:spPr>
          <a:xfrm>
            <a:off x="5632704" y="3273552"/>
            <a:ext cx="0" cy="91440"/>
          </a:xfrm>
          <a:prstGeom prst="line">
            <a:avLst/>
          </a:prstGeom>
          <a:ln w="15875">
            <a:solidFill>
              <a:srgbClr val="9A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6" name="Rounded Rectangle 17455"/>
          <p:cNvSpPr/>
          <p:nvPr/>
        </p:nvSpPr>
        <p:spPr>
          <a:xfrm>
            <a:off x="4645152" y="3364992"/>
            <a:ext cx="1975104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57" name="Picture 17456" descr="bytes-sa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54880" y="3438144"/>
            <a:ext cx="237744" cy="237744"/>
          </a:xfrm>
          <a:prstGeom prst="rect">
            <a:avLst/>
          </a:prstGeom>
        </p:spPr>
      </p:pic>
      <p:sp>
        <p:nvSpPr>
          <p:cNvPr id="17458" name="TextBox 17457"/>
          <p:cNvSpPr txBox="1"/>
          <p:nvPr/>
        </p:nvSpPr>
        <p:spPr>
          <a:xfrm>
            <a:off x="5074920" y="3364992"/>
            <a:ext cx="148132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B2433"/>
                </a:solidFill>
                <a:latin typeface="Arial"/>
              </a:rPr>
              <a:t>Compact frame</a:t>
            </a:r>
          </a:p>
        </p:txBody>
      </p:sp>
      <p:cxnSp>
        <p:nvCxnSpPr>
          <p:cNvPr id="17459" name="Connector 17458"/>
          <p:cNvCxnSpPr/>
          <p:nvPr/>
        </p:nvCxnSpPr>
        <p:spPr>
          <a:xfrm>
            <a:off x="6803136" y="2738628"/>
            <a:ext cx="155448" cy="0"/>
          </a:xfrm>
          <a:prstGeom prst="line">
            <a:avLst/>
          </a:prstGeom>
          <a:ln w="25400">
            <a:solidFill>
              <a:srgbClr val="1B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0" name="Rounded Rectangle 17459"/>
          <p:cNvSpPr/>
          <p:nvPr/>
        </p:nvSpPr>
        <p:spPr>
          <a:xfrm>
            <a:off x="6976872" y="1572768"/>
            <a:ext cx="2304288" cy="2331720"/>
          </a:xfrm>
          <a:prstGeom prst="roundRect">
            <a:avLst>
              <a:gd name="adj" fmla="val 7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1" name="TextBox 17460"/>
          <p:cNvSpPr txBox="1"/>
          <p:nvPr/>
        </p:nvSpPr>
        <p:spPr>
          <a:xfrm>
            <a:off x="6976872" y="1645920"/>
            <a:ext cx="2304288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1B2433"/>
                </a:solidFill>
                <a:latin typeface="Arial"/>
              </a:rPr>
              <a:t>LINK — same frame everywhere</a:t>
            </a:r>
          </a:p>
        </p:txBody>
      </p:sp>
      <p:sp>
        <p:nvSpPr>
          <p:cNvPr id="17462" name="Rounded Rectangle 17461"/>
          <p:cNvSpPr/>
          <p:nvPr/>
        </p:nvSpPr>
        <p:spPr>
          <a:xfrm>
            <a:off x="7141464" y="1938528"/>
            <a:ext cx="1975104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63" name="Picture 17462" descr="wifi-ink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51192" y="2011680"/>
            <a:ext cx="237744" cy="237744"/>
          </a:xfrm>
          <a:prstGeom prst="rect">
            <a:avLst/>
          </a:prstGeom>
        </p:spPr>
      </p:pic>
      <p:sp>
        <p:nvSpPr>
          <p:cNvPr id="17464" name="TextBox 17463"/>
          <p:cNvSpPr txBox="1"/>
          <p:nvPr/>
        </p:nvSpPr>
        <p:spPr>
          <a:xfrm>
            <a:off x="7571231" y="1938528"/>
            <a:ext cx="148132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B2433"/>
                </a:solidFill>
                <a:latin typeface="Arial"/>
              </a:rPr>
              <a:t>Wi-Fi LAN (primary)</a:t>
            </a:r>
          </a:p>
        </p:txBody>
      </p:sp>
      <p:cxnSp>
        <p:nvCxnSpPr>
          <p:cNvPr id="17465" name="Connector 17464"/>
          <p:cNvCxnSpPr/>
          <p:nvPr/>
        </p:nvCxnSpPr>
        <p:spPr>
          <a:xfrm>
            <a:off x="8129016" y="2322576"/>
            <a:ext cx="0" cy="91440"/>
          </a:xfrm>
          <a:prstGeom prst="line">
            <a:avLst/>
          </a:prstGeom>
          <a:ln w="15875">
            <a:solidFill>
              <a:srgbClr val="9A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6" name="Rounded Rectangle 17465"/>
          <p:cNvSpPr/>
          <p:nvPr/>
        </p:nvSpPr>
        <p:spPr>
          <a:xfrm>
            <a:off x="7141464" y="2414016"/>
            <a:ext cx="1975104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67" name="Picture 17466" descr="antenna-ink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51192" y="2487168"/>
            <a:ext cx="237744" cy="237744"/>
          </a:xfrm>
          <a:prstGeom prst="rect">
            <a:avLst/>
          </a:prstGeom>
        </p:spPr>
      </p:pic>
      <p:sp>
        <p:nvSpPr>
          <p:cNvPr id="17468" name="TextBox 17467"/>
          <p:cNvSpPr txBox="1"/>
          <p:nvPr/>
        </p:nvSpPr>
        <p:spPr>
          <a:xfrm>
            <a:off x="7571231" y="2414016"/>
            <a:ext cx="148132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B2433"/>
                </a:solidFill>
                <a:latin typeface="Arial"/>
              </a:rPr>
              <a:t>Wi-Fi Direct +4 s</a:t>
            </a:r>
          </a:p>
        </p:txBody>
      </p:sp>
      <p:cxnSp>
        <p:nvCxnSpPr>
          <p:cNvPr id="17469" name="Connector 17468"/>
          <p:cNvCxnSpPr/>
          <p:nvPr/>
        </p:nvCxnSpPr>
        <p:spPr>
          <a:xfrm>
            <a:off x="8129016" y="2798064"/>
            <a:ext cx="0" cy="91440"/>
          </a:xfrm>
          <a:prstGeom prst="line">
            <a:avLst/>
          </a:prstGeom>
          <a:ln w="15875">
            <a:solidFill>
              <a:srgbClr val="9A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0" name="Rounded Rectangle 17469"/>
          <p:cNvSpPr/>
          <p:nvPr/>
        </p:nvSpPr>
        <p:spPr>
          <a:xfrm>
            <a:off x="7141464" y="2889504"/>
            <a:ext cx="1975104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71" name="Picture 17470" descr="bt-in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51192" y="2962656"/>
            <a:ext cx="237744" cy="237744"/>
          </a:xfrm>
          <a:prstGeom prst="rect">
            <a:avLst/>
          </a:prstGeom>
        </p:spPr>
      </p:pic>
      <p:sp>
        <p:nvSpPr>
          <p:cNvPr id="17472" name="TextBox 17471"/>
          <p:cNvSpPr txBox="1"/>
          <p:nvPr/>
        </p:nvSpPr>
        <p:spPr>
          <a:xfrm>
            <a:off x="7571231" y="2889504"/>
            <a:ext cx="148132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B2433"/>
                </a:solidFill>
                <a:latin typeface="Arial"/>
              </a:rPr>
              <a:t>Bluetooth LE +8 s</a:t>
            </a:r>
          </a:p>
        </p:txBody>
      </p:sp>
      <p:cxnSp>
        <p:nvCxnSpPr>
          <p:cNvPr id="17473" name="Connector 17472"/>
          <p:cNvCxnSpPr/>
          <p:nvPr/>
        </p:nvCxnSpPr>
        <p:spPr>
          <a:xfrm>
            <a:off x="8129016" y="3273552"/>
            <a:ext cx="0" cy="91440"/>
          </a:xfrm>
          <a:prstGeom prst="line">
            <a:avLst/>
          </a:prstGeom>
          <a:ln w="15875">
            <a:solidFill>
              <a:srgbClr val="9A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4" name="Rounded Rectangle 17473"/>
          <p:cNvSpPr/>
          <p:nvPr/>
        </p:nvSpPr>
        <p:spPr>
          <a:xfrm>
            <a:off x="7141464" y="3364992"/>
            <a:ext cx="1975104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75" name="Picture 17474" descr="server-ink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51192" y="3438144"/>
            <a:ext cx="237744" cy="237744"/>
          </a:xfrm>
          <a:prstGeom prst="rect">
            <a:avLst/>
          </a:prstGeom>
        </p:spPr>
      </p:pic>
      <p:sp>
        <p:nvSpPr>
          <p:cNvPr id="17476" name="TextBox 17475"/>
          <p:cNvSpPr txBox="1"/>
          <p:nvPr/>
        </p:nvSpPr>
        <p:spPr>
          <a:xfrm>
            <a:off x="7571231" y="3364992"/>
            <a:ext cx="148132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B2433"/>
                </a:solidFill>
                <a:latin typeface="Arial"/>
              </a:rPr>
              <a:t>PC control room</a:t>
            </a:r>
          </a:p>
        </p:txBody>
      </p:sp>
      <p:cxnSp>
        <p:nvCxnSpPr>
          <p:cNvPr id="17477" name="Connector 17476"/>
          <p:cNvCxnSpPr/>
          <p:nvPr/>
        </p:nvCxnSpPr>
        <p:spPr>
          <a:xfrm>
            <a:off x="9299448" y="2738628"/>
            <a:ext cx="155448" cy="0"/>
          </a:xfrm>
          <a:prstGeom prst="line">
            <a:avLst/>
          </a:prstGeom>
          <a:ln w="25400">
            <a:solidFill>
              <a:srgbClr val="1B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8" name="Rounded Rectangle 17477"/>
          <p:cNvSpPr/>
          <p:nvPr/>
        </p:nvSpPr>
        <p:spPr>
          <a:xfrm>
            <a:off x="9473184" y="1572768"/>
            <a:ext cx="2304288" cy="2331720"/>
          </a:xfrm>
          <a:prstGeom prst="roundRect">
            <a:avLst>
              <a:gd name="adj" fmla="val 7000"/>
            </a:avLst>
          </a:prstGeom>
          <a:solidFill>
            <a:srgbClr val="E6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9" name="TextBox 17478"/>
          <p:cNvSpPr txBox="1"/>
          <p:nvPr/>
        </p:nvSpPr>
        <p:spPr>
          <a:xfrm>
            <a:off x="9473184" y="1645920"/>
            <a:ext cx="2304288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Arial"/>
              </a:rPr>
              <a:t>RECEIVER PHONE</a:t>
            </a:r>
          </a:p>
        </p:txBody>
      </p:sp>
      <p:sp>
        <p:nvSpPr>
          <p:cNvPr id="17480" name="Rounded Rectangle 17479"/>
          <p:cNvSpPr/>
          <p:nvPr/>
        </p:nvSpPr>
        <p:spPr>
          <a:xfrm>
            <a:off x="9637776" y="1938528"/>
            <a:ext cx="1975104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81" name="Picture 17480" descr="check-t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747504" y="2011680"/>
            <a:ext cx="237744" cy="237744"/>
          </a:xfrm>
          <a:prstGeom prst="rect">
            <a:avLst/>
          </a:prstGeom>
        </p:spPr>
      </p:pic>
      <p:sp>
        <p:nvSpPr>
          <p:cNvPr id="17482" name="TextBox 17481"/>
          <p:cNvSpPr txBox="1"/>
          <p:nvPr/>
        </p:nvSpPr>
        <p:spPr>
          <a:xfrm>
            <a:off x="10067544" y="1938528"/>
            <a:ext cx="148132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B2433"/>
                </a:solidFill>
                <a:latin typeface="Arial"/>
              </a:rPr>
              <a:t>Decode · ACK</a:t>
            </a:r>
          </a:p>
        </p:txBody>
      </p:sp>
      <p:cxnSp>
        <p:nvCxnSpPr>
          <p:cNvPr id="17483" name="Connector 17482"/>
          <p:cNvCxnSpPr/>
          <p:nvPr/>
        </p:nvCxnSpPr>
        <p:spPr>
          <a:xfrm>
            <a:off x="10625328" y="2322576"/>
            <a:ext cx="0" cy="91440"/>
          </a:xfrm>
          <a:prstGeom prst="line">
            <a:avLst/>
          </a:prstGeom>
          <a:ln w="15875">
            <a:solidFill>
              <a:srgbClr val="9A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84" name="Rounded Rectangle 17483"/>
          <p:cNvSpPr/>
          <p:nvPr/>
        </p:nvSpPr>
        <p:spPr>
          <a:xfrm>
            <a:off x="9637776" y="2414016"/>
            <a:ext cx="1975104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85" name="Picture 17484" descr="text-t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747504" y="2487168"/>
            <a:ext cx="237744" cy="237744"/>
          </a:xfrm>
          <a:prstGeom prst="rect">
            <a:avLst/>
          </a:prstGeom>
        </p:spPr>
      </p:pic>
      <p:sp>
        <p:nvSpPr>
          <p:cNvPr id="17486" name="TextBox 17485"/>
          <p:cNvSpPr txBox="1"/>
          <p:nvPr/>
        </p:nvSpPr>
        <p:spPr>
          <a:xfrm>
            <a:off x="10067544" y="2414016"/>
            <a:ext cx="148132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B2433"/>
                </a:solidFill>
                <a:latin typeface="Arial"/>
              </a:rPr>
              <a:t>Numbers → words</a:t>
            </a:r>
          </a:p>
        </p:txBody>
      </p:sp>
      <p:cxnSp>
        <p:nvCxnSpPr>
          <p:cNvPr id="17487" name="Connector 17486"/>
          <p:cNvCxnSpPr/>
          <p:nvPr/>
        </p:nvCxnSpPr>
        <p:spPr>
          <a:xfrm>
            <a:off x="10625328" y="2798064"/>
            <a:ext cx="0" cy="91440"/>
          </a:xfrm>
          <a:prstGeom prst="line">
            <a:avLst/>
          </a:prstGeom>
          <a:ln w="15875">
            <a:solidFill>
              <a:srgbClr val="9A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88" name="Rounded Rectangle 17487"/>
          <p:cNvSpPr/>
          <p:nvPr/>
        </p:nvSpPr>
        <p:spPr>
          <a:xfrm>
            <a:off x="9637776" y="2889504"/>
            <a:ext cx="1975104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89" name="Picture 17488" descr="speaker-t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747504" y="2962656"/>
            <a:ext cx="237744" cy="237744"/>
          </a:xfrm>
          <a:prstGeom prst="rect">
            <a:avLst/>
          </a:prstGeom>
        </p:spPr>
      </p:pic>
      <p:sp>
        <p:nvSpPr>
          <p:cNvPr id="17490" name="TextBox 17489"/>
          <p:cNvSpPr txBox="1"/>
          <p:nvPr/>
        </p:nvSpPr>
        <p:spPr>
          <a:xfrm>
            <a:off x="10067544" y="2889504"/>
            <a:ext cx="148132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B2433"/>
                </a:solidFill>
                <a:latin typeface="Arial"/>
              </a:rPr>
              <a:t>TTS engine</a:t>
            </a:r>
          </a:p>
        </p:txBody>
      </p:sp>
      <p:cxnSp>
        <p:nvCxnSpPr>
          <p:cNvPr id="17491" name="Connector 17490"/>
          <p:cNvCxnSpPr/>
          <p:nvPr/>
        </p:nvCxnSpPr>
        <p:spPr>
          <a:xfrm>
            <a:off x="10625328" y="3273552"/>
            <a:ext cx="0" cy="91440"/>
          </a:xfrm>
          <a:prstGeom prst="line">
            <a:avLst/>
          </a:prstGeom>
          <a:ln w="15875">
            <a:solidFill>
              <a:srgbClr val="9A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92" name="Rounded Rectangle 17491"/>
          <p:cNvSpPr/>
          <p:nvPr/>
        </p:nvSpPr>
        <p:spPr>
          <a:xfrm>
            <a:off x="9637776" y="3364992"/>
            <a:ext cx="1975104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93" name="Picture 17492" descr="siren-t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747504" y="3438144"/>
            <a:ext cx="237744" cy="237744"/>
          </a:xfrm>
          <a:prstGeom prst="rect">
            <a:avLst/>
          </a:prstGeom>
        </p:spPr>
      </p:pic>
      <p:sp>
        <p:nvSpPr>
          <p:cNvPr id="17494" name="TextBox 17493"/>
          <p:cNvSpPr txBox="1"/>
          <p:nvPr/>
        </p:nvSpPr>
        <p:spPr>
          <a:xfrm>
            <a:off x="10067544" y="3364992"/>
            <a:ext cx="148132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B2433"/>
                </a:solidFill>
                <a:latin typeface="Arial"/>
              </a:rPr>
              <a:t>Voice note / ALERT</a:t>
            </a:r>
          </a:p>
        </p:txBody>
      </p:sp>
      <p:sp>
        <p:nvSpPr>
          <p:cNvPr id="17495" name="TextBox 17494"/>
          <p:cNvSpPr txBox="1"/>
          <p:nvPr/>
        </p:nvSpPr>
        <p:spPr>
          <a:xfrm>
            <a:off x="4480560" y="404164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B2433"/>
                </a:solidFill>
                <a:latin typeface="Arial"/>
              </a:rPr>
              <a:t>Working prototype — real screens</a:t>
            </a:r>
          </a:p>
        </p:txBody>
      </p:sp>
      <p:pic>
        <p:nvPicPr>
          <p:cNvPr id="17496" name="Picture 17495" descr="01_alert_card.jp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480560" y="4315968"/>
            <a:ext cx="767527" cy="1645920"/>
          </a:xfrm>
          <a:prstGeom prst="roundRect">
            <a:avLst>
              <a:gd name="adj" fmla="val 10000"/>
            </a:avLst>
          </a:prstGeom>
          <a:ln w="9525">
            <a:solidFill>
              <a:srgbClr val="DDE1E7"/>
            </a:solidFill>
          </a:ln>
        </p:spPr>
      </p:pic>
      <p:sp>
        <p:nvSpPr>
          <p:cNvPr id="17497" name="TextBox 17496"/>
          <p:cNvSpPr txBox="1"/>
          <p:nvPr/>
        </p:nvSpPr>
        <p:spPr>
          <a:xfrm>
            <a:off x="4434840" y="5989320"/>
            <a:ext cx="841248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5B6472"/>
                </a:solidFill>
                <a:latin typeface="Arial"/>
              </a:rPr>
              <a:t>Talk + ALERT</a:t>
            </a:r>
          </a:p>
        </p:txBody>
      </p:sp>
      <p:pic>
        <p:nvPicPr>
          <p:cNvPr id="17498" name="Picture 17497" descr="03_sos_sheet.jp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504688" y="4315968"/>
            <a:ext cx="767527" cy="1645920"/>
          </a:xfrm>
          <a:prstGeom prst="roundRect">
            <a:avLst>
              <a:gd name="adj" fmla="val 10000"/>
            </a:avLst>
          </a:prstGeom>
          <a:ln w="9525">
            <a:solidFill>
              <a:srgbClr val="DDE1E7"/>
            </a:solidFill>
          </a:ln>
        </p:spPr>
      </p:pic>
      <p:sp>
        <p:nvSpPr>
          <p:cNvPr id="17499" name="TextBox 17498"/>
          <p:cNvSpPr txBox="1"/>
          <p:nvPr/>
        </p:nvSpPr>
        <p:spPr>
          <a:xfrm>
            <a:off x="5458968" y="5989320"/>
            <a:ext cx="841248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5B6472"/>
                </a:solidFill>
                <a:latin typeface="Arial"/>
              </a:rPr>
              <a:t>SOS + location</a:t>
            </a:r>
          </a:p>
        </p:txBody>
      </p:sp>
      <p:pic>
        <p:nvPicPr>
          <p:cNvPr id="17500" name="Picture 17499" descr="07_metrics.jp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28816" y="4315968"/>
            <a:ext cx="767527" cy="1645920"/>
          </a:xfrm>
          <a:prstGeom prst="roundRect">
            <a:avLst>
              <a:gd name="adj" fmla="val 10000"/>
            </a:avLst>
          </a:prstGeom>
          <a:ln w="9525">
            <a:solidFill>
              <a:srgbClr val="DDE1E7"/>
            </a:solidFill>
          </a:ln>
        </p:spPr>
      </p:pic>
      <p:sp>
        <p:nvSpPr>
          <p:cNvPr id="17501" name="TextBox 17500"/>
          <p:cNvSpPr txBox="1"/>
          <p:nvPr/>
        </p:nvSpPr>
        <p:spPr>
          <a:xfrm>
            <a:off x="6483096" y="5989320"/>
            <a:ext cx="841248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5B6472"/>
                </a:solidFill>
                <a:latin typeface="Arial"/>
              </a:rPr>
              <a:t>Live metrics</a:t>
            </a:r>
          </a:p>
        </p:txBody>
      </p:sp>
      <p:sp>
        <p:nvSpPr>
          <p:cNvPr id="17502" name="Rounded Rectangle 17501"/>
          <p:cNvSpPr/>
          <p:nvPr/>
        </p:nvSpPr>
        <p:spPr>
          <a:xfrm>
            <a:off x="7589520" y="4069080"/>
            <a:ext cx="1691640" cy="237744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03" name="TextBox 17502"/>
          <p:cNvSpPr txBox="1"/>
          <p:nvPr/>
        </p:nvSpPr>
        <p:spPr>
          <a:xfrm>
            <a:off x="7589520" y="4069080"/>
            <a:ext cx="169164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5803D"/>
                </a:solidFill>
                <a:latin typeface="Arial"/>
              </a:rPr>
              <a:t>BUILT &amp; RUNNING</a:t>
            </a:r>
          </a:p>
        </p:txBody>
      </p:sp>
      <p:sp>
        <p:nvSpPr>
          <p:cNvPr id="17504" name="TextBox 17503"/>
          <p:cNvSpPr txBox="1"/>
          <p:nvPr/>
        </p:nvSpPr>
        <p:spPr>
          <a:xfrm>
            <a:off x="7589520" y="4343400"/>
            <a:ext cx="4187952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B2433"/>
                </a:solidFill>
                <a:latin typeface="Arial"/>
              </a:rPr>
              <a:t>Push-to-talk, call mode, 10-language STT/TTS, ALERT, SOS + location, LITE profile, compact frame, PC control room</a:t>
            </a:r>
          </a:p>
        </p:txBody>
      </p:sp>
      <p:sp>
        <p:nvSpPr>
          <p:cNvPr id="17505" name="Rounded Rectangle 17504"/>
          <p:cNvSpPr/>
          <p:nvPr/>
        </p:nvSpPr>
        <p:spPr>
          <a:xfrm>
            <a:off x="7589520" y="4773168"/>
            <a:ext cx="1691640" cy="237744"/>
          </a:xfrm>
          <a:prstGeom prst="roundRect">
            <a:avLst>
              <a:gd name="adj" fmla="val 50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06" name="TextBox 17505"/>
          <p:cNvSpPr txBox="1"/>
          <p:nvPr/>
        </p:nvSpPr>
        <p:spPr>
          <a:xfrm>
            <a:off x="7589520" y="4773168"/>
            <a:ext cx="169164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B45309"/>
                </a:solidFill>
                <a:latin typeface="Arial"/>
              </a:rPr>
              <a:t>BUILT · TEST PENDING</a:t>
            </a:r>
          </a:p>
        </p:txBody>
      </p:sp>
      <p:sp>
        <p:nvSpPr>
          <p:cNvPr id="17507" name="TextBox 17506"/>
          <p:cNvSpPr txBox="1"/>
          <p:nvPr/>
        </p:nvSpPr>
        <p:spPr>
          <a:xfrm>
            <a:off x="7589520" y="5047488"/>
            <a:ext cx="4187952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B2433"/>
                </a:solidFill>
                <a:latin typeface="Arial"/>
              </a:rPr>
              <a:t>Wi-Fi Direct and Bluetooth LE fallback, phone-to-phone</a:t>
            </a:r>
          </a:p>
        </p:txBody>
      </p:sp>
      <p:sp>
        <p:nvSpPr>
          <p:cNvPr id="17508" name="Rounded Rectangle 17507"/>
          <p:cNvSpPr/>
          <p:nvPr/>
        </p:nvSpPr>
        <p:spPr>
          <a:xfrm>
            <a:off x="7589520" y="5477256"/>
            <a:ext cx="1691640" cy="237744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09" name="TextBox 17508"/>
          <p:cNvSpPr txBox="1"/>
          <p:nvPr/>
        </p:nvSpPr>
        <p:spPr>
          <a:xfrm>
            <a:off x="7589520" y="5477256"/>
            <a:ext cx="169164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64748B"/>
                </a:solidFill>
                <a:latin typeface="Arial"/>
              </a:rPr>
              <a:t>PLANNED</a:t>
            </a:r>
          </a:p>
        </p:txBody>
      </p:sp>
      <p:sp>
        <p:nvSpPr>
          <p:cNvPr id="17510" name="TextBox 17509"/>
          <p:cNvSpPr txBox="1"/>
          <p:nvPr/>
        </p:nvSpPr>
        <p:spPr>
          <a:xfrm>
            <a:off x="7589520" y="5751576"/>
            <a:ext cx="4187952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B2433"/>
                </a:solidFill>
                <a:latin typeface="Arial"/>
              </a:rPr>
              <a:t>Smaller voices (hi/gu/or/en), per-language model download, encrypted SOS location, ESP32 radio bridge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00" b="1"/>
              <a:t>Team Turtle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1148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B2433"/>
                </a:solidFill>
                <a:latin typeface="Arial"/>
              </a:rPr>
              <a:t>Analysis of the feasibility of the idea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4663440" y="1225296"/>
            <a:ext cx="713232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0"/>
              </a:spcAft>
            </a:pPr>
            <a:r>
              <a:rPr sz="1050" b="0" i="1">
                <a:solidFill>
                  <a:srgbClr val="5B6472"/>
                </a:solidFill>
                <a:latin typeface="Arial"/>
              </a:rPr>
              <a:t>Measured in a 4 GB-class memory test (in-app logging)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11480" y="1572768"/>
            <a:ext cx="2148840" cy="1298448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3" name="Picture 17412" descr="zap-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1700784"/>
            <a:ext cx="292608" cy="292608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576072" y="201168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F766E"/>
                </a:solidFill>
                <a:latin typeface="Arial"/>
              </a:rPr>
              <a:t>14×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576072" y="2450592"/>
            <a:ext cx="18745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2433"/>
                </a:solidFill>
                <a:latin typeface="Arial"/>
              </a:rPr>
              <a:t>faster than speech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576072" y="2651760"/>
            <a:ext cx="187452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B6472"/>
                </a:solidFill>
                <a:latin typeface="Arial"/>
              </a:rPr>
              <a:t>STT real-time factor 0.07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2715768" y="1572768"/>
            <a:ext cx="2148840" cy="1298448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8" name="Picture 17417" descr="clock-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1700784"/>
            <a:ext cx="292608" cy="292608"/>
          </a:xfrm>
          <a:prstGeom prst="rect">
            <a:avLst/>
          </a:prstGeom>
        </p:spPr>
      </p:pic>
      <p:sp>
        <p:nvSpPr>
          <p:cNvPr id="17419" name="TextBox 17418"/>
          <p:cNvSpPr txBox="1"/>
          <p:nvPr/>
        </p:nvSpPr>
        <p:spPr>
          <a:xfrm>
            <a:off x="2880360" y="201168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F766E"/>
                </a:solidFill>
                <a:latin typeface="Arial"/>
              </a:rPr>
              <a:t>0.6 s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2880360" y="2450592"/>
            <a:ext cx="18745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2433"/>
                </a:solidFill>
                <a:latin typeface="Arial"/>
              </a:rPr>
              <a:t>speech end → text ready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2880360" y="2651760"/>
            <a:ext cx="187452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B6472"/>
                </a:solidFill>
                <a:latin typeface="Arial"/>
              </a:rPr>
              <a:t>median, 10 languages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5020056" y="1572768"/>
            <a:ext cx="2148840" cy="1298448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3" name="Picture 17422" descr="memory-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4648" y="1700784"/>
            <a:ext cx="292608" cy="292608"/>
          </a:xfrm>
          <a:prstGeom prst="rect">
            <a:avLst/>
          </a:prstGeom>
        </p:spPr>
      </p:pic>
      <p:sp>
        <p:nvSpPr>
          <p:cNvPr id="17424" name="TextBox 17423"/>
          <p:cNvSpPr txBox="1"/>
          <p:nvPr/>
        </p:nvSpPr>
        <p:spPr>
          <a:xfrm>
            <a:off x="5184648" y="201168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F766E"/>
                </a:solidFill>
                <a:latin typeface="Arial"/>
              </a:rPr>
              <a:t>765 MB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5184648" y="2450592"/>
            <a:ext cx="18745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2433"/>
                </a:solidFill>
                <a:latin typeface="Arial"/>
              </a:rPr>
              <a:t>app RAM when idle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5184648" y="2651760"/>
            <a:ext cx="187452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B6472"/>
                </a:solidFill>
                <a:latin typeface="Arial"/>
              </a:rPr>
              <a:t>1.8 GB peak while speaking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7324344" y="1572768"/>
            <a:ext cx="2148840" cy="1298448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8" name="Picture 17427" descr="cpu-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88936" y="1700784"/>
            <a:ext cx="292608" cy="292608"/>
          </a:xfrm>
          <a:prstGeom prst="rect">
            <a:avLst/>
          </a:prstGeom>
        </p:spPr>
      </p:pic>
      <p:sp>
        <p:nvSpPr>
          <p:cNvPr id="17429" name="TextBox 17428"/>
          <p:cNvSpPr txBox="1"/>
          <p:nvPr/>
        </p:nvSpPr>
        <p:spPr>
          <a:xfrm>
            <a:off x="7488936" y="201168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F766E"/>
                </a:solidFill>
                <a:latin typeface="Arial"/>
              </a:rPr>
              <a:t>0.3%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7488936" y="2450592"/>
            <a:ext cx="18745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2433"/>
                </a:solidFill>
                <a:latin typeface="Arial"/>
              </a:rPr>
              <a:t>idle CPU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7488936" y="2651760"/>
            <a:ext cx="187452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B6472"/>
                </a:solidFill>
                <a:latin typeface="Arial"/>
              </a:rPr>
              <a:t>of one core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9628632" y="1572768"/>
            <a:ext cx="2148840" cy="1298448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3" name="Picture 17432" descr="shield-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93224" y="1700784"/>
            <a:ext cx="292608" cy="292608"/>
          </a:xfrm>
          <a:prstGeom prst="rect">
            <a:avLst/>
          </a:prstGeom>
        </p:spPr>
      </p:pic>
      <p:sp>
        <p:nvSpPr>
          <p:cNvPr id="17434" name="TextBox 17433"/>
          <p:cNvSpPr txBox="1"/>
          <p:nvPr/>
        </p:nvSpPr>
        <p:spPr>
          <a:xfrm>
            <a:off x="9793224" y="201168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F766E"/>
                </a:solidFill>
                <a:latin typeface="Arial"/>
              </a:rPr>
              <a:t>Alive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9793224" y="2450592"/>
            <a:ext cx="18745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2433"/>
                </a:solidFill>
                <a:latin typeface="Arial"/>
              </a:rPr>
              <a:t>app not killed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9793224" y="2651760"/>
            <a:ext cx="187452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B6472"/>
                </a:solidFill>
                <a:latin typeface="Arial"/>
              </a:rPr>
              <a:t>115 other apps closed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411480" y="2926080"/>
            <a:ext cx="1133856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5B6472"/>
                </a:solidFill>
                <a:latin typeface="Arial"/>
              </a:rPr>
              <a:t>4 GB-class test: 12 GB Snapdragon 870 phone with RAM locked so only ~1.7 GB was free, LITE profile. The chip was not slowed — a budget phone will be slower. Word error rate 5.9% (preliminary, 10 clips) unchanged.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411480" y="331927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B2433"/>
                </a:solidFill>
                <a:latin typeface="Arial"/>
              </a:rPr>
              <a:t>Potential challenges and risks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5806440" y="331927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B2433"/>
                </a:solidFill>
                <a:latin typeface="Arial"/>
              </a:rPr>
              <a:t>Strategies for overcoming these challenges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411480" y="3639312"/>
            <a:ext cx="11365992" cy="475488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1" name="Picture 17440" descr="speaker-s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6928" y="3739896"/>
            <a:ext cx="274320" cy="274320"/>
          </a:xfrm>
          <a:prstGeom prst="rect">
            <a:avLst/>
          </a:prstGeom>
        </p:spPr>
      </p:pic>
      <p:sp>
        <p:nvSpPr>
          <p:cNvPr id="17442" name="TextBox 17441"/>
          <p:cNvSpPr txBox="1"/>
          <p:nvPr/>
        </p:nvSpPr>
        <p:spPr>
          <a:xfrm>
            <a:off x="960120" y="3639312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B2433"/>
                </a:solidFill>
                <a:latin typeface="Arial"/>
              </a:rPr>
              <a:t>Voice starts 3–6 s after arrival in LITE</a:t>
            </a:r>
          </a:p>
        </p:txBody>
      </p:sp>
      <p:cxnSp>
        <p:nvCxnSpPr>
          <p:cNvPr id="17443" name="Connector 17442"/>
          <p:cNvCxnSpPr/>
          <p:nvPr/>
        </p:nvCxnSpPr>
        <p:spPr>
          <a:xfrm>
            <a:off x="5257800" y="3877056"/>
            <a:ext cx="411480" cy="0"/>
          </a:xfrm>
          <a:prstGeom prst="line">
            <a:avLst/>
          </a:prstGeom>
          <a:ln w="19050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4" name="TextBox 17443"/>
          <p:cNvSpPr txBox="1"/>
          <p:nvPr/>
        </p:nvSpPr>
        <p:spPr>
          <a:xfrm>
            <a:off x="5806440" y="3639312"/>
            <a:ext cx="5852160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B2433"/>
                </a:solidFill>
                <a:latin typeface="Arial"/>
              </a:rPr>
              <a:t>Keep the listener's language loaded; smaller fast voices for hi/gu/or/en (planned)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411480" y="4169663"/>
            <a:ext cx="11365992" cy="47548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6" name="Picture 17445" descr="database-s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6928" y="4270248"/>
            <a:ext cx="274320" cy="274320"/>
          </a:xfrm>
          <a:prstGeom prst="rect">
            <a:avLst/>
          </a:prstGeom>
        </p:spPr>
      </p:pic>
      <p:sp>
        <p:nvSpPr>
          <p:cNvPr id="17447" name="TextBox 17446"/>
          <p:cNvSpPr txBox="1"/>
          <p:nvPr/>
        </p:nvSpPr>
        <p:spPr>
          <a:xfrm>
            <a:off x="960120" y="4169663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B2433"/>
                </a:solidFill>
                <a:latin typeface="Arial"/>
              </a:rPr>
              <a:t>1.14 GB of model files</a:t>
            </a:r>
          </a:p>
        </p:txBody>
      </p:sp>
      <p:cxnSp>
        <p:nvCxnSpPr>
          <p:cNvPr id="17448" name="Connector 17447"/>
          <p:cNvCxnSpPr/>
          <p:nvPr/>
        </p:nvCxnSpPr>
        <p:spPr>
          <a:xfrm>
            <a:off x="5257800" y="4407407"/>
            <a:ext cx="411480" cy="0"/>
          </a:xfrm>
          <a:prstGeom prst="line">
            <a:avLst/>
          </a:prstGeom>
          <a:ln w="19050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9" name="TextBox 17448"/>
          <p:cNvSpPr txBox="1"/>
          <p:nvPr/>
        </p:nvSpPr>
        <p:spPr>
          <a:xfrm>
            <a:off x="5806440" y="4169663"/>
            <a:ext cx="5852160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B2433"/>
                </a:solidFill>
                <a:latin typeface="Arial"/>
              </a:rPr>
              <a:t>Per-language on-demand download and smaller voices for hi/gu/or/en (planned)</a:t>
            </a:r>
          </a:p>
        </p:txBody>
      </p:sp>
      <p:sp>
        <p:nvSpPr>
          <p:cNvPr id="17450" name="Rounded Rectangle 17449"/>
          <p:cNvSpPr/>
          <p:nvPr/>
        </p:nvSpPr>
        <p:spPr>
          <a:xfrm>
            <a:off x="411480" y="4700016"/>
            <a:ext cx="11365992" cy="475488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51" name="Picture 17450" descr="bt-sa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6928" y="4800600"/>
            <a:ext cx="274320" cy="274320"/>
          </a:xfrm>
          <a:prstGeom prst="rect">
            <a:avLst/>
          </a:prstGeom>
        </p:spPr>
      </p:pic>
      <p:sp>
        <p:nvSpPr>
          <p:cNvPr id="17452" name="TextBox 17451"/>
          <p:cNvSpPr txBox="1"/>
          <p:nvPr/>
        </p:nvSpPr>
        <p:spPr>
          <a:xfrm>
            <a:off x="960120" y="470001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B2433"/>
                </a:solidFill>
                <a:latin typeface="Arial"/>
              </a:rPr>
              <a:t>Wi-Fi Direct / Bluetooth not yet tested phone-to-phone</a:t>
            </a:r>
          </a:p>
        </p:txBody>
      </p:sp>
      <p:cxnSp>
        <p:nvCxnSpPr>
          <p:cNvPr id="17453" name="Connector 17452"/>
          <p:cNvCxnSpPr/>
          <p:nvPr/>
        </p:nvCxnSpPr>
        <p:spPr>
          <a:xfrm>
            <a:off x="5257800" y="4937759"/>
            <a:ext cx="411480" cy="0"/>
          </a:xfrm>
          <a:prstGeom prst="line">
            <a:avLst/>
          </a:prstGeom>
          <a:ln w="19050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4" name="TextBox 17453"/>
          <p:cNvSpPr txBox="1"/>
          <p:nvPr/>
        </p:nvSpPr>
        <p:spPr>
          <a:xfrm>
            <a:off x="5806440" y="4700016"/>
            <a:ext cx="5852160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B2433"/>
                </a:solidFill>
                <a:latin typeface="Arial"/>
              </a:rPr>
              <a:t>Two-phone tests on real devices; normal Wi-Fi stays the primary link</a:t>
            </a:r>
          </a:p>
        </p:txBody>
      </p:sp>
      <p:sp>
        <p:nvSpPr>
          <p:cNvPr id="17455" name="Rounded Rectangle 17454"/>
          <p:cNvSpPr/>
          <p:nvPr/>
        </p:nvSpPr>
        <p:spPr>
          <a:xfrm>
            <a:off x="411480" y="5230368"/>
            <a:ext cx="11365992" cy="47548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56" name="Picture 17455" descr="ear-sa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6928" y="5330952"/>
            <a:ext cx="274320" cy="274320"/>
          </a:xfrm>
          <a:prstGeom prst="rect">
            <a:avLst/>
          </a:prstGeom>
        </p:spPr>
      </p:pic>
      <p:sp>
        <p:nvSpPr>
          <p:cNvPr id="17457" name="TextBox 17456"/>
          <p:cNvSpPr txBox="1"/>
          <p:nvPr/>
        </p:nvSpPr>
        <p:spPr>
          <a:xfrm>
            <a:off x="960120" y="523036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B2433"/>
                </a:solidFill>
                <a:latin typeface="Arial"/>
              </a:rPr>
              <a:t>Noise, accents, code-mixing raise errors</a:t>
            </a:r>
          </a:p>
        </p:txBody>
      </p:sp>
      <p:cxnSp>
        <p:nvCxnSpPr>
          <p:cNvPr id="17458" name="Connector 17457"/>
          <p:cNvCxnSpPr/>
          <p:nvPr/>
        </p:nvCxnSpPr>
        <p:spPr>
          <a:xfrm>
            <a:off x="5257800" y="5468112"/>
            <a:ext cx="411480" cy="0"/>
          </a:xfrm>
          <a:prstGeom prst="line">
            <a:avLst/>
          </a:prstGeom>
          <a:ln w="19050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9" name="TextBox 17458"/>
          <p:cNvSpPr txBox="1"/>
          <p:nvPr/>
        </p:nvSpPr>
        <p:spPr>
          <a:xfrm>
            <a:off x="5806440" y="5230368"/>
            <a:ext cx="5852160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B2433"/>
                </a:solidFill>
                <a:latin typeface="Arial"/>
              </a:rPr>
              <a:t>Keyword boosting for alert words; 30-clip-per-language evaluation; typed text as fallback</a:t>
            </a:r>
          </a:p>
        </p:txBody>
      </p:sp>
      <p:sp>
        <p:nvSpPr>
          <p:cNvPr id="17460" name="TextBox 17459"/>
          <p:cNvSpPr txBox="1"/>
          <p:nvPr/>
        </p:nvSpPr>
        <p:spPr>
          <a:xfrm>
            <a:off x="411480" y="5824728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B2433"/>
                </a:solidFill>
                <a:latin typeface="Arial"/>
              </a:rPr>
              <a:t>Viability</a:t>
            </a:r>
          </a:p>
        </p:txBody>
      </p:sp>
      <p:sp>
        <p:nvSpPr>
          <p:cNvPr id="17461" name="Rounded Rectangle 17460"/>
          <p:cNvSpPr/>
          <p:nvPr/>
        </p:nvSpPr>
        <p:spPr>
          <a:xfrm>
            <a:off x="1417320" y="5824728"/>
            <a:ext cx="3063240" cy="347472"/>
          </a:xfrm>
          <a:prstGeom prst="roundRect">
            <a:avLst>
              <a:gd name="adj" fmla="val 50000"/>
            </a:avLst>
          </a:prstGeom>
          <a:solidFill>
            <a:srgbClr val="E6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62" name="Picture 17461" descr="rupee-t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36192" y="5879592"/>
            <a:ext cx="237744" cy="237744"/>
          </a:xfrm>
          <a:prstGeom prst="rect">
            <a:avLst/>
          </a:prstGeom>
        </p:spPr>
      </p:pic>
      <p:sp>
        <p:nvSpPr>
          <p:cNvPr id="17463" name="TextBox 17462"/>
          <p:cNvSpPr txBox="1"/>
          <p:nvPr/>
        </p:nvSpPr>
        <p:spPr>
          <a:xfrm>
            <a:off x="1837944" y="5824728"/>
            <a:ext cx="256032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Arial"/>
              </a:rPr>
              <a:t>No airtime, server or cloud fees</a:t>
            </a:r>
          </a:p>
        </p:txBody>
      </p:sp>
      <p:sp>
        <p:nvSpPr>
          <p:cNvPr id="17464" name="Rounded Rectangle 17463"/>
          <p:cNvSpPr/>
          <p:nvPr/>
        </p:nvSpPr>
        <p:spPr>
          <a:xfrm>
            <a:off x="4617720" y="5824728"/>
            <a:ext cx="3246120" cy="347472"/>
          </a:xfrm>
          <a:prstGeom prst="roundRect">
            <a:avLst>
              <a:gd name="adj" fmla="val 50000"/>
            </a:avLst>
          </a:prstGeom>
          <a:solidFill>
            <a:srgbClr val="E6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65" name="Picture 17464" descr="package-t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36592" y="5879592"/>
            <a:ext cx="237744" cy="237744"/>
          </a:xfrm>
          <a:prstGeom prst="rect">
            <a:avLst/>
          </a:prstGeom>
        </p:spPr>
      </p:pic>
      <p:sp>
        <p:nvSpPr>
          <p:cNvPr id="17466" name="TextBox 17465"/>
          <p:cNvSpPr txBox="1"/>
          <p:nvPr/>
        </p:nvSpPr>
        <p:spPr>
          <a:xfrm>
            <a:off x="5038344" y="5824728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Arial"/>
              </a:rPr>
              <a:t>Open models: MIT · Apache-2.0 · CC-BY-4.0</a:t>
            </a:r>
          </a:p>
        </p:txBody>
      </p:sp>
      <p:sp>
        <p:nvSpPr>
          <p:cNvPr id="17467" name="Rounded Rectangle 17466"/>
          <p:cNvSpPr/>
          <p:nvPr/>
        </p:nvSpPr>
        <p:spPr>
          <a:xfrm>
            <a:off x="8001000" y="5824728"/>
            <a:ext cx="3776472" cy="347472"/>
          </a:xfrm>
          <a:prstGeom prst="roundRect">
            <a:avLst>
              <a:gd name="adj" fmla="val 50000"/>
            </a:avLst>
          </a:prstGeom>
          <a:solidFill>
            <a:srgbClr val="E6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68" name="Picture 17467" descr="link-t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19872" y="5879592"/>
            <a:ext cx="237744" cy="237744"/>
          </a:xfrm>
          <a:prstGeom prst="rect">
            <a:avLst/>
          </a:prstGeom>
        </p:spPr>
      </p:pic>
      <p:sp>
        <p:nvSpPr>
          <p:cNvPr id="17469" name="TextBox 17468"/>
          <p:cNvSpPr txBox="1"/>
          <p:nvPr/>
        </p:nvSpPr>
        <p:spPr>
          <a:xfrm>
            <a:off x="8421624" y="5824728"/>
            <a:ext cx="3273552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Arial"/>
              </a:rPr>
              <a:t>One packet format on every link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00" b="1"/>
              <a:t>Team Turtle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1148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B2433"/>
                </a:solidFill>
                <a:latin typeface="Arial"/>
              </a:rPr>
              <a:t>Potential impact on the target audience</a:t>
            </a:r>
          </a:p>
        </p:txBody>
      </p:sp>
      <p:pic>
        <p:nvPicPr>
          <p:cNvPr id="17411" name="Picture 17410" descr="ndrf.jpg"/>
          <p:cNvPicPr>
            <a:picLocks noChangeAspect="1"/>
          </p:cNvPicPr>
          <p:nvPr/>
        </p:nvPicPr>
        <p:blipFill>
          <a:blip r:embed="rId4"/>
          <a:srcRect t="4244" b="9904"/>
          <a:stretch>
            <a:fillRect/>
          </a:stretch>
        </p:blipFill>
        <p:spPr>
          <a:xfrm>
            <a:off x="411480" y="1554480"/>
            <a:ext cx="2743200" cy="1325880"/>
          </a:xfrm>
          <a:prstGeom prst="rect">
            <a:avLst/>
          </a:prstGeom>
        </p:spPr>
      </p:pic>
      <p:sp>
        <p:nvSpPr>
          <p:cNvPr id="17412" name="Rectangle 17411"/>
          <p:cNvSpPr/>
          <p:nvPr/>
        </p:nvSpPr>
        <p:spPr>
          <a:xfrm>
            <a:off x="411480" y="2880360"/>
            <a:ext cx="2743200" cy="84124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3" name="Picture 17412" descr="lifebuoy-s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" y="2980944"/>
            <a:ext cx="256032" cy="256032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850392" y="2962656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B2433"/>
                </a:solidFill>
                <a:latin typeface="Arial"/>
              </a:rPr>
              <a:t>Disaster response teams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521208" y="3273552"/>
            <a:ext cx="2523744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B6472"/>
                </a:solidFill>
                <a:latin typeface="Arial"/>
              </a:rPr>
              <a:t>Voice coordination when towers and internet are down</a:t>
            </a:r>
          </a:p>
        </p:txBody>
      </p:sp>
      <p:pic>
        <p:nvPicPr>
          <p:cNvPr id="17416" name="Picture 17415" descr="fish.jpg"/>
          <p:cNvPicPr>
            <a:picLocks noChangeAspect="1"/>
          </p:cNvPicPr>
          <p:nvPr/>
        </p:nvPicPr>
        <p:blipFill>
          <a:blip r:embed="rId6"/>
          <a:srcRect t="10667" b="24889"/>
          <a:stretch>
            <a:fillRect/>
          </a:stretch>
        </p:blipFill>
        <p:spPr>
          <a:xfrm>
            <a:off x="3282696" y="1554480"/>
            <a:ext cx="2743200" cy="1325880"/>
          </a:xfrm>
          <a:prstGeom prst="rect">
            <a:avLst/>
          </a:prstGeom>
        </p:spPr>
      </p:pic>
      <p:sp>
        <p:nvSpPr>
          <p:cNvPr id="17417" name="Rectangle 17416"/>
          <p:cNvSpPr/>
          <p:nvPr/>
        </p:nvSpPr>
        <p:spPr>
          <a:xfrm>
            <a:off x="3282696" y="2880360"/>
            <a:ext cx="2743200" cy="84124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8" name="Picture 17417" descr="ship-s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92424" y="2980944"/>
            <a:ext cx="256032" cy="256032"/>
          </a:xfrm>
          <a:prstGeom prst="rect">
            <a:avLst/>
          </a:prstGeom>
        </p:spPr>
      </p:pic>
      <p:sp>
        <p:nvSpPr>
          <p:cNvPr id="17419" name="TextBox 17418"/>
          <p:cNvSpPr txBox="1"/>
          <p:nvPr/>
        </p:nvSpPr>
        <p:spPr>
          <a:xfrm>
            <a:off x="3721608" y="2962656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B2433"/>
                </a:solidFill>
                <a:latin typeface="Arial"/>
              </a:rPr>
              <a:t>Coastal fishing communities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3392424" y="3273552"/>
            <a:ext cx="2523744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B6472"/>
                </a:solidFill>
                <a:latin typeface="Arial"/>
              </a:rPr>
              <a:t>Spoken local-language alerts over weak links</a:t>
            </a:r>
          </a:p>
        </p:txBody>
      </p:sp>
      <p:pic>
        <p:nvPicPr>
          <p:cNvPr id="17421" name="Picture 17420" descr="rural2.jpg"/>
          <p:cNvPicPr>
            <a:picLocks noChangeAspect="1"/>
          </p:cNvPicPr>
          <p:nvPr/>
        </p:nvPicPr>
        <p:blipFill>
          <a:blip r:embed="rId8"/>
          <a:srcRect t="10667" b="24889"/>
          <a:stretch>
            <a:fillRect/>
          </a:stretch>
        </p:blipFill>
        <p:spPr>
          <a:xfrm>
            <a:off x="6153912" y="1554480"/>
            <a:ext cx="2743200" cy="1325880"/>
          </a:xfrm>
          <a:prstGeom prst="rect">
            <a:avLst/>
          </a:prstGeom>
        </p:spPr>
      </p:pic>
      <p:sp>
        <p:nvSpPr>
          <p:cNvPr id="17422" name="Rectangle 17421"/>
          <p:cNvSpPr/>
          <p:nvPr/>
        </p:nvSpPr>
        <p:spPr>
          <a:xfrm>
            <a:off x="6153912" y="2880360"/>
            <a:ext cx="2743200" cy="84124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3" name="Picture 17422" descr="ear-s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63640" y="2980944"/>
            <a:ext cx="256032" cy="256032"/>
          </a:xfrm>
          <a:prstGeom prst="rect">
            <a:avLst/>
          </a:prstGeom>
        </p:spPr>
      </p:pic>
      <p:sp>
        <p:nvSpPr>
          <p:cNvPr id="17424" name="TextBox 17423"/>
          <p:cNvSpPr txBox="1"/>
          <p:nvPr/>
        </p:nvSpPr>
        <p:spPr>
          <a:xfrm>
            <a:off x="6592824" y="2962656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B2433"/>
                </a:solidFill>
                <a:latin typeface="Arial"/>
              </a:rPr>
              <a:t>Low-literacy users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6263640" y="3273552"/>
            <a:ext cx="2523744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B6472"/>
                </a:solidFill>
                <a:latin typeface="Arial"/>
              </a:rPr>
              <a:t>Hear an alert a text message would miss</a:t>
            </a:r>
          </a:p>
        </p:txBody>
      </p:sp>
      <p:pic>
        <p:nvPicPr>
          <p:cNvPr id="17426" name="Picture 17425" descr="rail.jpg"/>
          <p:cNvPicPr>
            <a:picLocks noChangeAspect="1"/>
          </p:cNvPicPr>
          <p:nvPr/>
        </p:nvPicPr>
        <p:blipFill>
          <a:blip r:embed="rId10"/>
          <a:srcRect t="8216" b="19171"/>
          <a:stretch>
            <a:fillRect/>
          </a:stretch>
        </p:blipFill>
        <p:spPr>
          <a:xfrm>
            <a:off x="9025128" y="1554480"/>
            <a:ext cx="2743200" cy="1325880"/>
          </a:xfrm>
          <a:prstGeom prst="rect">
            <a:avLst/>
          </a:prstGeom>
        </p:spPr>
      </p:pic>
      <p:sp>
        <p:nvSpPr>
          <p:cNvPr id="17427" name="Rectangle 17426"/>
          <p:cNvSpPr/>
          <p:nvPr/>
        </p:nvSpPr>
        <p:spPr>
          <a:xfrm>
            <a:off x="9025128" y="2880360"/>
            <a:ext cx="2743200" cy="84124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8" name="Picture 17427" descr="train-sa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34855" y="2980944"/>
            <a:ext cx="256032" cy="256032"/>
          </a:xfrm>
          <a:prstGeom prst="rect">
            <a:avLst/>
          </a:prstGeom>
        </p:spPr>
      </p:pic>
      <p:sp>
        <p:nvSpPr>
          <p:cNvPr id="17429" name="TextBox 17428"/>
          <p:cNvSpPr txBox="1"/>
          <p:nvPr/>
        </p:nvSpPr>
        <p:spPr>
          <a:xfrm>
            <a:off x="9464040" y="2962656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B2433"/>
                </a:solidFill>
                <a:latin typeface="Arial"/>
              </a:rPr>
              <a:t>Remote field staff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9134855" y="3273552"/>
            <a:ext cx="2523744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B6472"/>
                </a:solidFill>
                <a:latin typeface="Arial"/>
              </a:rPr>
              <a:t>Offline voice link in poor-coverage areas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411480" y="3840480"/>
            <a:ext cx="1874519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EA580C"/>
                </a:solidFill>
                <a:latin typeface="Arial"/>
              </a:rPr>
              <a:t>≈1,500×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2377440" y="3840480"/>
            <a:ext cx="169164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B2433"/>
                </a:solidFill>
                <a:latin typeface="Arial"/>
              </a:rPr>
              <a:t>less data than raw audio*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4242816" y="3840480"/>
            <a:ext cx="132588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F766E"/>
                </a:solidFill>
                <a:latin typeface="Arial"/>
              </a:rPr>
              <a:t>1.03 s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5660136" y="3840480"/>
            <a:ext cx="224028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B2433"/>
                </a:solidFill>
                <a:latin typeface="Arial"/>
              </a:rPr>
              <a:t>ALERT arrival → spoken aloud (measured, Wi-Fi)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8074152" y="3840480"/>
            <a:ext cx="68580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B2433"/>
                </a:solidFill>
                <a:latin typeface="Arial"/>
              </a:rPr>
              <a:t>10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8851392" y="3840480"/>
            <a:ext cx="288036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B2433"/>
                </a:solidFill>
                <a:latin typeface="Arial"/>
              </a:rPr>
              <a:t>Indian languages, speech in and out, on the phone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411480" y="455371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B2433"/>
                </a:solidFill>
                <a:latin typeface="Arial"/>
              </a:rPr>
              <a:t>Benefits of the solution (social, economic, environmental, etc.)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411480" y="4892040"/>
            <a:ext cx="3703320" cy="987552"/>
          </a:xfrm>
          <a:prstGeom prst="roundRect">
            <a:avLst>
              <a:gd name="adj" fmla="val 10000"/>
            </a:avLst>
          </a:prstGeom>
          <a:solidFill>
            <a:srgbClr val="FF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9" name="Oval 17438"/>
          <p:cNvSpPr/>
          <p:nvPr/>
        </p:nvSpPr>
        <p:spPr>
          <a:xfrm>
            <a:off x="557784" y="5148072"/>
            <a:ext cx="475488" cy="47548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0" name="Picture 17439" descr="heart-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2391" y="5252679"/>
            <a:ext cx="266273" cy="266273"/>
          </a:xfrm>
          <a:prstGeom prst="rect">
            <a:avLst/>
          </a:prstGeom>
        </p:spPr>
      </p:pic>
      <p:sp>
        <p:nvSpPr>
          <p:cNvPr id="17441" name="TextBox 17440"/>
          <p:cNvSpPr txBox="1"/>
          <p:nvPr/>
        </p:nvSpPr>
        <p:spPr>
          <a:xfrm>
            <a:off x="1143000" y="4974336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A580C"/>
                </a:solidFill>
                <a:latin typeface="Arial"/>
              </a:rPr>
              <a:t>Social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1143000" y="5230368"/>
            <a:ext cx="2880360" cy="6035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B2433"/>
                </a:solidFill>
                <a:latin typeface="Arial"/>
              </a:rPr>
              <a:t>Alerts spoken aloud in Indian languages — usable by people who cannot read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4242816" y="4892040"/>
            <a:ext cx="3703320" cy="987552"/>
          </a:xfrm>
          <a:prstGeom prst="roundRect">
            <a:avLst>
              <a:gd name="adj" fmla="val 10000"/>
            </a:avLst>
          </a:prstGeom>
          <a:solidFill>
            <a:srgbClr val="E6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4" name="Oval 17443"/>
          <p:cNvSpPr/>
          <p:nvPr/>
        </p:nvSpPr>
        <p:spPr>
          <a:xfrm>
            <a:off x="4389120" y="5148072"/>
            <a:ext cx="475488" cy="47548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5" name="Picture 17444" descr="rupee-whit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93727" y="5252679"/>
            <a:ext cx="266273" cy="266273"/>
          </a:xfrm>
          <a:prstGeom prst="rect">
            <a:avLst/>
          </a:prstGeom>
        </p:spPr>
      </p:pic>
      <p:sp>
        <p:nvSpPr>
          <p:cNvPr id="17446" name="TextBox 17445"/>
          <p:cNvSpPr txBox="1"/>
          <p:nvPr/>
        </p:nvSpPr>
        <p:spPr>
          <a:xfrm>
            <a:off x="4974336" y="4974336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Arial"/>
              </a:rPr>
              <a:t>Economic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4974336" y="5230368"/>
            <a:ext cx="2880360" cy="6035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B2433"/>
                </a:solidFill>
                <a:latin typeface="Arial"/>
              </a:rPr>
              <a:t>No airtime, cloud or licence fees; runs on phones people already own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8074152" y="4892040"/>
            <a:ext cx="3703320" cy="987552"/>
          </a:xfrm>
          <a:prstGeom prst="roundRect">
            <a:avLst>
              <a:gd name="adj" fmla="val 10000"/>
            </a:avLst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9" name="Oval 17448"/>
          <p:cNvSpPr/>
          <p:nvPr/>
        </p:nvSpPr>
        <p:spPr>
          <a:xfrm>
            <a:off x="8220456" y="5148072"/>
            <a:ext cx="475488" cy="475488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50" name="Picture 17449" descr="leaf-whit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25063" y="5252679"/>
            <a:ext cx="266273" cy="266273"/>
          </a:xfrm>
          <a:prstGeom prst="rect">
            <a:avLst/>
          </a:prstGeom>
        </p:spPr>
      </p:pic>
      <p:sp>
        <p:nvSpPr>
          <p:cNvPr id="17451" name="TextBox 17450"/>
          <p:cNvSpPr txBox="1"/>
          <p:nvPr/>
        </p:nvSpPr>
        <p:spPr>
          <a:xfrm>
            <a:off x="8805672" y="4974336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5803D"/>
                </a:solidFill>
                <a:latin typeface="Arial"/>
              </a:rPr>
              <a:t>Environmental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8805672" y="5230368"/>
            <a:ext cx="2880360" cy="6035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B2433"/>
                </a:solidFill>
                <a:latin typeface="Arial"/>
              </a:rPr>
              <a:t>Fewer bytes per message means less radio airtime (battery gain not yet measured)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411480" y="5943600"/>
            <a:ext cx="1133856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5B6472"/>
                </a:solidFill>
                <a:latin typeface="Arial"/>
              </a:rPr>
              <a:t>*62 B per ~3 s sentence vs 256 kbps raw audio; 62 B is a unit-test median. No field pilot yet.   Photos (Wikimedia Commons): NDRF – Ministry of Home Affairs, GODL-India; fishermen – Saral Shots, CC0; woman on phone – Ammalu, CC BY-SA 3.0; rail workers – David Brossard, CC BY-SA 2.0.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00" b="1"/>
              <a:t>Team Turtle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11480" y="11887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B2433"/>
                </a:solidFill>
                <a:latin typeface="Arial"/>
              </a:rPr>
              <a:t>Details / Links of the reference and research work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11480" y="1627632"/>
            <a:ext cx="4983480" cy="2240280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Oval 17411"/>
          <p:cNvSpPr/>
          <p:nvPr/>
        </p:nvSpPr>
        <p:spPr>
          <a:xfrm>
            <a:off x="512064" y="1728216"/>
            <a:ext cx="402336" cy="402336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3" name="Picture 17412" descr="brain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577" y="1816729"/>
            <a:ext cx="225308" cy="225308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1014984" y="1792224"/>
            <a:ext cx="42519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A580C"/>
                </a:solidFill>
                <a:latin typeface="Arial"/>
              </a:rPr>
              <a:t>Open models (all run on the phone)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640080" y="2231136"/>
            <a:ext cx="46177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2433"/>
                </a:solidFill>
                <a:latin typeface="Arial"/>
              </a:rPr>
              <a:t>SraVaani-1.0 speech-to-text · ARTPARK, IISc · MIT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0F766E"/>
                </a:solidFill>
                <a:latin typeface="Arial"/>
                <a:hlinkClick r:id="rId5"/>
              </a:rPr>
              <a:t>huggingface.co/ARTPARK-IISc/SraVaani-1.0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640080" y="2633472"/>
            <a:ext cx="46177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2433"/>
                </a:solidFill>
                <a:latin typeface="Arial"/>
              </a:rPr>
              <a:t>Indic-Mio text-to-speech · SPRING Lab, IIT Madras · Apache-2.0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0F766E"/>
                </a:solidFill>
                <a:latin typeface="Arial"/>
                <a:hlinkClick r:id="rId6"/>
              </a:rPr>
              <a:t>huggingface.co/SPRINGLab/Indic-Mio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640080" y="3035808"/>
            <a:ext cx="46177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2433"/>
                </a:solidFill>
                <a:latin typeface="Arial"/>
              </a:rPr>
              <a:t>VITS Rasa 13 text-to-speech · AI4Bharat · CC-BY-4.0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0F766E"/>
                </a:solidFill>
                <a:latin typeface="Arial"/>
                <a:hlinkClick r:id="rId7"/>
              </a:rPr>
              <a:t>huggingface.co/ai4bharat/vits_rasa_13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640080" y="3438144"/>
            <a:ext cx="46177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2433"/>
                </a:solidFill>
                <a:latin typeface="Arial"/>
              </a:rPr>
              <a:t>Silero VAD voice detection · MIT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0F766E"/>
                </a:solidFill>
                <a:latin typeface="Arial"/>
                <a:hlinkClick r:id="rId8"/>
              </a:rPr>
              <a:t>github.com/snakers4/silero-vad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5532120" y="1627632"/>
            <a:ext cx="3977639" cy="2240280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0" name="Oval 17419"/>
          <p:cNvSpPr/>
          <p:nvPr/>
        </p:nvSpPr>
        <p:spPr>
          <a:xfrm>
            <a:off x="5632704" y="1728216"/>
            <a:ext cx="402336" cy="40233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1" name="Picture 17420" descr="database-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21217" y="1816729"/>
            <a:ext cx="225308" cy="225308"/>
          </a:xfrm>
          <a:prstGeom prst="rect">
            <a:avLst/>
          </a:prstGeom>
        </p:spPr>
      </p:pic>
      <p:sp>
        <p:nvSpPr>
          <p:cNvPr id="17422" name="TextBox 17421"/>
          <p:cNvSpPr txBox="1"/>
          <p:nvPr/>
        </p:nvSpPr>
        <p:spPr>
          <a:xfrm>
            <a:off x="6135624" y="1792224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Arial"/>
              </a:rPr>
              <a:t>Runtime and evaluation data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5760720" y="2231136"/>
            <a:ext cx="3611879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2433"/>
                </a:solidFill>
                <a:latin typeface="Arial"/>
              </a:rPr>
              <a:t>sherpa-onnx on-device ASR/TTS runtime · Apache-2.0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0F766E"/>
                </a:solidFill>
                <a:latin typeface="Arial"/>
                <a:hlinkClick r:id="rId10"/>
              </a:rPr>
              <a:t>github.com/k2-fsa/sherpa-onnx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5760720" y="2633472"/>
            <a:ext cx="3611879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2433"/>
                </a:solidFill>
                <a:latin typeface="Arial"/>
              </a:rPr>
              <a:t>Google FLEURS speech clips (STT evaluation)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0F766E"/>
                </a:solidFill>
                <a:latin typeface="Arial"/>
                <a:hlinkClick r:id="rId11"/>
              </a:rPr>
              <a:t>huggingface.co/datasets/google/fleurs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411480" y="3986784"/>
            <a:ext cx="4983480" cy="1920240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6" name="Oval 17425"/>
          <p:cNvSpPr/>
          <p:nvPr/>
        </p:nvSpPr>
        <p:spPr>
          <a:xfrm>
            <a:off x="512064" y="4087368"/>
            <a:ext cx="402336" cy="402336"/>
          </a:xfrm>
          <a:prstGeom prst="ellipse">
            <a:avLst/>
          </a:prstGeom>
          <a:solidFill>
            <a:srgbClr val="1B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7" name="Picture 17426" descr="android-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0577" y="4175881"/>
            <a:ext cx="225308" cy="225308"/>
          </a:xfrm>
          <a:prstGeom prst="rect">
            <a:avLst/>
          </a:prstGeom>
        </p:spPr>
      </p:pic>
      <p:sp>
        <p:nvSpPr>
          <p:cNvPr id="17428" name="TextBox 17427"/>
          <p:cNvSpPr txBox="1"/>
          <p:nvPr/>
        </p:nvSpPr>
        <p:spPr>
          <a:xfrm>
            <a:off x="1014984" y="4151376"/>
            <a:ext cx="42519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B2433"/>
                </a:solidFill>
                <a:latin typeface="Arial"/>
              </a:rPr>
              <a:t>Android platform guides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640080" y="4590288"/>
            <a:ext cx="46177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2433"/>
                </a:solidFill>
                <a:latin typeface="Arial"/>
              </a:rPr>
              <a:t>Wi-Fi Direct (Wi-Fi P2P)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0F766E"/>
                </a:solidFill>
                <a:latin typeface="Arial"/>
                <a:hlinkClick r:id="rId13"/>
              </a:rPr>
              <a:t>developer.android.com/develop/connectivity/wifi/wifi-direct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640080" y="4992624"/>
            <a:ext cx="46177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2433"/>
                </a:solidFill>
                <a:latin typeface="Arial"/>
              </a:rPr>
              <a:t>Bluetooth and BLE GATT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0F766E"/>
                </a:solidFill>
                <a:latin typeface="Arial"/>
                <a:hlinkClick r:id="rId14"/>
              </a:rPr>
              <a:t>developer.android.com/develop/connectivity/bluetooth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640080" y="5394960"/>
            <a:ext cx="46177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2433"/>
                </a:solidFill>
                <a:latin typeface="Arial"/>
              </a:rPr>
              <a:t>Audio focus (ALERT playback)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0F766E"/>
                </a:solidFill>
                <a:latin typeface="Arial"/>
                <a:hlinkClick r:id="rId15"/>
              </a:rPr>
              <a:t>developer.android.com/media/optimize/audio-focus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5532120" y="3986784"/>
            <a:ext cx="3977639" cy="1920240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3" name="Oval 17432"/>
          <p:cNvSpPr/>
          <p:nvPr/>
        </p:nvSpPr>
        <p:spPr>
          <a:xfrm>
            <a:off x="5632704" y="4087368"/>
            <a:ext cx="402336" cy="402336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4" name="Picture 17433" descr="github-whit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21217" y="4175881"/>
            <a:ext cx="225308" cy="225308"/>
          </a:xfrm>
          <a:prstGeom prst="rect">
            <a:avLst/>
          </a:prstGeom>
        </p:spPr>
      </p:pic>
      <p:sp>
        <p:nvSpPr>
          <p:cNvPr id="17435" name="TextBox 17434"/>
          <p:cNvSpPr txBox="1"/>
          <p:nvPr/>
        </p:nvSpPr>
        <p:spPr>
          <a:xfrm>
            <a:off x="6135624" y="4151376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5803D"/>
                </a:solidFill>
                <a:latin typeface="Arial"/>
              </a:rPr>
              <a:t>Our work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5760720" y="4590288"/>
            <a:ext cx="3611879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2433"/>
                </a:solidFill>
                <a:latin typeface="Arial"/>
              </a:rPr>
              <a:t>Prototype code and measurements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0F766E"/>
                </a:solidFill>
                <a:latin typeface="Arial"/>
                <a:hlinkClick r:id="rId17"/>
              </a:rPr>
              <a:t>github.com/prasadxa/itantra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5760720" y="4992624"/>
            <a:ext cx="3611879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2433"/>
                </a:solidFill>
                <a:latin typeface="Arial"/>
              </a:rPr>
              <a:t>Project website: overview, results, APK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0F766E"/>
                </a:solidFill>
                <a:latin typeface="Arial"/>
                <a:hlinkClick r:id="rId18"/>
              </a:rPr>
              <a:t>itantra-106.pages.dev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5760720" y="5394960"/>
            <a:ext cx="3611879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2433"/>
                </a:solidFill>
                <a:latin typeface="Arial"/>
              </a:rPr>
              <a:t>Demo film, 1 min 55 s, captioned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0F766E"/>
                </a:solidFill>
                <a:latin typeface="Arial"/>
                <a:hlinkClick r:id="rId19"/>
              </a:rPr>
              <a:t>itantra-106.pages.dev/demo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9646920" y="1627632"/>
            <a:ext cx="2130552" cy="20299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0" name="Picture 17439" descr="qr-sit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122408" y="1764792"/>
            <a:ext cx="1188720" cy="1188720"/>
          </a:xfrm>
          <a:prstGeom prst="rect">
            <a:avLst/>
          </a:prstGeom>
        </p:spPr>
      </p:pic>
      <p:sp>
        <p:nvSpPr>
          <p:cNvPr id="17441" name="TextBox 17440"/>
          <p:cNvSpPr txBox="1"/>
          <p:nvPr/>
        </p:nvSpPr>
        <p:spPr>
          <a:xfrm>
            <a:off x="9692640" y="2999232"/>
            <a:ext cx="2039112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B2433"/>
                </a:solidFill>
                <a:latin typeface="Arial"/>
              </a:rPr>
              <a:t>Website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B6472"/>
                </a:solidFill>
                <a:latin typeface="Arial"/>
              </a:rPr>
              <a:t>overview · results · APK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9646920" y="3776472"/>
            <a:ext cx="2130552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3" name="Picture 17442" descr="qr-demo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122408" y="3913632"/>
            <a:ext cx="1188720" cy="1188720"/>
          </a:xfrm>
          <a:prstGeom prst="rect">
            <a:avLst/>
          </a:prstGeom>
        </p:spPr>
      </p:pic>
      <p:sp>
        <p:nvSpPr>
          <p:cNvPr id="17444" name="TextBox 17443"/>
          <p:cNvSpPr txBox="1"/>
          <p:nvPr/>
        </p:nvSpPr>
        <p:spPr>
          <a:xfrm>
            <a:off x="9692640" y="5148072"/>
            <a:ext cx="2039112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B2433"/>
                </a:solidFill>
                <a:latin typeface="Arial"/>
              </a:rPr>
              <a:t>Demo film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B6472"/>
                </a:solidFill>
                <a:latin typeface="Arial"/>
              </a:rPr>
              <a:t>1 min 55 s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411480" y="5989320"/>
            <a:ext cx="113385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5B6472"/>
                </a:solidFill>
                <a:latin typeface="Arial"/>
              </a:rPr>
              <a:t>Licences as stated on each model card. No cloud API is used for speech recognition or speech synthesis.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