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bps</c:v>
                </c:pt>
              </c:strCache>
            </c:strRef>
          </c:tx>
          <c:dPt>
            <c:idx val="0"/>
            <c:spPr>
              <a:solidFill>
                <a:srgbClr val="9AA3AF"/>
              </a:solidFill>
            </c:spPr>
          </c:dPt>
          <c:dPt>
            <c:idx val="1"/>
            <c:spPr>
              <a:solidFill>
                <a:srgbClr val="9AA3AF"/>
              </a:solidFill>
            </c:spPr>
          </c:dPt>
          <c:dPt>
            <c:idx val="2"/>
            <c:spPr>
              <a:solidFill>
                <a:srgbClr val="EA580C"/>
              </a:solidFill>
            </c:spPr>
          </c:dPt>
          <c:cat>
            <c:strRef>
              <c:f>Sheet1!$A$2:$A$4</c:f>
              <c:strCache>
                <c:ptCount val="3"/>
                <c:pt idx="0">
                  <c:v>Raw audio</c:v>
                </c:pt>
                <c:pt idx="1">
                  <c:v>Opus voice</c:v>
                </c:pt>
                <c:pt idx="2">
                  <c:v>iTantra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256000</c:v>
                </c:pt>
                <c:pt idx="1">
                  <c:v>12000</c:v>
                </c:pt>
                <c:pt idx="2">
                  <c:v>165</c:v>
                </c:pt>
              </c:numCache>
            </c:numRef>
          </c:val>
        </c:ser>
        <c:dLbls>
          <c:numFmt formatCode="[&gt;=1000]0,&quot;k&quot;;0" sourceLinked="0"/>
          <c:txPr>
            <a:bodyPr/>
            <a:lstStyle/>
            <a:p>
              <a:pPr>
                <a:defRPr sz="900" b="1">
                  <a:solidFill>
                    <a:srgbClr val="1B24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1B243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max val="100000000.0"/>
          <c:min val="1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itantra-106.pages.dev/" TargetMode="External"/><Relationship Id="rId5" Type="http://schemas.openxmlformats.org/officeDocument/2006/relationships/image" Target="../media/image3.png"/><Relationship Id="rId6" Type="http://schemas.openxmlformats.org/officeDocument/2006/relationships/hyperlink" Target="https://itantra-106.pages.dev/demo/" TargetMode="External"/><Relationship Id="rId7" Type="http://schemas.openxmlformats.org/officeDocument/2006/relationships/image" Target="../media/image4.png"/><Relationship Id="rId8" Type="http://schemas.openxmlformats.org/officeDocument/2006/relationships/hyperlink" Target="https://github.com/prasadxa/itantra" TargetMode="External"/><Relationship Id="rId9" Type="http://schemas.openxmlformats.org/officeDocument/2006/relationships/image" Target="../media/image5.png"/><Relationship Id="rId10" Type="http://schemas.openxmlformats.org/officeDocument/2006/relationships/hyperlink" Target="https://pub-d139da76dbb3434bbcb332e210a95fcf.r2.dev/apk/iTantra-0.1.0-debug.apk" TargetMode="External"/><Relationship Id="rId11" Type="http://schemas.openxmlformats.org/officeDocument/2006/relationships/image" Target="../media/image6.png"/><Relationship Id="rId12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chart" Target="../charts/chart1.xml"/><Relationship Id="rId14" Type="http://schemas.openxmlformats.org/officeDocument/2006/relationships/image" Target="../media/image17.png"/><Relationship Id="rId15" Type="http://schemas.openxmlformats.org/officeDocument/2006/relationships/image" Target="../media/image18.png"/><Relationship Id="rId16" Type="http://schemas.openxmlformats.org/officeDocument/2006/relationships/image" Target="../media/image19.png"/><Relationship Id="rId17" Type="http://schemas.openxmlformats.org/officeDocument/2006/relationships/image" Target="../media/image20.png"/><Relationship Id="rId18" Type="http://schemas.openxmlformats.org/officeDocument/2006/relationships/image" Target="../media/image21.jpg"/><Relationship Id="rId19" Type="http://schemas.openxmlformats.org/officeDocument/2006/relationships/hyperlink" Target="https://itantra-106.pages.dev/demo/" TargetMode="External"/><Relationship Id="rId20" Type="http://schemas.openxmlformats.org/officeDocument/2006/relationships/image" Target="../media/image22.jpg"/><Relationship Id="rId21" Type="http://schemas.openxmlformats.org/officeDocument/2006/relationships/image" Target="../media/image23.png"/><Relationship Id="rId22" Type="http://schemas.openxmlformats.org/officeDocument/2006/relationships/hyperlink" Target="https://itantra-106.pages.dev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1.png"/><Relationship Id="rId9" Type="http://schemas.openxmlformats.org/officeDocument/2006/relationships/image" Target="../media/image26.png"/><Relationship Id="rId10" Type="http://schemas.openxmlformats.org/officeDocument/2006/relationships/image" Target="../media/image27.png"/><Relationship Id="rId11" Type="http://schemas.openxmlformats.org/officeDocument/2006/relationships/image" Target="../media/image28.png"/><Relationship Id="rId12" Type="http://schemas.openxmlformats.org/officeDocument/2006/relationships/image" Target="../media/image16.png"/><Relationship Id="rId13" Type="http://schemas.openxmlformats.org/officeDocument/2006/relationships/image" Target="../media/image29.png"/><Relationship Id="rId14" Type="http://schemas.openxmlformats.org/officeDocument/2006/relationships/image" Target="../media/image30.png"/><Relationship Id="rId15" Type="http://schemas.openxmlformats.org/officeDocument/2006/relationships/image" Target="../media/image31.png"/><Relationship Id="rId16" Type="http://schemas.openxmlformats.org/officeDocument/2006/relationships/image" Target="../media/image32.png"/><Relationship Id="rId17" Type="http://schemas.openxmlformats.org/officeDocument/2006/relationships/image" Target="../media/image33.png"/><Relationship Id="rId18" Type="http://schemas.openxmlformats.org/officeDocument/2006/relationships/image" Target="../media/image34.png"/><Relationship Id="rId19" Type="http://schemas.openxmlformats.org/officeDocument/2006/relationships/image" Target="../media/image35.png"/><Relationship Id="rId20" Type="http://schemas.openxmlformats.org/officeDocument/2006/relationships/image" Target="../media/image36.png"/><Relationship Id="rId21" Type="http://schemas.openxmlformats.org/officeDocument/2006/relationships/image" Target="../media/image37.png"/><Relationship Id="rId22" Type="http://schemas.openxmlformats.org/officeDocument/2006/relationships/image" Target="../media/image38.png"/><Relationship Id="rId23" Type="http://schemas.openxmlformats.org/officeDocument/2006/relationships/image" Target="../media/image39.png"/><Relationship Id="rId24" Type="http://schemas.openxmlformats.org/officeDocument/2006/relationships/image" Target="../media/image40.jpg"/><Relationship Id="rId25" Type="http://schemas.openxmlformats.org/officeDocument/2006/relationships/hyperlink" Target="https://itantra-106.pages.dev/" TargetMode="External"/><Relationship Id="rId26" Type="http://schemas.openxmlformats.org/officeDocument/2006/relationships/image" Target="../media/image41.jpg"/><Relationship Id="rId27" Type="http://schemas.openxmlformats.org/officeDocument/2006/relationships/image" Target="../media/image42.jpg"/><Relationship Id="rId28" Type="http://schemas.openxmlformats.org/officeDocument/2006/relationships/image" Target="../media/image43.jpg"/><Relationship Id="rId29" Type="http://schemas.openxmlformats.org/officeDocument/2006/relationships/hyperlink" Target="https://itantra-106.pages.dev/#try" TargetMode="External"/><Relationship Id="rId30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19.png"/><Relationship Id="rId9" Type="http://schemas.openxmlformats.org/officeDocument/2006/relationships/image" Target="../media/image48.png"/><Relationship Id="rId10" Type="http://schemas.openxmlformats.org/officeDocument/2006/relationships/image" Target="../media/image49.png"/><Relationship Id="rId11" Type="http://schemas.openxmlformats.org/officeDocument/2006/relationships/image" Target="../media/image50.png"/><Relationship Id="rId12" Type="http://schemas.openxmlformats.org/officeDocument/2006/relationships/image" Target="../media/image29.png"/><Relationship Id="rId13" Type="http://schemas.openxmlformats.org/officeDocument/2006/relationships/image" Target="../media/image51.png"/><Relationship Id="rId14" Type="http://schemas.openxmlformats.org/officeDocument/2006/relationships/image" Target="../media/image52.png"/><Relationship Id="rId15" Type="http://schemas.openxmlformats.org/officeDocument/2006/relationships/image" Target="../media/image27.png"/><Relationship Id="rId16" Type="http://schemas.openxmlformats.org/officeDocument/2006/relationships/image" Target="../media/image53.png"/><Relationship Id="rId17" Type="http://schemas.openxmlformats.org/officeDocument/2006/relationships/hyperlink" Target="https://pub-d139da76dbb3434bbcb332e210a95fcf.r2.dev/models/v1/manifest.json" TargetMode="External"/><Relationship Id="rId18" Type="http://schemas.openxmlformats.org/officeDocument/2006/relationships/image" Target="../media/image28.png"/><Relationship Id="rId19" Type="http://schemas.openxmlformats.org/officeDocument/2006/relationships/image" Target="../media/image5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5.jpg"/><Relationship Id="rId5" Type="http://schemas.openxmlformats.org/officeDocument/2006/relationships/hyperlink" Target="https://commons.wikimedia.org/wiki/File:The_NDRF_teams_carrying_out_rescue_and_relief_operations_in_flood-affected_areas_of_Kerala_on_August_11,_2018.JPG" TargetMode="External"/><Relationship Id="rId6" Type="http://schemas.openxmlformats.org/officeDocument/2006/relationships/image" Target="../media/image56.png"/><Relationship Id="rId7" Type="http://schemas.openxmlformats.org/officeDocument/2006/relationships/image" Target="../media/image57.jpg"/><Relationship Id="rId8" Type="http://schemas.openxmlformats.org/officeDocument/2006/relationships/hyperlink" Target="https://commons.wikimedia.org/wiki/File:Fishermen_in_sea.jpg" TargetMode="External"/><Relationship Id="rId9" Type="http://schemas.openxmlformats.org/officeDocument/2006/relationships/image" Target="../media/image58.png"/><Relationship Id="rId10" Type="http://schemas.openxmlformats.org/officeDocument/2006/relationships/image" Target="../media/image59.jpg"/><Relationship Id="rId11" Type="http://schemas.openxmlformats.org/officeDocument/2006/relationships/hyperlink" Target="https://commons.wikimedia.org/wiki/File:Tamil_rural_woman_with_a_mobile_phone_facility.jpg" TargetMode="External"/><Relationship Id="rId12" Type="http://schemas.openxmlformats.org/officeDocument/2006/relationships/image" Target="../media/image29.png"/><Relationship Id="rId13" Type="http://schemas.openxmlformats.org/officeDocument/2006/relationships/image" Target="../media/image60.jpg"/><Relationship Id="rId14" Type="http://schemas.openxmlformats.org/officeDocument/2006/relationships/hyperlink" Target="https://commons.wikimedia.org/wiki/File:Rail_workers_-_Bina_Etawa_Junction_Station_-_India_(4609971779).jpg" TargetMode="External"/><Relationship Id="rId15" Type="http://schemas.openxmlformats.org/officeDocument/2006/relationships/image" Target="../media/image61.png"/><Relationship Id="rId16" Type="http://schemas.openxmlformats.org/officeDocument/2006/relationships/image" Target="../media/image62.png"/><Relationship Id="rId17" Type="http://schemas.openxmlformats.org/officeDocument/2006/relationships/image" Target="../media/image51.png"/><Relationship Id="rId18" Type="http://schemas.openxmlformats.org/officeDocument/2006/relationships/image" Target="../media/image63.png"/><Relationship Id="rId19" Type="http://schemas.openxmlformats.org/officeDocument/2006/relationships/hyperlink" Target="https://sachet.ndma.gov.in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64.png"/><Relationship Id="rId5" Type="http://schemas.openxmlformats.org/officeDocument/2006/relationships/hyperlink" Target="https://huggingface.co/ARTPARK-IISc/SraVaani-1.0" TargetMode="External"/><Relationship Id="rId6" Type="http://schemas.openxmlformats.org/officeDocument/2006/relationships/hyperlink" Target="https://huggingface.co/SPRINGLab/Indic-Mio" TargetMode="External"/><Relationship Id="rId7" Type="http://schemas.openxmlformats.org/officeDocument/2006/relationships/hyperlink" Target="https://huggingface.co/ai4bharat/vits_rasa_13" TargetMode="External"/><Relationship Id="rId8" Type="http://schemas.openxmlformats.org/officeDocument/2006/relationships/hyperlink" Target="https://github.com/snakers4/silero-vad" TargetMode="External"/><Relationship Id="rId9" Type="http://schemas.openxmlformats.org/officeDocument/2006/relationships/hyperlink" Target="https://github.com/AI4Bharat/IndicTrans2" TargetMode="External"/><Relationship Id="rId10" Type="http://schemas.openxmlformats.org/officeDocument/2006/relationships/image" Target="../media/image65.png"/><Relationship Id="rId11" Type="http://schemas.openxmlformats.org/officeDocument/2006/relationships/hyperlink" Target="https://github.com/k2-fsa/sherpa-onnx" TargetMode="External"/><Relationship Id="rId12" Type="http://schemas.openxmlformats.org/officeDocument/2006/relationships/hyperlink" Target="https://github.com/ggml-org/llama.cpp" TargetMode="External"/><Relationship Id="rId13" Type="http://schemas.openxmlformats.org/officeDocument/2006/relationships/hyperlink" Target="https://github.com/mmnga/mio-tts-cpp" TargetMode="External"/><Relationship Id="rId14" Type="http://schemas.openxmlformats.org/officeDocument/2006/relationships/hyperlink" Target="https://www.bouncycastle.org" TargetMode="External"/><Relationship Id="rId15" Type="http://schemas.openxmlformats.org/officeDocument/2006/relationships/hyperlink" Target="https://github.com/jgromes/RadioLib" TargetMode="External"/><Relationship Id="rId16" Type="http://schemas.openxmlformats.org/officeDocument/2006/relationships/image" Target="../media/image66.png"/><Relationship Id="rId17" Type="http://schemas.openxmlformats.org/officeDocument/2006/relationships/hyperlink" Target="https://docs.oasis-open.org/emergency/cap/v1.2/CAP-v1.2.html" TargetMode="External"/><Relationship Id="rId18" Type="http://schemas.openxmlformats.org/officeDocument/2006/relationships/hyperlink" Target="https://sachet.ndma.gov.in" TargetMode="External"/><Relationship Id="rId19" Type="http://schemas.openxmlformats.org/officeDocument/2006/relationships/hyperlink" Target="https://huggingface.co/datasets/google/fleurs" TargetMode="External"/><Relationship Id="rId20" Type="http://schemas.openxmlformats.org/officeDocument/2006/relationships/hyperlink" Target="https://github.com/drowe67/codec2" TargetMode="External"/><Relationship Id="rId21" Type="http://schemas.openxmlformats.org/officeDocument/2006/relationships/hyperlink" Target="https://meshtastic.org" TargetMode="External"/><Relationship Id="rId22" Type="http://schemas.openxmlformats.org/officeDocument/2006/relationships/image" Target="../media/image24.png"/><Relationship Id="rId23" Type="http://schemas.openxmlformats.org/officeDocument/2006/relationships/hyperlink" Target="https://developer.android.com/develop/connectivity/wifi/wifi-direct" TargetMode="External"/><Relationship Id="rId24" Type="http://schemas.openxmlformats.org/officeDocument/2006/relationships/hyperlink" Target="https://developer.android.com/develop/connectivity/bluetooth" TargetMode="External"/><Relationship Id="rId25" Type="http://schemas.openxmlformats.org/officeDocument/2006/relationships/hyperlink" Target="https://developer.android.com/media/optimize/audio-focus" TargetMode="External"/><Relationship Id="rId26" Type="http://schemas.openxmlformats.org/officeDocument/2006/relationships/image" Target="../media/image67.png"/><Relationship Id="rId27" Type="http://schemas.openxmlformats.org/officeDocument/2006/relationships/hyperlink" Target="https://github.com/prasadxa/itantra" TargetMode="External"/><Relationship Id="rId28" Type="http://schemas.openxmlformats.org/officeDocument/2006/relationships/hyperlink" Target="https://github.com/prasadxa/itantra/tree/main/tools/lowram" TargetMode="External"/><Relationship Id="rId29" Type="http://schemas.openxmlformats.org/officeDocument/2006/relationships/hyperlink" Target="https://pub-d139da76dbb3434bbcb332e210a95fcf.r2.dev/models/v1/manifest.json" TargetMode="External"/><Relationship Id="rId30" Type="http://schemas.openxmlformats.org/officeDocument/2006/relationships/hyperlink" Target="https://itantra-106.pages.dev" TargetMode="External"/><Relationship Id="rId31" Type="http://schemas.openxmlformats.org/officeDocument/2006/relationships/hyperlink" Target="https://itantra-106.pages.dev/demo" TargetMode="External"/><Relationship Id="rId32" Type="http://schemas.openxmlformats.org/officeDocument/2006/relationships/hyperlink" Target="https://itantra-106.pages.dev/#try" TargetMode="External"/><Relationship Id="rId33" Type="http://schemas.openxmlformats.org/officeDocument/2006/relationships/hyperlink" Target="https://itantra-106.pages.dev/" TargetMode="External"/><Relationship Id="rId34" Type="http://schemas.openxmlformats.org/officeDocument/2006/relationships/image" Target="../media/image68.png"/><Relationship Id="rId35" Type="http://schemas.openxmlformats.org/officeDocument/2006/relationships/hyperlink" Target="https://itantra-106.pages.dev/demo/" TargetMode="External"/><Relationship Id="rId36" Type="http://schemas.openxmlformats.org/officeDocument/2006/relationships/image" Target="../media/image69.png"/><Relationship Id="rId37" Type="http://schemas.openxmlformats.org/officeDocument/2006/relationships/image" Target="../media/image70.png"/><Relationship Id="rId38" Type="http://schemas.openxmlformats.org/officeDocument/2006/relationships/hyperlink" Target="https://pub-d139da76dbb3434bbcb332e210a95fcf.r2.dev/apk/iTantra-0.1.0-debug.apk" TargetMode="External"/><Relationship Id="rId39" Type="http://schemas.openxmlformats.org/officeDocument/2006/relationships/image" Target="../media/image7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b="0" sz="1700">
                <a:solidFill>
                  <a:srgbClr val="EA580C"/>
                </a:solidFill>
                <a:latin typeface="Arial"/>
              </a:rPr>
              <a:t> SIH26173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b="0" sz="1300">
                <a:solidFill>
                  <a:srgbClr val="1B2433"/>
                </a:solidFill>
                <a:latin typeface="Arial"/>
              </a:rPr>
              <a:t> iTantra – Indian Multilingual TTS &amp; STT Aided Neural Transceiver Radio Access for low bitrate links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b="0" sz="1700">
                <a:solidFill>
                  <a:srgbClr val="EA580C"/>
                </a:solidFill>
                <a:latin typeface="Arial"/>
              </a:rPr>
              <a:t> Smart Automation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PS Category-</a:t>
            </a:r>
            <a:r>
              <a:rPr b="0" sz="1700">
                <a:solidFill>
                  <a:srgbClr val="EA580C"/>
                </a:solidFill>
                <a:latin typeface="Arial"/>
              </a:rPr>
              <a:t> Software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  <a:r>
              <a:rPr b="0" sz="1700">
                <a:solidFill>
                  <a:srgbClr val="EA580C"/>
                </a:solidFill>
                <a:latin typeface="Arial"/>
              </a:rPr>
              <a:t> 188881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r>
              <a:rPr b="0" sz="1700">
                <a:solidFill>
                  <a:srgbClr val="EA580C"/>
                </a:solidFill>
                <a:latin typeface="Arial"/>
              </a:rPr>
              <a:t> Team Turtle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>
            <a:hlinkClick r:id="rId4"/>
          </p:cNvPr>
          <p:cNvSpPr/>
          <p:nvPr/>
        </p:nvSpPr>
        <p:spPr>
          <a:xfrm>
            <a:off x="566928" y="523036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globe-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5285231"/>
            <a:ext cx="219456" cy="219456"/>
          </a:xfrm>
          <a:prstGeom prst="rect">
            <a:avLst/>
          </a:prstGeom>
        </p:spPr>
      </p:pic>
      <p:sp>
        <p:nvSpPr>
          <p:cNvPr id="40" name="TextBox 39">
            <a:hlinkClick r:id="rId4"/>
          </p:cNvPr>
          <p:cNvSpPr txBox="1"/>
          <p:nvPr/>
        </p:nvSpPr>
        <p:spPr>
          <a:xfrm>
            <a:off x="950976" y="5230368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0F766E"/>
                </a:solidFill>
                <a:latin typeface="Arial"/>
              </a:rPr>
              <a:t>Website</a:t>
            </a:r>
          </a:p>
        </p:txBody>
      </p:sp>
      <p:sp>
        <p:nvSpPr>
          <p:cNvPr id="41" name="Rounded Rectangle 40">
            <a:hlinkClick r:id="rId6"/>
          </p:cNvPr>
          <p:cNvSpPr/>
          <p:nvPr/>
        </p:nvSpPr>
        <p:spPr>
          <a:xfrm>
            <a:off x="1911096" y="5230368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film-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20824" y="5285231"/>
            <a:ext cx="219456" cy="219456"/>
          </a:xfrm>
          <a:prstGeom prst="rect">
            <a:avLst/>
          </a:prstGeom>
        </p:spPr>
      </p:pic>
      <p:sp>
        <p:nvSpPr>
          <p:cNvPr id="43" name="TextBox 42">
            <a:hlinkClick r:id="rId6"/>
          </p:cNvPr>
          <p:cNvSpPr txBox="1"/>
          <p:nvPr/>
        </p:nvSpPr>
        <p:spPr>
          <a:xfrm>
            <a:off x="2295144" y="5230368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0F766E"/>
                </a:solidFill>
                <a:latin typeface="Arial"/>
              </a:rPr>
              <a:t>Demo film</a:t>
            </a:r>
          </a:p>
        </p:txBody>
      </p:sp>
      <p:sp>
        <p:nvSpPr>
          <p:cNvPr id="44" name="Rounded Rectangle 43">
            <a:hlinkClick r:id="rId8"/>
          </p:cNvPr>
          <p:cNvSpPr/>
          <p:nvPr/>
        </p:nvSpPr>
        <p:spPr>
          <a:xfrm>
            <a:off x="3392424" y="523036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5" name="Picture 44" descr="github-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02152" y="5285231"/>
            <a:ext cx="219456" cy="219456"/>
          </a:xfrm>
          <a:prstGeom prst="rect">
            <a:avLst/>
          </a:prstGeom>
        </p:spPr>
      </p:pic>
      <p:sp>
        <p:nvSpPr>
          <p:cNvPr id="46" name="TextBox 45">
            <a:hlinkClick r:id="rId8"/>
          </p:cNvPr>
          <p:cNvSpPr txBox="1"/>
          <p:nvPr/>
        </p:nvSpPr>
        <p:spPr>
          <a:xfrm>
            <a:off x="3776472" y="5230368"/>
            <a:ext cx="50292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0F766E"/>
                </a:solidFill>
                <a:latin typeface="Arial"/>
              </a:rPr>
              <a:t>Code</a:t>
            </a:r>
          </a:p>
        </p:txBody>
      </p:sp>
      <p:sp>
        <p:nvSpPr>
          <p:cNvPr id="47" name="Rounded Rectangle 46">
            <a:hlinkClick r:id="rId10"/>
          </p:cNvPr>
          <p:cNvSpPr/>
          <p:nvPr/>
        </p:nvSpPr>
        <p:spPr>
          <a:xfrm>
            <a:off x="4462272" y="523036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download-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5285231"/>
            <a:ext cx="219456" cy="219456"/>
          </a:xfrm>
          <a:prstGeom prst="rect">
            <a:avLst/>
          </a:prstGeom>
        </p:spPr>
      </p:pic>
      <p:sp>
        <p:nvSpPr>
          <p:cNvPr id="49" name="TextBox 48">
            <a:hlinkClick r:id="rId10"/>
          </p:cNvPr>
          <p:cNvSpPr txBox="1"/>
          <p:nvPr/>
        </p:nvSpPr>
        <p:spPr>
          <a:xfrm>
            <a:off x="4846320" y="5230368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0F766E"/>
                </a:solidFill>
                <a:latin typeface="Arial"/>
              </a:rPr>
              <a:t>APK</a:t>
            </a:r>
          </a:p>
        </p:txBody>
      </p:sp>
      <p:pic>
        <p:nvPicPr>
          <p:cNvPr id="50" name="Picture 49" descr="logo.png">
            <a:hlinkClick r:id="rId4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67728" y="6089904"/>
            <a:ext cx="512064" cy="512064"/>
          </a:xfrm>
          <a:prstGeom prst="roundRect">
            <a:avLst>
              <a:gd name="adj" fmla="val 20000"/>
            </a:avLst>
          </a:prstGeom>
        </p:spPr>
      </p:pic>
      <p:sp>
        <p:nvSpPr>
          <p:cNvPr id="51" name="TextBox 50"/>
          <p:cNvSpPr txBox="1"/>
          <p:nvPr/>
        </p:nvSpPr>
        <p:spPr>
          <a:xfrm>
            <a:off x="7589520" y="6071616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433"/>
                </a:solidFill>
                <a:latin typeface="Arial"/>
              </a:rPr>
              <a:t>iTantra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472"/>
                </a:solidFill>
                <a:latin typeface="Arial"/>
              </a:rPr>
              <a:t>Speak. Send text. Hear it back — offline.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iTantra: Speak. Send Text. Hear It Back — Offline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11480" y="11887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B2433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11480" y="1463040"/>
            <a:ext cx="777240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EA580C"/>
                </a:solidFill>
                <a:latin typeface="Arial"/>
              </a:rPr>
              <a:t>Problem: </a:t>
            </a:r>
            <a:r>
              <a:rPr sz="1050" b="0" i="0">
                <a:solidFill>
                  <a:srgbClr val="1B2433"/>
                </a:solidFill>
                <a:latin typeface="Arial"/>
              </a:rPr>
              <a:t>when towers fail after a flood or cyclone, only thin links remain — Bluetooth, a crowded hotspot or LoRa radio at ~250 bps. Voice needs 256 kbps raw, ~12 kbps with a good codec.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11480" y="1856231"/>
            <a:ext cx="777240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0F766E"/>
                </a:solidFill>
                <a:latin typeface="Arial"/>
              </a:rPr>
              <a:t>Our idea: </a:t>
            </a:r>
            <a:r>
              <a:rPr sz="1050" b="0" i="0">
                <a:solidFill>
                  <a:srgbClr val="1B2433"/>
                </a:solidFill>
                <a:latin typeface="Arial"/>
              </a:rPr>
              <a:t>send the meaning, not the sound. Speech becomes text on the phone, only the text travels, and it is spoken again on arrival. </a:t>
            </a:r>
            <a:r>
              <a:rPr sz="1050" b="1" i="0">
                <a:solidFill>
                  <a:srgbClr val="EA580C"/>
                </a:solidFill>
                <a:latin typeface="Arial"/>
              </a:rPr>
              <a:t>No tower, no internet, no cloud.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411480" y="2304288"/>
            <a:ext cx="7772400" cy="987552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6" name="Oval 15365"/>
          <p:cNvSpPr/>
          <p:nvPr/>
        </p:nvSpPr>
        <p:spPr>
          <a:xfrm>
            <a:off x="978408" y="2404872"/>
            <a:ext cx="420624" cy="420624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67" name="Picture 15366" descr="mic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945" y="2497409"/>
            <a:ext cx="235549" cy="235549"/>
          </a:xfrm>
          <a:prstGeom prst="rect">
            <a:avLst/>
          </a:prstGeom>
        </p:spPr>
      </p:pic>
      <p:sp>
        <p:nvSpPr>
          <p:cNvPr id="15368" name="TextBox 15367"/>
          <p:cNvSpPr txBox="1"/>
          <p:nvPr/>
        </p:nvSpPr>
        <p:spPr>
          <a:xfrm>
            <a:off x="411480" y="2852928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EA580C"/>
                </a:solidFill>
                <a:latin typeface="Arial"/>
              </a:rPr>
              <a:t>Speak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457200" y="3054096"/>
            <a:ext cx="146303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hold to talk; a pause ends it</a:t>
            </a:r>
          </a:p>
        </p:txBody>
      </p:sp>
      <p:cxnSp>
        <p:nvCxnSpPr>
          <p:cNvPr id="15370" name="Connector 15369"/>
          <p:cNvCxnSpPr/>
          <p:nvPr/>
        </p:nvCxnSpPr>
        <p:spPr>
          <a:xfrm>
            <a:off x="1490472" y="2615184"/>
            <a:ext cx="950976" cy="0"/>
          </a:xfrm>
          <a:prstGeom prst="line">
            <a:avLst/>
          </a:prstGeom>
          <a:ln w="19050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1" name="Oval 15370"/>
          <p:cNvSpPr/>
          <p:nvPr/>
        </p:nvSpPr>
        <p:spPr>
          <a:xfrm>
            <a:off x="2532888" y="2404872"/>
            <a:ext cx="420624" cy="420624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2" name="Picture 15371" descr="wav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5425" y="2497409"/>
            <a:ext cx="235549" cy="235549"/>
          </a:xfrm>
          <a:prstGeom prst="rect">
            <a:avLst/>
          </a:prstGeom>
        </p:spPr>
      </p:pic>
      <p:sp>
        <p:nvSpPr>
          <p:cNvPr id="15373" name="TextBox 15372"/>
          <p:cNvSpPr txBox="1"/>
          <p:nvPr/>
        </p:nvSpPr>
        <p:spPr>
          <a:xfrm>
            <a:off x="1965960" y="2852928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EA580C"/>
                </a:solidFill>
                <a:latin typeface="Arial"/>
              </a:rPr>
              <a:t>Speech → text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2011679" y="3054096"/>
            <a:ext cx="146303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on the phone, 10 languages</a:t>
            </a:r>
          </a:p>
        </p:txBody>
      </p:sp>
      <p:cxnSp>
        <p:nvCxnSpPr>
          <p:cNvPr id="15375" name="Connector 15374"/>
          <p:cNvCxnSpPr/>
          <p:nvPr/>
        </p:nvCxnSpPr>
        <p:spPr>
          <a:xfrm>
            <a:off x="3044952" y="2615184"/>
            <a:ext cx="950976" cy="0"/>
          </a:xfrm>
          <a:prstGeom prst="line">
            <a:avLst/>
          </a:prstGeom>
          <a:ln w="19050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6" name="Oval 15375"/>
          <p:cNvSpPr/>
          <p:nvPr/>
        </p:nvSpPr>
        <p:spPr>
          <a:xfrm>
            <a:off x="4087368" y="2404872"/>
            <a:ext cx="420624" cy="420624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7" name="Picture 15376" descr="bytes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9905" y="2497409"/>
            <a:ext cx="235549" cy="235549"/>
          </a:xfrm>
          <a:prstGeom prst="rect">
            <a:avLst/>
          </a:prstGeom>
        </p:spPr>
      </p:pic>
      <p:sp>
        <p:nvSpPr>
          <p:cNvPr id="15378" name="TextBox 15377"/>
          <p:cNvSpPr txBox="1"/>
          <p:nvPr/>
        </p:nvSpPr>
        <p:spPr>
          <a:xfrm>
            <a:off x="3520440" y="2852928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EA580C"/>
                </a:solidFill>
                <a:latin typeface="Arial"/>
              </a:rPr>
              <a:t>Tiny frame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3566160" y="3054096"/>
            <a:ext cx="146303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≈62 bytes per sentence*</a:t>
            </a:r>
          </a:p>
        </p:txBody>
      </p:sp>
      <p:cxnSp>
        <p:nvCxnSpPr>
          <p:cNvPr id="15380" name="Connector 15379"/>
          <p:cNvCxnSpPr/>
          <p:nvPr/>
        </p:nvCxnSpPr>
        <p:spPr>
          <a:xfrm>
            <a:off x="4599432" y="2615184"/>
            <a:ext cx="950976" cy="0"/>
          </a:xfrm>
          <a:prstGeom prst="line">
            <a:avLst/>
          </a:prstGeom>
          <a:ln w="19050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1" name="Oval 15380"/>
          <p:cNvSpPr/>
          <p:nvPr/>
        </p:nvSpPr>
        <p:spPr>
          <a:xfrm>
            <a:off x="5641847" y="2404872"/>
            <a:ext cx="420624" cy="420624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2" name="Picture 15381" descr="wifi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4385" y="2497409"/>
            <a:ext cx="235549" cy="235549"/>
          </a:xfrm>
          <a:prstGeom prst="rect">
            <a:avLst/>
          </a:prstGeom>
        </p:spPr>
      </p:pic>
      <p:sp>
        <p:nvSpPr>
          <p:cNvPr id="15383" name="TextBox 15382"/>
          <p:cNvSpPr txBox="1"/>
          <p:nvPr/>
        </p:nvSpPr>
        <p:spPr>
          <a:xfrm>
            <a:off x="5074920" y="2852928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Any link</a:t>
            </a:r>
          </a:p>
        </p:txBody>
      </p:sp>
      <p:sp>
        <p:nvSpPr>
          <p:cNvPr id="15384" name="TextBox 15383"/>
          <p:cNvSpPr txBox="1"/>
          <p:nvPr/>
        </p:nvSpPr>
        <p:spPr>
          <a:xfrm>
            <a:off x="5120640" y="3054096"/>
            <a:ext cx="146303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Wi-Fi · Direct · BLE · LoRa</a:t>
            </a:r>
          </a:p>
        </p:txBody>
      </p:sp>
      <p:cxnSp>
        <p:nvCxnSpPr>
          <p:cNvPr id="15385" name="Connector 15384"/>
          <p:cNvCxnSpPr/>
          <p:nvPr/>
        </p:nvCxnSpPr>
        <p:spPr>
          <a:xfrm>
            <a:off x="6153912" y="2615184"/>
            <a:ext cx="950976" cy="0"/>
          </a:xfrm>
          <a:prstGeom prst="line">
            <a:avLst/>
          </a:prstGeom>
          <a:ln w="19050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6" name="Oval 15385"/>
          <p:cNvSpPr/>
          <p:nvPr/>
        </p:nvSpPr>
        <p:spPr>
          <a:xfrm>
            <a:off x="7196327" y="2404872"/>
            <a:ext cx="420624" cy="42062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7" name="Picture 15386" descr="speaker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88865" y="2497409"/>
            <a:ext cx="235549" cy="235549"/>
          </a:xfrm>
          <a:prstGeom prst="rect">
            <a:avLst/>
          </a:prstGeom>
        </p:spPr>
      </p:pic>
      <p:sp>
        <p:nvSpPr>
          <p:cNvPr id="15388" name="TextBox 15387"/>
          <p:cNvSpPr txBox="1"/>
          <p:nvPr/>
        </p:nvSpPr>
        <p:spPr>
          <a:xfrm>
            <a:off x="6629400" y="2852928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0F766E"/>
                </a:solidFill>
                <a:latin typeface="Arial"/>
              </a:rPr>
              <a:t>Text → speech</a:t>
            </a:r>
          </a:p>
        </p:txBody>
      </p:sp>
      <p:sp>
        <p:nvSpPr>
          <p:cNvPr id="15389" name="TextBox 15388"/>
          <p:cNvSpPr txBox="1"/>
          <p:nvPr/>
        </p:nvSpPr>
        <p:spPr>
          <a:xfrm>
            <a:off x="6675120" y="3054096"/>
            <a:ext cx="146303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ALERT at alarm volume</a:t>
            </a:r>
          </a:p>
        </p:txBody>
      </p:sp>
      <p:sp>
        <p:nvSpPr>
          <p:cNvPr id="15390" name="Rounded Rectangle 15389"/>
          <p:cNvSpPr/>
          <p:nvPr/>
        </p:nvSpPr>
        <p:spPr>
          <a:xfrm>
            <a:off x="411480" y="3401568"/>
            <a:ext cx="2529840" cy="26791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1" name="Rounded Rectangle 15390"/>
          <p:cNvSpPr/>
          <p:nvPr/>
        </p:nvSpPr>
        <p:spPr>
          <a:xfrm>
            <a:off x="3032760" y="3401568"/>
            <a:ext cx="2529840" cy="26791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2" name="Rounded Rectangle 15391"/>
          <p:cNvSpPr/>
          <p:nvPr/>
        </p:nvSpPr>
        <p:spPr>
          <a:xfrm>
            <a:off x="5654040" y="3401568"/>
            <a:ext cx="2529840" cy="26791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3" name="TextBox 15392"/>
          <p:cNvSpPr txBox="1"/>
          <p:nvPr/>
        </p:nvSpPr>
        <p:spPr>
          <a:xfrm>
            <a:off x="521207" y="3493008"/>
            <a:ext cx="2346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Detailed explanation of the proposed solution</a:t>
            </a:r>
          </a:p>
        </p:txBody>
      </p:sp>
      <p:pic>
        <p:nvPicPr>
          <p:cNvPr id="15394" name="Picture 15393" descr="langs-s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" y="3895344"/>
            <a:ext cx="237744" cy="237744"/>
          </a:xfrm>
          <a:prstGeom prst="rect">
            <a:avLst/>
          </a:prstGeom>
        </p:spPr>
      </p:pic>
      <p:sp>
        <p:nvSpPr>
          <p:cNvPr id="15395" name="TextBox 15394"/>
          <p:cNvSpPr txBox="1"/>
          <p:nvPr/>
        </p:nvSpPr>
        <p:spPr>
          <a:xfrm>
            <a:off x="841247" y="3877056"/>
            <a:ext cx="2026920" cy="5303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10 Indian languages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hi · bn · mr · te · ta · gu · kn · ml · or · en, speech in and out</a:t>
            </a:r>
          </a:p>
        </p:txBody>
      </p:sp>
      <p:pic>
        <p:nvPicPr>
          <p:cNvPr id="15396" name="Picture 15395" descr="siren-s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1208" y="4443983"/>
            <a:ext cx="237744" cy="237744"/>
          </a:xfrm>
          <a:prstGeom prst="rect">
            <a:avLst/>
          </a:prstGeom>
        </p:spPr>
      </p:pic>
      <p:sp>
        <p:nvSpPr>
          <p:cNvPr id="15397" name="TextBox 15396"/>
          <p:cNvSpPr txBox="1"/>
          <p:nvPr/>
        </p:nvSpPr>
        <p:spPr>
          <a:xfrm>
            <a:off x="841247" y="4425696"/>
            <a:ext cx="2026920" cy="5303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ALERT that cannot be missed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Alarm stream, full volume, vibration (16/16 in test)</a:t>
            </a:r>
          </a:p>
        </p:txBody>
      </p:sp>
      <p:pic>
        <p:nvPicPr>
          <p:cNvPr id="15398" name="Picture 15397" descr="pin-s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1208" y="4992624"/>
            <a:ext cx="237744" cy="237744"/>
          </a:xfrm>
          <a:prstGeom prst="rect">
            <a:avLst/>
          </a:prstGeom>
        </p:spPr>
      </p:pic>
      <p:sp>
        <p:nvSpPr>
          <p:cNvPr id="15399" name="TextBox 15398"/>
          <p:cNvSpPr txBox="1"/>
          <p:nvPr/>
        </p:nvSpPr>
        <p:spPr>
          <a:xfrm>
            <a:off x="841247" y="4974336"/>
            <a:ext cx="2026920" cy="5303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One-tap SOS with location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6 templates + GPS/NavIC, read aloud on arrival</a:t>
            </a:r>
          </a:p>
        </p:txBody>
      </p:sp>
      <p:pic>
        <p:nvPicPr>
          <p:cNvPr id="15400" name="Picture 15399" descr="mic-s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1208" y="5541264"/>
            <a:ext cx="237744" cy="237744"/>
          </a:xfrm>
          <a:prstGeom prst="rect">
            <a:avLst/>
          </a:prstGeom>
        </p:spPr>
      </p:pic>
      <p:sp>
        <p:nvSpPr>
          <p:cNvPr id="15401" name="TextBox 15400"/>
          <p:cNvSpPr txBox="1"/>
          <p:nvPr/>
        </p:nvSpPr>
        <p:spPr>
          <a:xfrm>
            <a:off x="841247" y="5522976"/>
            <a:ext cx="2026920" cy="5303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Talk, call or captions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Push-to-talk, hands-free call, live captions</a:t>
            </a:r>
          </a:p>
        </p:txBody>
      </p:sp>
      <p:sp>
        <p:nvSpPr>
          <p:cNvPr id="15402" name="TextBox 15401"/>
          <p:cNvSpPr txBox="1"/>
          <p:nvPr/>
        </p:nvSpPr>
        <p:spPr>
          <a:xfrm>
            <a:off x="3142488" y="3493008"/>
            <a:ext cx="2346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How it addresses the problem</a:t>
            </a:r>
          </a:p>
        </p:txBody>
      </p:sp>
      <p:graphicFrame>
        <p:nvGraphicFramePr>
          <p:cNvPr id="15403" name="Chart 15402"/>
          <p:cNvGraphicFramePr>
            <a:graphicFrameLocks noGrp="1"/>
          </p:cNvGraphicFramePr>
          <p:nvPr/>
        </p:nvGraphicFramePr>
        <p:xfrm>
          <a:off x="3078480" y="3730752"/>
          <a:ext cx="2420112" cy="1097280"/>
        </p:xfrm>
        <a:graphic>
          <a:graphicData uri="http://schemas.openxmlformats.org/drawingml/2006/chart">
            <c:chart xmlns:c="http://schemas.openxmlformats.org/drawingml/2006/chart" r:id="rId13"/>
          </a:graphicData>
        </a:graphic>
      </p:graphicFrame>
      <p:sp>
        <p:nvSpPr>
          <p:cNvPr id="15404" name="TextBox 15403"/>
          <p:cNvSpPr txBox="1"/>
          <p:nvPr/>
        </p:nvSpPr>
        <p:spPr>
          <a:xfrm>
            <a:off x="3142488" y="4828032"/>
            <a:ext cx="23469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00" b="0" i="1">
                <a:solidFill>
                  <a:srgbClr val="5B6472"/>
                </a:solidFill>
                <a:latin typeface="Arial"/>
              </a:rPr>
              <a:t>bits/s for one spoken sentence (log scale)</a:t>
            </a:r>
          </a:p>
        </p:txBody>
      </p:sp>
      <p:sp>
        <p:nvSpPr>
          <p:cNvPr id="15405" name="TextBox 15404"/>
          <p:cNvSpPr txBox="1"/>
          <p:nvPr/>
        </p:nvSpPr>
        <p:spPr>
          <a:xfrm>
            <a:off x="3142488" y="5065776"/>
            <a:ext cx="23469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EA580C"/>
                </a:solidFill>
                <a:latin typeface="Arial"/>
              </a:rPr>
              <a:t>≈1,500× less data</a:t>
            </a:r>
            <a:r>
              <a:rPr sz="950" b="0" i="0">
                <a:solidFill>
                  <a:srgbClr val="1B2433"/>
                </a:solidFill>
                <a:latin typeface="Arial"/>
              </a:rPr>
              <a:t> than raw audio; fits LoRa's ~250 bps</a:t>
            </a:r>
          </a:p>
        </p:txBody>
      </p:sp>
      <p:sp>
        <p:nvSpPr>
          <p:cNvPr id="15406" name="TextBox 15405"/>
          <p:cNvSpPr txBox="1"/>
          <p:nvPr/>
        </p:nvSpPr>
        <p:spPr>
          <a:xfrm>
            <a:off x="3142488" y="5394960"/>
            <a:ext cx="23469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EA580C"/>
                </a:solidFill>
                <a:latin typeface="Arial"/>
              </a:rPr>
              <a:t>62 B</a:t>
            </a:r>
            <a:r>
              <a:rPr sz="950" b="0" i="0">
                <a:solidFill>
                  <a:srgbClr val="1B2433"/>
                </a:solidFill>
                <a:latin typeface="Arial"/>
              </a:rPr>
              <a:t> per sentence vs 524 B as plain JSON</a:t>
            </a:r>
          </a:p>
        </p:txBody>
      </p:sp>
      <p:sp>
        <p:nvSpPr>
          <p:cNvPr id="15407" name="TextBox 15406"/>
          <p:cNvSpPr txBox="1"/>
          <p:nvPr/>
        </p:nvSpPr>
        <p:spPr>
          <a:xfrm>
            <a:off x="3142488" y="5724144"/>
            <a:ext cx="23469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F766E"/>
                </a:solidFill>
                <a:latin typeface="Arial"/>
              </a:rPr>
              <a:t>Output is still speech</a:t>
            </a:r>
            <a:r>
              <a:rPr sz="950" b="0" i="0">
                <a:solidFill>
                  <a:srgbClr val="1B2433"/>
                </a:solidFill>
                <a:latin typeface="Arial"/>
              </a:rPr>
              <a:t> — people who cannot read are included</a:t>
            </a:r>
          </a:p>
        </p:txBody>
      </p:sp>
      <p:sp>
        <p:nvSpPr>
          <p:cNvPr id="15408" name="TextBox 15407"/>
          <p:cNvSpPr txBox="1"/>
          <p:nvPr/>
        </p:nvSpPr>
        <p:spPr>
          <a:xfrm>
            <a:off x="5763768" y="3493008"/>
            <a:ext cx="2346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Innovation and uniqueness of the solution</a:t>
            </a:r>
          </a:p>
        </p:txBody>
      </p:sp>
      <p:pic>
        <p:nvPicPr>
          <p:cNvPr id="15409" name="Picture 15408" descr="layers-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63768" y="3895344"/>
            <a:ext cx="237744" cy="237744"/>
          </a:xfrm>
          <a:prstGeom prst="rect">
            <a:avLst/>
          </a:prstGeom>
        </p:spPr>
      </p:pic>
      <p:sp>
        <p:nvSpPr>
          <p:cNvPr id="15410" name="TextBox 15409"/>
          <p:cNvSpPr txBox="1"/>
          <p:nvPr/>
        </p:nvSpPr>
        <p:spPr>
          <a:xfrm>
            <a:off x="6083808" y="3877056"/>
            <a:ext cx="2026920" cy="5303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Speech itself is the codec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Text on the wire, voice rebuilt in the listener's language</a:t>
            </a:r>
          </a:p>
        </p:txBody>
      </p:sp>
      <p:pic>
        <p:nvPicPr>
          <p:cNvPr id="15411" name="Picture 15410" descr="link-t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763768" y="4443983"/>
            <a:ext cx="237744" cy="237744"/>
          </a:xfrm>
          <a:prstGeom prst="rect">
            <a:avLst/>
          </a:prstGeom>
        </p:spPr>
      </p:pic>
      <p:sp>
        <p:nvSpPr>
          <p:cNvPr id="15412" name="TextBox 15411"/>
          <p:cNvSpPr txBox="1"/>
          <p:nvPr/>
        </p:nvSpPr>
        <p:spPr>
          <a:xfrm>
            <a:off x="6083808" y="4425696"/>
            <a:ext cx="2026920" cy="5303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One frame, any link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Wi-Fi → Wi-Fi Direct → BLE, no user action</a:t>
            </a:r>
          </a:p>
        </p:txBody>
      </p:sp>
      <p:pic>
        <p:nvPicPr>
          <p:cNvPr id="15413" name="Picture 15412" descr="shield-t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3768" y="4992624"/>
            <a:ext cx="237744" cy="237744"/>
          </a:xfrm>
          <a:prstGeom prst="rect">
            <a:avLst/>
          </a:prstGeom>
        </p:spPr>
      </p:pic>
      <p:sp>
        <p:nvSpPr>
          <p:cNvPr id="15414" name="TextBox 15413"/>
          <p:cNvSpPr txBox="1"/>
          <p:nvPr/>
        </p:nvSpPr>
        <p:spPr>
          <a:xfrm>
            <a:off x="6083808" y="4974336"/>
            <a:ext cx="2026920" cy="5303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Trusted alerts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Ed25519-signed ALERTs; encrypted after QR pairing</a:t>
            </a:r>
          </a:p>
        </p:txBody>
      </p:sp>
      <p:pic>
        <p:nvPicPr>
          <p:cNvPr id="15415" name="Picture 15414" descr="gauge-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763768" y="5541264"/>
            <a:ext cx="237744" cy="237744"/>
          </a:xfrm>
          <a:prstGeom prst="rect">
            <a:avLst/>
          </a:prstGeom>
        </p:spPr>
      </p:pic>
      <p:sp>
        <p:nvSpPr>
          <p:cNvPr id="15416" name="TextBox 15415"/>
          <p:cNvSpPr txBox="1"/>
          <p:nvPr/>
        </p:nvSpPr>
        <p:spPr>
          <a:xfrm>
            <a:off x="6083808" y="5522976"/>
            <a:ext cx="2026920" cy="5303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Adapts to the phone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LITE profile switches on below 6 GB RAM</a:t>
            </a:r>
          </a:p>
        </p:txBody>
      </p:sp>
      <p:sp>
        <p:nvSpPr>
          <p:cNvPr id="15417" name="TextBox 15416"/>
          <p:cNvSpPr txBox="1"/>
          <p:nvPr/>
        </p:nvSpPr>
        <p:spPr>
          <a:xfrm>
            <a:off x="411480" y="6126480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B6472"/>
                </a:solidFill>
                <a:latin typeface="Arial"/>
              </a:rPr>
              <a:t>*Median of 310 FLEURS sentences (unit test), before encryption and link headers. Bars assume a ~3 s sentence.</a:t>
            </a:r>
          </a:p>
        </p:txBody>
      </p:sp>
      <p:pic>
        <p:nvPicPr>
          <p:cNvPr id="15418" name="Picture 15417" descr="03_sos_sheet.jpg">
            <a:hlinkClick r:id="rId19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99151" y="1207008"/>
            <a:ext cx="1684296" cy="3611880"/>
          </a:xfrm>
          <a:prstGeom prst="roundRect">
            <a:avLst>
              <a:gd name="adj" fmla="val 8000"/>
            </a:avLst>
          </a:prstGeom>
          <a:ln w="9525">
            <a:solidFill>
              <a:srgbClr val="DDE1E7"/>
            </a:solidFill>
          </a:ln>
        </p:spPr>
      </p:pic>
      <p:pic>
        <p:nvPicPr>
          <p:cNvPr id="15419" name="Picture 15418" descr="01_alert_card.jpg">
            <a:hlinkClick r:id="rId19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093175" y="1207008"/>
            <a:ext cx="1684296" cy="3611880"/>
          </a:xfrm>
          <a:prstGeom prst="roundRect">
            <a:avLst>
              <a:gd name="adj" fmla="val 8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5420" name="TextBox 15419"/>
          <p:cNvSpPr txBox="1"/>
          <p:nvPr/>
        </p:nvSpPr>
        <p:spPr>
          <a:xfrm>
            <a:off x="8299151" y="4846320"/>
            <a:ext cx="1684296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EA580C"/>
                </a:solidFill>
                <a:latin typeface="Arial"/>
              </a:rPr>
              <a:t>Sender · SOS</a:t>
            </a:r>
          </a:p>
        </p:txBody>
      </p:sp>
      <p:sp>
        <p:nvSpPr>
          <p:cNvPr id="15421" name="TextBox 15420"/>
          <p:cNvSpPr txBox="1"/>
          <p:nvPr/>
        </p:nvSpPr>
        <p:spPr>
          <a:xfrm>
            <a:off x="10093175" y="4846320"/>
            <a:ext cx="1684296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0F766E"/>
                </a:solidFill>
                <a:latin typeface="Arial"/>
              </a:rPr>
              <a:t>Receiver · ALERT</a:t>
            </a:r>
          </a:p>
        </p:txBody>
      </p:sp>
      <p:sp>
        <p:nvSpPr>
          <p:cNvPr id="15422" name="Rounded Rectangle 15421">
            <a:hlinkClick r:id="rId19"/>
          </p:cNvPr>
          <p:cNvSpPr/>
          <p:nvPr/>
        </p:nvSpPr>
        <p:spPr>
          <a:xfrm>
            <a:off x="8321040" y="5138928"/>
            <a:ext cx="3456432" cy="329184"/>
          </a:xfrm>
          <a:prstGeom prst="roundRect">
            <a:avLst>
              <a:gd name="adj" fmla="val 50000"/>
            </a:avLst>
          </a:prstGeom>
          <a:solidFill>
            <a:srgbClr val="FF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23" name="Picture 15422" descr="film-s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430767" y="5193792"/>
            <a:ext cx="219456" cy="219456"/>
          </a:xfrm>
          <a:prstGeom prst="rect">
            <a:avLst/>
          </a:prstGeom>
        </p:spPr>
      </p:pic>
      <p:sp>
        <p:nvSpPr>
          <p:cNvPr id="15424" name="TextBox 15423">
            <a:hlinkClick r:id="rId19"/>
          </p:cNvPr>
          <p:cNvSpPr txBox="1"/>
          <p:nvPr/>
        </p:nvSpPr>
        <p:spPr>
          <a:xfrm>
            <a:off x="8705088" y="5138928"/>
            <a:ext cx="2999232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EA580C"/>
                </a:solidFill>
                <a:latin typeface="Arial"/>
              </a:rPr>
              <a:t>Watch the demo film  ·  1 min 55 s</a:t>
            </a:r>
          </a:p>
        </p:txBody>
      </p:sp>
      <p:sp>
        <p:nvSpPr>
          <p:cNvPr id="15425" name="TextBox 15424"/>
          <p:cNvSpPr txBox="1"/>
          <p:nvPr/>
        </p:nvSpPr>
        <p:spPr>
          <a:xfrm>
            <a:off x="8321040" y="5559552"/>
            <a:ext cx="3456432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Real screens from the running prototype (v0.1.0) on a vivo I2202, Snapdragon 870. </a:t>
            </a:r>
            <a:r>
              <a:rPr sz="850" b="1" i="0">
                <a:solidFill>
                  <a:srgbClr val="0F766E"/>
                </a:solidFill>
                <a:latin typeface="Arial"/>
                <a:hlinkClick r:id="rId22"/>
              </a:rPr>
              <a:t>Try it: itantra-106.pages.dev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1682496"/>
            <a:ext cx="3566160" cy="484632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Oval 17411"/>
          <p:cNvSpPr/>
          <p:nvPr/>
        </p:nvSpPr>
        <p:spPr>
          <a:xfrm>
            <a:off x="512064" y="1751076"/>
            <a:ext cx="347472" cy="347472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andro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507" y="1827519"/>
            <a:ext cx="194584" cy="194584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969264" y="1728216"/>
            <a:ext cx="29443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Android app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969264" y="1929384"/>
            <a:ext cx="29443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Kotlin 2.4 · Jetpack Compose · Android 8.0+, arm64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11480" y="2231136"/>
            <a:ext cx="3566160" cy="484632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Oval 17416"/>
          <p:cNvSpPr/>
          <p:nvPr/>
        </p:nvSpPr>
        <p:spPr>
          <a:xfrm>
            <a:off x="512064" y="2299716"/>
            <a:ext cx="347472" cy="347472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ear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507" y="2376159"/>
            <a:ext cx="194584" cy="194584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969264" y="2276856"/>
            <a:ext cx="29443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Voice detection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969264" y="2478024"/>
            <a:ext cx="29443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Silero VAD (0.6 MB): a pause ends the sentence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11480" y="2779776"/>
            <a:ext cx="3566160" cy="484632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512064" y="2848356"/>
            <a:ext cx="347472" cy="347472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3" name="Picture 17422" descr="wave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507" y="2924799"/>
            <a:ext cx="194584" cy="194584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969264" y="2825496"/>
            <a:ext cx="29443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Speech-to-text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969264" y="3026664"/>
            <a:ext cx="29443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SraVaani-1.0 (IISc), int8 ONNX · sherpa-onnx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11480" y="3328415"/>
            <a:ext cx="3566160" cy="484632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512064" y="3396996"/>
            <a:ext cx="347472" cy="347472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8" name="Picture 17427" descr="speaker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507" y="3473439"/>
            <a:ext cx="194584" cy="194584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969264" y="3374135"/>
            <a:ext cx="29443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Text-to-speech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969264" y="3575303"/>
            <a:ext cx="29443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VITS Rasa (6 langs) · Indic-Mio (4 langs)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411480" y="3877056"/>
            <a:ext cx="3566160" cy="484632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512064" y="3945635"/>
            <a:ext cx="347472" cy="347472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3" name="Picture 17432" descr="wifi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8507" y="4022079"/>
            <a:ext cx="194584" cy="194584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969264" y="3922776"/>
            <a:ext cx="29443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Links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969264" y="4123944"/>
            <a:ext cx="29443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Wi-Fi mDNS/TCP → Wi-Fi Direct → BLE GATT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411480" y="4425696"/>
            <a:ext cx="3566160" cy="484632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Oval 17436"/>
          <p:cNvSpPr/>
          <p:nvPr/>
        </p:nvSpPr>
        <p:spPr>
          <a:xfrm>
            <a:off x="512064" y="4494275"/>
            <a:ext cx="347472" cy="347472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lock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8507" y="4570719"/>
            <a:ext cx="194584" cy="194584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969264" y="4471416"/>
            <a:ext cx="29443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Security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969264" y="4672583"/>
            <a:ext cx="29443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X25519 · ChaCha20-Poly1305 · Ed25519 · QR pairing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411480" y="4974336"/>
            <a:ext cx="3566160" cy="484632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2" name="Oval 17441"/>
          <p:cNvSpPr/>
          <p:nvPr/>
        </p:nvSpPr>
        <p:spPr>
          <a:xfrm>
            <a:off x="512064" y="5042915"/>
            <a:ext cx="347472" cy="347472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3" name="Picture 17442" descr="antenna-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8507" y="5119359"/>
            <a:ext cx="194584" cy="194584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969264" y="5020055"/>
            <a:ext cx="29443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Radio hardware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969264" y="5221223"/>
            <a:ext cx="29443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ESP32-S3 + SX1262 LoRa, 865–867 MHz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411480" y="5522976"/>
            <a:ext cx="3566160" cy="484632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7" name="Oval 17446"/>
          <p:cNvSpPr/>
          <p:nvPr/>
        </p:nvSpPr>
        <p:spPr>
          <a:xfrm>
            <a:off x="512064" y="5591555"/>
            <a:ext cx="347472" cy="347472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8" name="Picture 17447" descr="server-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8507" y="5667999"/>
            <a:ext cx="194584" cy="194584"/>
          </a:xfrm>
          <a:prstGeom prst="rect">
            <a:avLst/>
          </a:prstGeom>
        </p:spPr>
      </p:pic>
      <p:sp>
        <p:nvSpPr>
          <p:cNvPr id="17449" name="TextBox 17448"/>
          <p:cNvSpPr txBox="1"/>
          <p:nvPr/>
        </p:nvSpPr>
        <p:spPr>
          <a:xfrm>
            <a:off x="969264" y="5568696"/>
            <a:ext cx="29443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Control room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969264" y="5769864"/>
            <a:ext cx="29443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Python gateway · SQLite · CAP 1.2 alerts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4206240" y="1188720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4206240" y="1517904"/>
            <a:ext cx="2395728" cy="1901952"/>
          </a:xfrm>
          <a:prstGeom prst="roundRect">
            <a:avLst>
              <a:gd name="adj" fmla="val 7000"/>
            </a:avLst>
          </a:prstGeom>
          <a:solidFill>
            <a:srgbClr val="FF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4206240" y="1572768"/>
            <a:ext cx="239572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EA580C"/>
                </a:solidFill>
                <a:latin typeface="Arial"/>
              </a:rPr>
              <a:t>SENDER PHONE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4343400" y="1819656"/>
            <a:ext cx="2121408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5" name="Picture 17454" descr="mic-s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43983" y="1874519"/>
            <a:ext cx="201168" cy="201168"/>
          </a:xfrm>
          <a:prstGeom prst="rect">
            <a:avLst/>
          </a:prstGeom>
        </p:spPr>
      </p:pic>
      <p:sp>
        <p:nvSpPr>
          <p:cNvPr id="17456" name="TextBox 17455"/>
          <p:cNvSpPr txBox="1"/>
          <p:nvPr/>
        </p:nvSpPr>
        <p:spPr>
          <a:xfrm>
            <a:off x="4718304" y="1819656"/>
            <a:ext cx="16642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Mic 16 kHz</a:t>
            </a:r>
          </a:p>
        </p:txBody>
      </p:sp>
      <p:cxnSp>
        <p:nvCxnSpPr>
          <p:cNvPr id="17457" name="Connector 17456"/>
          <p:cNvCxnSpPr/>
          <p:nvPr/>
        </p:nvCxnSpPr>
        <p:spPr>
          <a:xfrm>
            <a:off x="5404104" y="2130552"/>
            <a:ext cx="0" cy="82296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8" name="Rounded Rectangle 17457"/>
          <p:cNvSpPr/>
          <p:nvPr/>
        </p:nvSpPr>
        <p:spPr>
          <a:xfrm>
            <a:off x="4343400" y="2212848"/>
            <a:ext cx="2121408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9" name="Picture 17458" descr="ear-s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43983" y="2267712"/>
            <a:ext cx="201168" cy="201168"/>
          </a:xfrm>
          <a:prstGeom prst="rect">
            <a:avLst/>
          </a:prstGeom>
        </p:spPr>
      </p:pic>
      <p:sp>
        <p:nvSpPr>
          <p:cNvPr id="17460" name="TextBox 17459"/>
          <p:cNvSpPr txBox="1"/>
          <p:nvPr/>
        </p:nvSpPr>
        <p:spPr>
          <a:xfrm>
            <a:off x="4718304" y="2212848"/>
            <a:ext cx="16642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VAD: cut at pause</a:t>
            </a:r>
          </a:p>
        </p:txBody>
      </p:sp>
      <p:cxnSp>
        <p:nvCxnSpPr>
          <p:cNvPr id="17461" name="Connector 17460"/>
          <p:cNvCxnSpPr/>
          <p:nvPr/>
        </p:nvCxnSpPr>
        <p:spPr>
          <a:xfrm>
            <a:off x="5404104" y="2523744"/>
            <a:ext cx="0" cy="82296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2" name="Rounded Rectangle 17461"/>
          <p:cNvSpPr/>
          <p:nvPr/>
        </p:nvSpPr>
        <p:spPr>
          <a:xfrm>
            <a:off x="4343400" y="2606040"/>
            <a:ext cx="2121408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3" name="Picture 17462" descr="wave-s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43983" y="2660904"/>
            <a:ext cx="201168" cy="201168"/>
          </a:xfrm>
          <a:prstGeom prst="rect">
            <a:avLst/>
          </a:prstGeom>
        </p:spPr>
      </p:pic>
      <p:sp>
        <p:nvSpPr>
          <p:cNvPr id="17464" name="TextBox 17463"/>
          <p:cNvSpPr txBox="1"/>
          <p:nvPr/>
        </p:nvSpPr>
        <p:spPr>
          <a:xfrm>
            <a:off x="4718304" y="2606040"/>
            <a:ext cx="16642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STT on device</a:t>
            </a:r>
          </a:p>
        </p:txBody>
      </p:sp>
      <p:cxnSp>
        <p:nvCxnSpPr>
          <p:cNvPr id="17465" name="Connector 17464"/>
          <p:cNvCxnSpPr/>
          <p:nvPr/>
        </p:nvCxnSpPr>
        <p:spPr>
          <a:xfrm>
            <a:off x="5404104" y="2916936"/>
            <a:ext cx="0" cy="82296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6" name="Rounded Rectangle 17465"/>
          <p:cNvSpPr/>
          <p:nvPr/>
        </p:nvSpPr>
        <p:spPr>
          <a:xfrm>
            <a:off x="4343400" y="2999232"/>
            <a:ext cx="2121408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7" name="Picture 17466" descr="bytes-s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43983" y="3054096"/>
            <a:ext cx="201168" cy="201168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4718304" y="2999232"/>
            <a:ext cx="16642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Pack · sign · encrypt</a:t>
            </a:r>
          </a:p>
        </p:txBody>
      </p:sp>
      <p:cxnSp>
        <p:nvCxnSpPr>
          <p:cNvPr id="17469" name="Connector 17468"/>
          <p:cNvCxnSpPr/>
          <p:nvPr/>
        </p:nvCxnSpPr>
        <p:spPr>
          <a:xfrm>
            <a:off x="6620255" y="2468880"/>
            <a:ext cx="155449" cy="0"/>
          </a:xfrm>
          <a:prstGeom prst="line">
            <a:avLst/>
          </a:prstGeom>
          <a:ln w="25400">
            <a:solidFill>
              <a:srgbClr val="1B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0" name="Rounded Rectangle 17469"/>
          <p:cNvSpPr/>
          <p:nvPr/>
        </p:nvSpPr>
        <p:spPr>
          <a:xfrm>
            <a:off x="6793992" y="1517904"/>
            <a:ext cx="2395728" cy="1901952"/>
          </a:xfrm>
          <a:prstGeom prst="roundRect">
            <a:avLst>
              <a:gd name="adj" fmla="val 7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1" name="TextBox 17470"/>
          <p:cNvSpPr txBox="1"/>
          <p:nvPr/>
        </p:nvSpPr>
        <p:spPr>
          <a:xfrm>
            <a:off x="6793992" y="1572768"/>
            <a:ext cx="239572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1B2433"/>
                </a:solidFill>
                <a:latin typeface="Arial"/>
              </a:rPr>
              <a:t>ANY LINK — same frame</a:t>
            </a:r>
          </a:p>
        </p:txBody>
      </p:sp>
      <p:sp>
        <p:nvSpPr>
          <p:cNvPr id="17472" name="Rounded Rectangle 17471"/>
          <p:cNvSpPr/>
          <p:nvPr/>
        </p:nvSpPr>
        <p:spPr>
          <a:xfrm>
            <a:off x="6931152" y="1819656"/>
            <a:ext cx="2121408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3" name="Picture 17472" descr="wifi-ink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31736" y="1874519"/>
            <a:ext cx="201168" cy="201168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7306056" y="1819656"/>
            <a:ext cx="16642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Wi-Fi LAN (first)</a:t>
            </a:r>
          </a:p>
        </p:txBody>
      </p:sp>
      <p:cxnSp>
        <p:nvCxnSpPr>
          <p:cNvPr id="17475" name="Connector 17474"/>
          <p:cNvCxnSpPr/>
          <p:nvPr/>
        </p:nvCxnSpPr>
        <p:spPr>
          <a:xfrm>
            <a:off x="7991856" y="2130552"/>
            <a:ext cx="0" cy="82296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6" name="Rounded Rectangle 17475"/>
          <p:cNvSpPr/>
          <p:nvPr/>
        </p:nvSpPr>
        <p:spPr>
          <a:xfrm>
            <a:off x="6931152" y="2212848"/>
            <a:ext cx="2121408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7" name="Picture 17476" descr="antenna-ink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031736" y="2267712"/>
            <a:ext cx="201168" cy="201168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7306056" y="2212848"/>
            <a:ext cx="16642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Wi-Fi Direct (+4 s)</a:t>
            </a:r>
          </a:p>
        </p:txBody>
      </p:sp>
      <p:cxnSp>
        <p:nvCxnSpPr>
          <p:cNvPr id="17479" name="Connector 17478"/>
          <p:cNvCxnSpPr/>
          <p:nvPr/>
        </p:nvCxnSpPr>
        <p:spPr>
          <a:xfrm>
            <a:off x="7991856" y="2523744"/>
            <a:ext cx="0" cy="82296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0" name="Rounded Rectangle 17479"/>
          <p:cNvSpPr/>
          <p:nvPr/>
        </p:nvSpPr>
        <p:spPr>
          <a:xfrm>
            <a:off x="6931152" y="2606040"/>
            <a:ext cx="2121408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1" name="Picture 17480" descr="bt-in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031736" y="2660904"/>
            <a:ext cx="201168" cy="201168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7306056" y="2606040"/>
            <a:ext cx="16642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Bluetooth LE (+8 s)</a:t>
            </a:r>
          </a:p>
        </p:txBody>
      </p:sp>
      <p:cxnSp>
        <p:nvCxnSpPr>
          <p:cNvPr id="17483" name="Connector 17482"/>
          <p:cNvCxnSpPr/>
          <p:nvPr/>
        </p:nvCxnSpPr>
        <p:spPr>
          <a:xfrm>
            <a:off x="7991856" y="2916936"/>
            <a:ext cx="0" cy="82296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4" name="Rounded Rectangle 17483"/>
          <p:cNvSpPr/>
          <p:nvPr/>
        </p:nvSpPr>
        <p:spPr>
          <a:xfrm>
            <a:off x="6931152" y="2999232"/>
            <a:ext cx="2121408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5" name="Picture 17484" descr="server-ink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31736" y="3054096"/>
            <a:ext cx="201168" cy="201168"/>
          </a:xfrm>
          <a:prstGeom prst="rect">
            <a:avLst/>
          </a:prstGeom>
        </p:spPr>
      </p:pic>
      <p:sp>
        <p:nvSpPr>
          <p:cNvPr id="17486" name="TextBox 17485"/>
          <p:cNvSpPr txBox="1"/>
          <p:nvPr/>
        </p:nvSpPr>
        <p:spPr>
          <a:xfrm>
            <a:off x="7306056" y="2999232"/>
            <a:ext cx="16642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Control room / LoRa</a:t>
            </a:r>
          </a:p>
        </p:txBody>
      </p:sp>
      <p:cxnSp>
        <p:nvCxnSpPr>
          <p:cNvPr id="17487" name="Connector 17486"/>
          <p:cNvCxnSpPr/>
          <p:nvPr/>
        </p:nvCxnSpPr>
        <p:spPr>
          <a:xfrm>
            <a:off x="9208008" y="2468880"/>
            <a:ext cx="155448" cy="0"/>
          </a:xfrm>
          <a:prstGeom prst="line">
            <a:avLst/>
          </a:prstGeom>
          <a:ln w="25400">
            <a:solidFill>
              <a:srgbClr val="1B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8" name="Rounded Rectangle 17487"/>
          <p:cNvSpPr/>
          <p:nvPr/>
        </p:nvSpPr>
        <p:spPr>
          <a:xfrm>
            <a:off x="9381744" y="1517904"/>
            <a:ext cx="2395728" cy="1901952"/>
          </a:xfrm>
          <a:prstGeom prst="roundRect">
            <a:avLst>
              <a:gd name="adj" fmla="val 7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9" name="TextBox 17488"/>
          <p:cNvSpPr txBox="1"/>
          <p:nvPr/>
        </p:nvSpPr>
        <p:spPr>
          <a:xfrm>
            <a:off x="9381744" y="1572768"/>
            <a:ext cx="239572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F766E"/>
                </a:solidFill>
                <a:latin typeface="Arial"/>
              </a:rPr>
              <a:t>RECEIVER PHONE</a:t>
            </a:r>
          </a:p>
        </p:txBody>
      </p:sp>
      <p:sp>
        <p:nvSpPr>
          <p:cNvPr id="17490" name="Rounded Rectangle 17489"/>
          <p:cNvSpPr/>
          <p:nvPr/>
        </p:nvSpPr>
        <p:spPr>
          <a:xfrm>
            <a:off x="9518904" y="1819656"/>
            <a:ext cx="2121408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1" name="Picture 17490" descr="check-t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619488" y="1874519"/>
            <a:ext cx="201168" cy="201168"/>
          </a:xfrm>
          <a:prstGeom prst="rect">
            <a:avLst/>
          </a:prstGeom>
        </p:spPr>
      </p:pic>
      <p:sp>
        <p:nvSpPr>
          <p:cNvPr id="17492" name="TextBox 17491"/>
          <p:cNvSpPr txBox="1"/>
          <p:nvPr/>
        </p:nvSpPr>
        <p:spPr>
          <a:xfrm>
            <a:off x="9893808" y="1819656"/>
            <a:ext cx="16642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Verify · decode · ACK</a:t>
            </a:r>
          </a:p>
        </p:txBody>
      </p:sp>
      <p:cxnSp>
        <p:nvCxnSpPr>
          <p:cNvPr id="17493" name="Connector 17492"/>
          <p:cNvCxnSpPr/>
          <p:nvPr/>
        </p:nvCxnSpPr>
        <p:spPr>
          <a:xfrm>
            <a:off x="10579608" y="2130552"/>
            <a:ext cx="0" cy="82296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94" name="Rounded Rectangle 17493"/>
          <p:cNvSpPr/>
          <p:nvPr/>
        </p:nvSpPr>
        <p:spPr>
          <a:xfrm>
            <a:off x="9518904" y="2212848"/>
            <a:ext cx="2121408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5" name="Picture 17494" descr="text-t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19488" y="2267712"/>
            <a:ext cx="201168" cy="201168"/>
          </a:xfrm>
          <a:prstGeom prst="rect">
            <a:avLst/>
          </a:prstGeom>
        </p:spPr>
      </p:pic>
      <p:sp>
        <p:nvSpPr>
          <p:cNvPr id="17496" name="TextBox 17495"/>
          <p:cNvSpPr txBox="1"/>
          <p:nvPr/>
        </p:nvSpPr>
        <p:spPr>
          <a:xfrm>
            <a:off x="9893808" y="2212848"/>
            <a:ext cx="16642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Numbers → words</a:t>
            </a:r>
          </a:p>
        </p:txBody>
      </p:sp>
      <p:cxnSp>
        <p:nvCxnSpPr>
          <p:cNvPr id="17497" name="Connector 17496"/>
          <p:cNvCxnSpPr/>
          <p:nvPr/>
        </p:nvCxnSpPr>
        <p:spPr>
          <a:xfrm>
            <a:off x="10579608" y="2523744"/>
            <a:ext cx="0" cy="82296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98" name="Rounded Rectangle 17497"/>
          <p:cNvSpPr/>
          <p:nvPr/>
        </p:nvSpPr>
        <p:spPr>
          <a:xfrm>
            <a:off x="9518904" y="2606040"/>
            <a:ext cx="2121408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9" name="Picture 17498" descr="speaker-t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619488" y="2660904"/>
            <a:ext cx="201168" cy="201168"/>
          </a:xfrm>
          <a:prstGeom prst="rect">
            <a:avLst/>
          </a:prstGeom>
        </p:spPr>
      </p:pic>
      <p:sp>
        <p:nvSpPr>
          <p:cNvPr id="17500" name="TextBox 17499"/>
          <p:cNvSpPr txBox="1"/>
          <p:nvPr/>
        </p:nvSpPr>
        <p:spPr>
          <a:xfrm>
            <a:off x="9893808" y="2606040"/>
            <a:ext cx="16642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TTS in own language</a:t>
            </a:r>
          </a:p>
        </p:txBody>
      </p:sp>
      <p:cxnSp>
        <p:nvCxnSpPr>
          <p:cNvPr id="17501" name="Connector 17500"/>
          <p:cNvCxnSpPr/>
          <p:nvPr/>
        </p:nvCxnSpPr>
        <p:spPr>
          <a:xfrm>
            <a:off x="10579608" y="2916936"/>
            <a:ext cx="0" cy="82296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02" name="Rounded Rectangle 17501"/>
          <p:cNvSpPr/>
          <p:nvPr/>
        </p:nvSpPr>
        <p:spPr>
          <a:xfrm>
            <a:off x="9518904" y="2999232"/>
            <a:ext cx="2121408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3" name="Picture 17502" descr="siren-t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619488" y="3054096"/>
            <a:ext cx="201168" cy="201168"/>
          </a:xfrm>
          <a:prstGeom prst="rect">
            <a:avLst/>
          </a:prstGeom>
        </p:spPr>
      </p:pic>
      <p:sp>
        <p:nvSpPr>
          <p:cNvPr id="17504" name="TextBox 17503"/>
          <p:cNvSpPr txBox="1"/>
          <p:nvPr/>
        </p:nvSpPr>
        <p:spPr>
          <a:xfrm>
            <a:off x="9893808" y="2999232"/>
            <a:ext cx="16642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Voice note / ALERT</a:t>
            </a:r>
          </a:p>
        </p:txBody>
      </p:sp>
      <p:sp>
        <p:nvSpPr>
          <p:cNvPr id="17505" name="Rounded Rectangle 17504"/>
          <p:cNvSpPr/>
          <p:nvPr/>
        </p:nvSpPr>
        <p:spPr>
          <a:xfrm>
            <a:off x="4206240" y="3529584"/>
            <a:ext cx="24688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6" name="Rounded Rectangle 17505"/>
          <p:cNvSpPr/>
          <p:nvPr/>
        </p:nvSpPr>
        <p:spPr>
          <a:xfrm>
            <a:off x="4297679" y="3602736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7" name="TextBox 17506"/>
          <p:cNvSpPr txBox="1"/>
          <p:nvPr/>
        </p:nvSpPr>
        <p:spPr>
          <a:xfrm>
            <a:off x="4297679" y="3602736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5803D"/>
                </a:solidFill>
                <a:latin typeface="Arial"/>
              </a:rPr>
              <a:t>BUILT</a:t>
            </a:r>
          </a:p>
        </p:txBody>
      </p:sp>
      <p:sp>
        <p:nvSpPr>
          <p:cNvPr id="17508" name="TextBox 17507"/>
          <p:cNvSpPr txBox="1"/>
          <p:nvPr/>
        </p:nvSpPr>
        <p:spPr>
          <a:xfrm>
            <a:off x="4315968" y="38587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1B2433"/>
                </a:solidFill>
                <a:latin typeface="Arial"/>
              </a:rPr>
              <a:t>Push-to-talk, call, 10-language STT/TTS, ALERT, SOS, LITE, control room</a:t>
            </a:r>
          </a:p>
        </p:txBody>
      </p:sp>
      <p:sp>
        <p:nvSpPr>
          <p:cNvPr id="17509" name="Rounded Rectangle 17508"/>
          <p:cNvSpPr/>
          <p:nvPr/>
        </p:nvSpPr>
        <p:spPr>
          <a:xfrm>
            <a:off x="6766559" y="3529584"/>
            <a:ext cx="24688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0" name="Rounded Rectangle 17509"/>
          <p:cNvSpPr/>
          <p:nvPr/>
        </p:nvSpPr>
        <p:spPr>
          <a:xfrm>
            <a:off x="6857999" y="3602736"/>
            <a:ext cx="1737360" cy="219456"/>
          </a:xfrm>
          <a:prstGeom prst="roundRect">
            <a:avLst>
              <a:gd name="adj" fmla="val 5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1" name="TextBox 17510"/>
          <p:cNvSpPr txBox="1"/>
          <p:nvPr/>
        </p:nvSpPr>
        <p:spPr>
          <a:xfrm>
            <a:off x="6857999" y="3602736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Arial"/>
              </a:rPr>
              <a:t>PARTIAL · TEST PENDING</a:t>
            </a:r>
          </a:p>
        </p:txBody>
      </p:sp>
      <p:sp>
        <p:nvSpPr>
          <p:cNvPr id="17512" name="TextBox 17511"/>
          <p:cNvSpPr txBox="1"/>
          <p:nvPr/>
        </p:nvSpPr>
        <p:spPr>
          <a:xfrm>
            <a:off x="6876288" y="38587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1B2433"/>
                </a:solidFill>
                <a:latin typeface="Arial"/>
              </a:rPr>
              <a:t>Encryption (binary mode); LoRa firmware compiles; Direct/BLE two-phone test</a:t>
            </a:r>
          </a:p>
        </p:txBody>
      </p:sp>
      <p:sp>
        <p:nvSpPr>
          <p:cNvPr id="17513" name="Rounded Rectangle 17512"/>
          <p:cNvSpPr/>
          <p:nvPr/>
        </p:nvSpPr>
        <p:spPr>
          <a:xfrm>
            <a:off x="9326880" y="3529584"/>
            <a:ext cx="24688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4" name="Rounded Rectangle 17513"/>
          <p:cNvSpPr/>
          <p:nvPr/>
        </p:nvSpPr>
        <p:spPr>
          <a:xfrm>
            <a:off x="9418319" y="3602736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5" name="TextBox 17514"/>
          <p:cNvSpPr txBox="1"/>
          <p:nvPr/>
        </p:nvSpPr>
        <p:spPr>
          <a:xfrm>
            <a:off x="9418319" y="3602736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64748B"/>
                </a:solidFill>
                <a:latin typeface="Arial"/>
              </a:rPr>
              <a:t>PLANNED</a:t>
            </a:r>
          </a:p>
        </p:txBody>
      </p:sp>
      <p:sp>
        <p:nvSpPr>
          <p:cNvPr id="17516" name="TextBox 17515"/>
          <p:cNvSpPr txBox="1"/>
          <p:nvPr/>
        </p:nvSpPr>
        <p:spPr>
          <a:xfrm>
            <a:off x="9436607" y="38587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1B2433"/>
                </a:solidFill>
                <a:latin typeface="Arial"/>
              </a:rPr>
              <a:t>On-device translation (IndicTrans2), smaller voices, phone mesh relay</a:t>
            </a:r>
          </a:p>
        </p:txBody>
      </p:sp>
      <p:sp>
        <p:nvSpPr>
          <p:cNvPr id="17517" name="TextBox 17516"/>
          <p:cNvSpPr txBox="1"/>
          <p:nvPr/>
        </p:nvSpPr>
        <p:spPr>
          <a:xfrm>
            <a:off x="4206240" y="4425696"/>
            <a:ext cx="75895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Working prototype — real screens</a:t>
            </a:r>
          </a:p>
        </p:txBody>
      </p:sp>
      <p:pic>
        <p:nvPicPr>
          <p:cNvPr id="17518" name="Picture 17517" descr="dashboard.jpg">
            <a:hlinkClick r:id="rId25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206240" y="4663440"/>
            <a:ext cx="2986268" cy="1371600"/>
          </a:xfrm>
          <a:prstGeom prst="roundRect">
            <a:avLst>
              <a:gd name="adj" fmla="val 4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7519" name="TextBox 17518"/>
          <p:cNvSpPr txBox="1"/>
          <p:nvPr/>
        </p:nvSpPr>
        <p:spPr>
          <a:xfrm>
            <a:off x="4114800" y="6062472"/>
            <a:ext cx="3169148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472"/>
                </a:solidFill>
                <a:latin typeface="Arial"/>
              </a:rPr>
              <a:t>PC control room</a:t>
            </a:r>
          </a:p>
        </p:txBody>
      </p:sp>
      <p:pic>
        <p:nvPicPr>
          <p:cNvPr id="17520" name="Picture 17519" descr="pairing.jpg">
            <a:hlinkClick r:id="rId25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302236" y="4663440"/>
            <a:ext cx="638366" cy="1371600"/>
          </a:xfrm>
          <a:prstGeom prst="roundRect">
            <a:avLst>
              <a:gd name="adj" fmla="val 8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7521" name="TextBox 17520"/>
          <p:cNvSpPr txBox="1"/>
          <p:nvPr/>
        </p:nvSpPr>
        <p:spPr>
          <a:xfrm>
            <a:off x="7210796" y="6062472"/>
            <a:ext cx="821246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472"/>
                </a:solidFill>
                <a:latin typeface="Arial"/>
              </a:rPr>
              <a:t>QR pairing</a:t>
            </a:r>
          </a:p>
        </p:txBody>
      </p:sp>
      <p:pic>
        <p:nvPicPr>
          <p:cNvPr id="17522" name="Picture 17521" descr="language_picker.jpg">
            <a:hlinkClick r:id="rId25"/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050330" y="4663440"/>
            <a:ext cx="638503" cy="1371600"/>
          </a:xfrm>
          <a:prstGeom prst="roundRect">
            <a:avLst>
              <a:gd name="adj" fmla="val 8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7523" name="TextBox 17522"/>
          <p:cNvSpPr txBox="1"/>
          <p:nvPr/>
        </p:nvSpPr>
        <p:spPr>
          <a:xfrm>
            <a:off x="7958890" y="6062472"/>
            <a:ext cx="821383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472"/>
                </a:solidFill>
                <a:latin typeface="Arial"/>
              </a:rPr>
              <a:t>Language</a:t>
            </a:r>
          </a:p>
        </p:txBody>
      </p:sp>
      <p:pic>
        <p:nvPicPr>
          <p:cNvPr id="17524" name="Picture 17523" descr="08_hindi_ui.jpg">
            <a:hlinkClick r:id="rId25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798561" y="4663440"/>
            <a:ext cx="639606" cy="1371600"/>
          </a:xfrm>
          <a:prstGeom prst="roundRect">
            <a:avLst>
              <a:gd name="adj" fmla="val 8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7525" name="TextBox 17524"/>
          <p:cNvSpPr txBox="1"/>
          <p:nvPr/>
        </p:nvSpPr>
        <p:spPr>
          <a:xfrm>
            <a:off x="8707121" y="6062472"/>
            <a:ext cx="822486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472"/>
                </a:solidFill>
                <a:latin typeface="Arial"/>
              </a:rPr>
              <a:t>LITE profile</a:t>
            </a:r>
          </a:p>
        </p:txBody>
      </p:sp>
      <p:sp>
        <p:nvSpPr>
          <p:cNvPr id="17526" name="TextBox 17525"/>
          <p:cNvSpPr txBox="1"/>
          <p:nvPr/>
        </p:nvSpPr>
        <p:spPr>
          <a:xfrm>
            <a:off x="9593615" y="4645152"/>
            <a:ext cx="2183856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B2433"/>
                </a:solidFill>
                <a:latin typeface="Arial"/>
              </a:rPr>
              <a:t>Prototype v0.1.0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APK 60 MB · Android 8.0+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Models 1.2 GB, installed once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Tested: Snapdragon 870 and 8 Gen 3</a:t>
            </a:r>
          </a:p>
        </p:txBody>
      </p:sp>
      <p:sp>
        <p:nvSpPr>
          <p:cNvPr id="17527" name="Rounded Rectangle 17526">
            <a:hlinkClick r:id="rId29"/>
          </p:cNvPr>
          <p:cNvSpPr/>
          <p:nvPr/>
        </p:nvSpPr>
        <p:spPr>
          <a:xfrm>
            <a:off x="9593615" y="5760720"/>
            <a:ext cx="2183856" cy="274320"/>
          </a:xfrm>
          <a:prstGeom prst="roundRect">
            <a:avLst>
              <a:gd name="adj" fmla="val 5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28" name="Picture 17527" descr="download-t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703343" y="5788152"/>
            <a:ext cx="219456" cy="219456"/>
          </a:xfrm>
          <a:prstGeom prst="rect">
            <a:avLst/>
          </a:prstGeom>
        </p:spPr>
      </p:pic>
      <p:sp>
        <p:nvSpPr>
          <p:cNvPr id="17529" name="TextBox 17528">
            <a:hlinkClick r:id="rId29"/>
          </p:cNvPr>
          <p:cNvSpPr txBox="1"/>
          <p:nvPr/>
        </p:nvSpPr>
        <p:spPr>
          <a:xfrm>
            <a:off x="9977663" y="5760720"/>
            <a:ext cx="1726656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F766E"/>
                </a:solidFill>
                <a:latin typeface="Arial"/>
              </a:rPr>
              <a:t>Reviewer install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433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5486400" y="1225296"/>
            <a:ext cx="6291072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0"/>
              </a:spcAft>
            </a:pPr>
            <a:r>
              <a:rPr sz="1050" b="0" i="1">
                <a:solidFill>
                  <a:srgbClr val="5B6472"/>
                </a:solidFill>
                <a:latin typeface="Arial"/>
              </a:rPr>
              <a:t>Measured: 4 GB-class memory test, in-app logging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554480"/>
            <a:ext cx="2148840" cy="1243584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zap-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" y="1645920"/>
            <a:ext cx="256032" cy="256032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557784" y="1901952"/>
            <a:ext cx="1911095" cy="420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0F766E"/>
                </a:solidFill>
                <a:latin typeface="Arial"/>
              </a:rPr>
              <a:t>14×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57784" y="2322576"/>
            <a:ext cx="1911095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faster than speech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57784" y="2523744"/>
            <a:ext cx="1911095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STT real-time factor 0.07, 10/10 langs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2715768" y="1554480"/>
            <a:ext cx="2148840" cy="1243584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clock-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2072" y="1645920"/>
            <a:ext cx="256032" cy="256032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2862072" y="1901952"/>
            <a:ext cx="1911095" cy="420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0F766E"/>
                </a:solidFill>
                <a:latin typeface="Arial"/>
              </a:rPr>
              <a:t>0.6 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2862072" y="2322576"/>
            <a:ext cx="1911095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speech end → text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2862072" y="2523744"/>
            <a:ext cx="1911095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median; range 0.42–0.70 s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5020056" y="1554480"/>
            <a:ext cx="2148840" cy="1243584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3" name="Picture 17422" descr="memory-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1645920"/>
            <a:ext cx="256032" cy="256032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5166360" y="1901952"/>
            <a:ext cx="1911095" cy="420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0F766E"/>
                </a:solidFill>
                <a:latin typeface="Arial"/>
              </a:rPr>
              <a:t>765 MB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166360" y="2322576"/>
            <a:ext cx="1911095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app RAM, idle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5166360" y="2523744"/>
            <a:ext cx="1911095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1.8 GB peak while speaking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7324344" y="1554480"/>
            <a:ext cx="2148840" cy="1243584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8" name="Picture 17427" descr="cpu-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0648" y="1645920"/>
            <a:ext cx="256032" cy="256032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7470648" y="1901952"/>
            <a:ext cx="1911095" cy="420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0F766E"/>
                </a:solidFill>
                <a:latin typeface="Arial"/>
              </a:rPr>
              <a:t>0.3%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7470648" y="2322576"/>
            <a:ext cx="1911095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idle CPU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7470648" y="2523744"/>
            <a:ext cx="1911095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of one core, push-to-talk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9628632" y="1554480"/>
            <a:ext cx="2148840" cy="1243584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3" name="Picture 17432" descr="shield-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74936" y="1645920"/>
            <a:ext cx="256032" cy="256032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9774936" y="1901952"/>
            <a:ext cx="1911095" cy="420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0F766E"/>
                </a:solidFill>
                <a:latin typeface="Arial"/>
              </a:rPr>
              <a:t>Alive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9774936" y="2322576"/>
            <a:ext cx="1911095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app not killed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9774936" y="2523744"/>
            <a:ext cx="1911095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Android closed 115 other processes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11480" y="2852928"/>
            <a:ext cx="1133856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B6472"/>
                </a:solidFill>
                <a:latin typeface="Arial"/>
              </a:rPr>
              <a:t>Method: 12 GB vivo I2202 (Snapdragon 870) with RAM reserved so only ~1.7 GB stayed free, LITE profile. The chip was not slowed, so a budget phone will be slower. Also measured: 41 ms message → ACK over Wi-Fi; 0 audio underruns in 5 languages; word error rate 5.9% (preliminary, 10 clips).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11480" y="327355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2433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3611880" y="327355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2433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411480" y="3584448"/>
            <a:ext cx="6492240" cy="548640"/>
          </a:xfrm>
          <a:prstGeom prst="roundRect">
            <a:avLst>
              <a:gd name="adj" fmla="val 1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1" name="Picture 17440" descr="speaker-s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0352" y="3730752"/>
            <a:ext cx="256032" cy="256032"/>
          </a:xfrm>
          <a:prstGeom prst="rect">
            <a:avLst/>
          </a:prstGeom>
        </p:spPr>
      </p:pic>
      <p:sp>
        <p:nvSpPr>
          <p:cNvPr id="17442" name="TextBox 17441"/>
          <p:cNvSpPr txBox="1"/>
          <p:nvPr/>
        </p:nvSpPr>
        <p:spPr>
          <a:xfrm>
            <a:off x="877824" y="358444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</a:rPr>
              <a:t>Voice starts 3–6 s after arrival in LITE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3310128" y="3858768"/>
            <a:ext cx="237744" cy="0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TextBox 17443"/>
          <p:cNvSpPr txBox="1"/>
          <p:nvPr/>
        </p:nvSpPr>
        <p:spPr>
          <a:xfrm>
            <a:off x="3611880" y="3584448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Keep the listener's language loaded; small fast voices for hi/gu/or/en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411480" y="4187952"/>
            <a:ext cx="649224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6" name="Picture 17445" descr="database-s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0352" y="4334256"/>
            <a:ext cx="256032" cy="256032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877824" y="4187952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</a:rPr>
              <a:t>1.14 GB of speech models</a:t>
            </a:r>
          </a:p>
        </p:txBody>
      </p:sp>
      <p:cxnSp>
        <p:nvCxnSpPr>
          <p:cNvPr id="17448" name="Connector 17447"/>
          <p:cNvCxnSpPr/>
          <p:nvPr/>
        </p:nvCxnSpPr>
        <p:spPr>
          <a:xfrm>
            <a:off x="3310128" y="4462272"/>
            <a:ext cx="237744" cy="0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9" name="TextBox 17448"/>
          <p:cNvSpPr txBox="1"/>
          <p:nvPr/>
        </p:nvSpPr>
        <p:spPr>
          <a:xfrm>
            <a:off x="3611880" y="418795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Per-language download on demand; installer checks SHA-256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411480" y="4791456"/>
            <a:ext cx="6492240" cy="548640"/>
          </a:xfrm>
          <a:prstGeom prst="roundRect">
            <a:avLst>
              <a:gd name="adj" fmla="val 1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1" name="Picture 17450" descr="bt-s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0352" y="4937760"/>
            <a:ext cx="256032" cy="256032"/>
          </a:xfrm>
          <a:prstGeom prst="rect">
            <a:avLst/>
          </a:prstGeom>
        </p:spPr>
      </p:pic>
      <p:sp>
        <p:nvSpPr>
          <p:cNvPr id="17452" name="TextBox 17451"/>
          <p:cNvSpPr txBox="1"/>
          <p:nvPr/>
        </p:nvSpPr>
        <p:spPr>
          <a:xfrm>
            <a:off x="877824" y="4791456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</a:rPr>
              <a:t>Wi-Fi Direct / BLE: two-phone test pending</a:t>
            </a:r>
          </a:p>
        </p:txBody>
      </p:sp>
      <p:cxnSp>
        <p:nvCxnSpPr>
          <p:cNvPr id="17453" name="Connector 17452"/>
          <p:cNvCxnSpPr/>
          <p:nvPr/>
        </p:nvCxnSpPr>
        <p:spPr>
          <a:xfrm>
            <a:off x="3310128" y="5065776"/>
            <a:ext cx="237744" cy="0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4" name="TextBox 17453"/>
          <p:cNvSpPr txBox="1"/>
          <p:nvPr/>
        </p:nvSpPr>
        <p:spPr>
          <a:xfrm>
            <a:off x="3611880" y="4791456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Two-phone field tests; Wi-Fi stays primary; LoRa bridge for range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411480" y="5394960"/>
            <a:ext cx="649224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6" name="Picture 17455" descr="ear-s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0352" y="5541264"/>
            <a:ext cx="256032" cy="256032"/>
          </a:xfrm>
          <a:prstGeom prst="rect">
            <a:avLst/>
          </a:prstGeom>
        </p:spPr>
      </p:pic>
      <p:sp>
        <p:nvSpPr>
          <p:cNvPr id="17457" name="TextBox 17456"/>
          <p:cNvSpPr txBox="1"/>
          <p:nvPr/>
        </p:nvSpPr>
        <p:spPr>
          <a:xfrm>
            <a:off x="877824" y="539496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</a:rPr>
              <a:t>Noise, accents, code-mixing</a:t>
            </a:r>
          </a:p>
        </p:txBody>
      </p:sp>
      <p:cxnSp>
        <p:nvCxnSpPr>
          <p:cNvPr id="17458" name="Connector 17457"/>
          <p:cNvCxnSpPr/>
          <p:nvPr/>
        </p:nvCxnSpPr>
        <p:spPr>
          <a:xfrm>
            <a:off x="3310128" y="5669280"/>
            <a:ext cx="237744" cy="0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9" name="TextBox 17458"/>
          <p:cNvSpPr txBox="1"/>
          <p:nvPr/>
        </p:nvSpPr>
        <p:spPr>
          <a:xfrm>
            <a:off x="3611880" y="539496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Alert-keyword boosting; 30-clip-per-language test; typed-text fallback</a:t>
            </a:r>
          </a:p>
        </p:txBody>
      </p:sp>
      <p:sp>
        <p:nvSpPr>
          <p:cNvPr id="17460" name="TextBox 17459"/>
          <p:cNvSpPr txBox="1"/>
          <p:nvPr/>
        </p:nvSpPr>
        <p:spPr>
          <a:xfrm>
            <a:off x="7132320" y="327355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2433"/>
                </a:solidFill>
                <a:latin typeface="Arial"/>
              </a:rPr>
              <a:t>Viability</a:t>
            </a:r>
          </a:p>
        </p:txBody>
      </p:sp>
      <p:sp>
        <p:nvSpPr>
          <p:cNvPr id="17461" name="Oval 17460"/>
          <p:cNvSpPr/>
          <p:nvPr/>
        </p:nvSpPr>
        <p:spPr>
          <a:xfrm>
            <a:off x="7123176" y="3611879"/>
            <a:ext cx="329184" cy="32918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2" name="Picture 17461" descr="rupee-whit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95596" y="3684300"/>
            <a:ext cx="184343" cy="184343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7543800" y="3593592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</a:rPr>
              <a:t>₹0 per message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No airtime, SIM, server or cloud fees</a:t>
            </a:r>
          </a:p>
        </p:txBody>
      </p:sp>
      <p:sp>
        <p:nvSpPr>
          <p:cNvPr id="17464" name="Oval 17463"/>
          <p:cNvSpPr/>
          <p:nvPr/>
        </p:nvSpPr>
        <p:spPr>
          <a:xfrm>
            <a:off x="7123176" y="4096512"/>
            <a:ext cx="329184" cy="32918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5" name="Picture 17464" descr="phone-whi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95596" y="4168932"/>
            <a:ext cx="184343" cy="184343"/>
          </a:xfrm>
          <a:prstGeom prst="rect">
            <a:avLst/>
          </a:prstGeom>
        </p:spPr>
      </p:pic>
      <p:sp>
        <p:nvSpPr>
          <p:cNvPr id="17466" name="TextBox 17465"/>
          <p:cNvSpPr txBox="1"/>
          <p:nvPr/>
        </p:nvSpPr>
        <p:spPr>
          <a:xfrm>
            <a:off x="7543800" y="4078224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</a:rPr>
              <a:t>Phones people already own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Android 8.0+; LITE mode for less RAM</a:t>
            </a:r>
          </a:p>
        </p:txBody>
      </p:sp>
      <p:sp>
        <p:nvSpPr>
          <p:cNvPr id="17467" name="Oval 17466"/>
          <p:cNvSpPr/>
          <p:nvPr/>
        </p:nvSpPr>
        <p:spPr>
          <a:xfrm>
            <a:off x="7123176" y="4581144"/>
            <a:ext cx="329184" cy="32918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8" name="Picture 17467" descr="antenna-whit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95596" y="4653564"/>
            <a:ext cx="184343" cy="184343"/>
          </a:xfrm>
          <a:prstGeom prst="rect">
            <a:avLst/>
          </a:prstGeom>
        </p:spPr>
      </p:pic>
      <p:sp>
        <p:nvSpPr>
          <p:cNvPr id="17469" name="TextBox 17468"/>
          <p:cNvSpPr txBox="1"/>
          <p:nvPr/>
        </p:nvSpPr>
        <p:spPr>
          <a:xfrm>
            <a:off x="7543800" y="45628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</a:rPr>
              <a:t>Low-cost range extender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ESP32-S3 + LoRa node ≈ ₹1,900–3,200</a:t>
            </a:r>
          </a:p>
        </p:txBody>
      </p:sp>
      <p:sp>
        <p:nvSpPr>
          <p:cNvPr id="17470" name="Oval 17469"/>
          <p:cNvSpPr/>
          <p:nvPr/>
        </p:nvSpPr>
        <p:spPr>
          <a:xfrm>
            <a:off x="7123176" y="5065776"/>
            <a:ext cx="329184" cy="32918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1" name="Picture 17470" descr="package-whit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195596" y="5138196"/>
            <a:ext cx="184343" cy="184343"/>
          </a:xfrm>
          <a:prstGeom prst="rect">
            <a:avLst/>
          </a:prstGeom>
        </p:spPr>
      </p:pic>
      <p:sp>
        <p:nvSpPr>
          <p:cNvPr id="17472" name="TextBox 17471">
            <a:hlinkClick r:id="rId17"/>
          </p:cNvPr>
          <p:cNvSpPr txBox="1"/>
          <p:nvPr/>
        </p:nvSpPr>
        <p:spPr>
          <a:xfrm>
            <a:off x="7543800" y="5047488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</a:rPr>
              <a:t>Open licences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MIT · Apache-2.0 · CC-BY-4.0 models</a:t>
            </a:r>
          </a:p>
        </p:txBody>
      </p:sp>
      <p:sp>
        <p:nvSpPr>
          <p:cNvPr id="17473" name="Oval 17472"/>
          <p:cNvSpPr/>
          <p:nvPr/>
        </p:nvSpPr>
        <p:spPr>
          <a:xfrm>
            <a:off x="7123176" y="5550408"/>
            <a:ext cx="329184" cy="32918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4" name="Picture 17473" descr="server-whit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95596" y="5622828"/>
            <a:ext cx="184343" cy="184343"/>
          </a:xfrm>
          <a:prstGeom prst="rect">
            <a:avLst/>
          </a:prstGeom>
        </p:spPr>
      </p:pic>
      <p:sp>
        <p:nvSpPr>
          <p:cNvPr id="17475" name="TextBox 17474"/>
          <p:cNvSpPr txBox="1"/>
          <p:nvPr/>
        </p:nvSpPr>
        <p:spPr>
          <a:xfrm>
            <a:off x="7543800" y="5532120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</a:rPr>
              <a:t>Fits India's alert flow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Control room reads CAP 1.2 alert files</a:t>
            </a:r>
          </a:p>
        </p:txBody>
      </p:sp>
      <p:pic>
        <p:nvPicPr>
          <p:cNvPr id="17476" name="Picture 17475" descr="07_metrics.jp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314432" y="3273552"/>
            <a:ext cx="1270684" cy="2724912"/>
          </a:xfrm>
          <a:prstGeom prst="roundRect">
            <a:avLst>
              <a:gd name="adj" fmla="val 8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7477" name="TextBox 17476"/>
          <p:cNvSpPr txBox="1"/>
          <p:nvPr/>
        </p:nvSpPr>
        <p:spPr>
          <a:xfrm>
            <a:off x="10104120" y="6035040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472"/>
                </a:solidFill>
                <a:latin typeface="Arial"/>
              </a:rPr>
              <a:t>In-app metrics (real screen)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433"/>
                </a:solidFill>
                <a:latin typeface="Arial"/>
              </a:rPr>
              <a:t>Potential impact on the target audience</a:t>
            </a:r>
          </a:p>
        </p:txBody>
      </p:sp>
      <p:pic>
        <p:nvPicPr>
          <p:cNvPr id="17411" name="Picture 17410" descr="ndrf.jpg">
            <a:hlinkClick r:id="rId5"/>
          </p:cNvPr>
          <p:cNvPicPr>
            <a:picLocks noChangeAspect="1"/>
          </p:cNvPicPr>
          <p:nvPr/>
        </p:nvPicPr>
        <p:blipFill>
          <a:blip r:embed="rId4"/>
          <a:srcRect t="1580" b="3687"/>
          <a:stretch>
            <a:fillRect/>
          </a:stretch>
        </p:blipFill>
        <p:spPr>
          <a:xfrm>
            <a:off x="411480" y="1517904"/>
            <a:ext cx="2743200" cy="1463040"/>
          </a:xfrm>
          <a:prstGeom prst="rect">
            <a:avLst/>
          </a:prstGeom>
        </p:spPr>
      </p:pic>
      <p:pic>
        <p:nvPicPr>
          <p:cNvPr id="17412" name="Picture 17411" descr="lifebuoy-s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3063240"/>
            <a:ext cx="237744" cy="237744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722376" y="3035808"/>
            <a:ext cx="2432304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Disaster response teams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722376" y="325526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Coordinate rescue by voice when towers and internet are down</a:t>
            </a:r>
          </a:p>
        </p:txBody>
      </p:sp>
      <p:pic>
        <p:nvPicPr>
          <p:cNvPr id="17415" name="Picture 17414" descr="fish.jpg">
            <a:hlinkClick r:id="rId8"/>
          </p:cNvPr>
          <p:cNvPicPr>
            <a:picLocks noChangeAspect="1"/>
          </p:cNvPicPr>
          <p:nvPr/>
        </p:nvPicPr>
        <p:blipFill>
          <a:blip r:embed="rId7"/>
          <a:srcRect t="8667" b="20222"/>
          <a:stretch>
            <a:fillRect/>
          </a:stretch>
        </p:blipFill>
        <p:spPr>
          <a:xfrm>
            <a:off x="3282696" y="1517904"/>
            <a:ext cx="2743200" cy="1463040"/>
          </a:xfrm>
          <a:prstGeom prst="rect">
            <a:avLst/>
          </a:prstGeom>
        </p:spPr>
      </p:pic>
      <p:pic>
        <p:nvPicPr>
          <p:cNvPr id="17416" name="Picture 17415" descr="ship-s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82696" y="3063240"/>
            <a:ext cx="237744" cy="237744"/>
          </a:xfrm>
          <a:prstGeom prst="rect">
            <a:avLst/>
          </a:prstGeom>
        </p:spPr>
      </p:pic>
      <p:sp>
        <p:nvSpPr>
          <p:cNvPr id="17417" name="TextBox 17416"/>
          <p:cNvSpPr txBox="1"/>
          <p:nvPr/>
        </p:nvSpPr>
        <p:spPr>
          <a:xfrm>
            <a:off x="3593592" y="3035808"/>
            <a:ext cx="2432304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Coastal fishing communities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593592" y="325526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Cyclone warnings spoken in their own language, no data plan</a:t>
            </a:r>
          </a:p>
        </p:txBody>
      </p:sp>
      <p:pic>
        <p:nvPicPr>
          <p:cNvPr id="17419" name="Picture 17418" descr="rural2.jpg">
            <a:hlinkClick r:id="rId11"/>
          </p:cNvPr>
          <p:cNvPicPr>
            <a:picLocks noChangeAspect="1"/>
          </p:cNvPicPr>
          <p:nvPr/>
        </p:nvPicPr>
        <p:blipFill>
          <a:blip r:embed="rId10"/>
          <a:srcRect t="8667" b="20222"/>
          <a:stretch>
            <a:fillRect/>
          </a:stretch>
        </p:blipFill>
        <p:spPr>
          <a:xfrm>
            <a:off x="6153912" y="1517904"/>
            <a:ext cx="2743200" cy="1463040"/>
          </a:xfrm>
          <a:prstGeom prst="rect">
            <a:avLst/>
          </a:prstGeom>
        </p:spPr>
      </p:pic>
      <p:pic>
        <p:nvPicPr>
          <p:cNvPr id="17420" name="Picture 17419" descr="ear-s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63240"/>
            <a:ext cx="237744" cy="237744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6464808" y="3035808"/>
            <a:ext cx="2432304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Low-literacy users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464808" y="325526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An alert they can hear instead of read, in 10 languages</a:t>
            </a:r>
          </a:p>
        </p:txBody>
      </p:sp>
      <p:pic>
        <p:nvPicPr>
          <p:cNvPr id="17423" name="Picture 17422" descr="rail.jpg">
            <a:hlinkClick r:id="rId14"/>
          </p:cNvPr>
          <p:cNvPicPr>
            <a:picLocks noChangeAspect="1"/>
          </p:cNvPicPr>
          <p:nvPr/>
        </p:nvPicPr>
        <p:blipFill>
          <a:blip r:embed="rId13"/>
          <a:srcRect t="5962" b="13912"/>
          <a:stretch>
            <a:fillRect/>
          </a:stretch>
        </p:blipFill>
        <p:spPr>
          <a:xfrm>
            <a:off x="9025128" y="1517904"/>
            <a:ext cx="2743200" cy="1463040"/>
          </a:xfrm>
          <a:prstGeom prst="rect">
            <a:avLst/>
          </a:prstGeom>
        </p:spPr>
      </p:pic>
      <p:pic>
        <p:nvPicPr>
          <p:cNvPr id="17424" name="Picture 17423" descr="train-s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5128" y="3063240"/>
            <a:ext cx="237744" cy="237744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9336024" y="3035808"/>
            <a:ext cx="2432304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Remote field staff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9336024" y="325526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A voice link for teams working where coverage is poor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411480" y="3675887"/>
            <a:ext cx="160020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EA580C"/>
                </a:solidFill>
                <a:latin typeface="Arial"/>
              </a:rPr>
              <a:t>≈1,500×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2084832" y="3675887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less data than raw audio*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242816" y="3675887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766E"/>
                </a:solidFill>
                <a:latin typeface="Arial"/>
              </a:rPr>
              <a:t>1.03 s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5413248" y="3675887"/>
            <a:ext cx="251460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ALERT arrival → spoken aloud (Wi-Fi)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8074152" y="3675887"/>
            <a:ext cx="50292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B2433"/>
                </a:solidFill>
                <a:latin typeface="Arial"/>
              </a:rPr>
              <a:t>10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8650224" y="3675887"/>
            <a:ext cx="310896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Indian languages, speech in and out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11480" y="422452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433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411480" y="4535424"/>
            <a:ext cx="3703320" cy="914400"/>
          </a:xfrm>
          <a:prstGeom prst="roundRect">
            <a:avLst>
              <a:gd name="adj" fmla="val 10000"/>
            </a:avLst>
          </a:prstGeom>
          <a:solidFill>
            <a:srgbClr val="FF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Oval 17434"/>
          <p:cNvSpPr/>
          <p:nvPr/>
        </p:nvSpPr>
        <p:spPr>
          <a:xfrm>
            <a:off x="557784" y="4773168"/>
            <a:ext cx="438912" cy="438912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6" name="Picture 17435" descr="heart-whit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4344" y="4869728"/>
            <a:ext cx="245790" cy="245790"/>
          </a:xfrm>
          <a:prstGeom prst="rect">
            <a:avLst/>
          </a:prstGeom>
        </p:spPr>
      </p:pic>
      <p:sp>
        <p:nvSpPr>
          <p:cNvPr id="17437" name="TextBox 17436"/>
          <p:cNvSpPr txBox="1"/>
          <p:nvPr/>
        </p:nvSpPr>
        <p:spPr>
          <a:xfrm>
            <a:off x="1106424" y="459028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EA580C"/>
                </a:solidFill>
                <a:latin typeface="Arial"/>
              </a:rPr>
              <a:t>Social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B2433"/>
                </a:solidFill>
                <a:latin typeface="Arial"/>
              </a:rPr>
              <a:t>Alerts spoken aloud in Indian languages, so people who cannot read are included. SOS carries location to rescuers.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4242816" y="4535424"/>
            <a:ext cx="3703320" cy="914400"/>
          </a:xfrm>
          <a:prstGeom prst="roundRect">
            <a:avLst>
              <a:gd name="adj" fmla="val 1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9" name="Oval 17438"/>
          <p:cNvSpPr/>
          <p:nvPr/>
        </p:nvSpPr>
        <p:spPr>
          <a:xfrm>
            <a:off x="4389120" y="4773168"/>
            <a:ext cx="438912" cy="438912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0" name="Picture 17439" descr="rupee-whi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85680" y="4869728"/>
            <a:ext cx="245790" cy="245790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4937760" y="459028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F766E"/>
                </a:solidFill>
                <a:latin typeface="Arial"/>
              </a:rPr>
              <a:t>Economic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B2433"/>
                </a:solidFill>
                <a:latin typeface="Arial"/>
              </a:rPr>
              <a:t>No airtime, cloud or licence fees. Runs on phones people already own; a LoRa node costs ≈ ₹1,900–3,200.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8074152" y="4535424"/>
            <a:ext cx="3703320" cy="914400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Oval 17442"/>
          <p:cNvSpPr/>
          <p:nvPr/>
        </p:nvSpPr>
        <p:spPr>
          <a:xfrm>
            <a:off x="8220456" y="4773168"/>
            <a:ext cx="438912" cy="438912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4" name="Picture 17443" descr="leaf-whit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17016" y="4869728"/>
            <a:ext cx="245790" cy="245790"/>
          </a:xfrm>
          <a:prstGeom prst="rect">
            <a:avLst/>
          </a:prstGeom>
        </p:spPr>
      </p:pic>
      <p:sp>
        <p:nvSpPr>
          <p:cNvPr id="17445" name="TextBox 17444"/>
          <p:cNvSpPr txBox="1"/>
          <p:nvPr/>
        </p:nvSpPr>
        <p:spPr>
          <a:xfrm>
            <a:off x="8769096" y="459028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5803D"/>
                </a:solidFill>
                <a:latin typeface="Arial"/>
              </a:rPr>
              <a:t>Environmental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B2433"/>
                </a:solidFill>
                <a:latin typeface="Arial"/>
              </a:rPr>
              <a:t>Fewer bytes per message means less radio time on air. Battery gain not yet measured.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411480" y="5522976"/>
            <a:ext cx="1133856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F766E"/>
                </a:solidFill>
                <a:latin typeface="Arial"/>
              </a:rPr>
              <a:t>Fits India's alert system: </a:t>
            </a:r>
            <a:r>
              <a:rPr sz="1000" b="0" i="0">
                <a:solidFill>
                  <a:srgbClr val="1B2433"/>
                </a:solidFill>
                <a:latin typeface="Arial"/>
              </a:rPr>
              <a:t>the control room reads CAP 1.2 alert files — the format behind </a:t>
            </a:r>
            <a:r>
              <a:rPr sz="1000" b="1" i="0">
                <a:solidFill>
                  <a:srgbClr val="0F766E"/>
                </a:solidFill>
                <a:latin typeface="Arial"/>
                <a:hlinkClick r:id="rId19"/>
              </a:rPr>
              <a:t>NDMA SACHET</a:t>
            </a:r>
            <a:r>
              <a:rPr sz="1000" b="0" i="0">
                <a:solidFill>
                  <a:srgbClr val="1B2433"/>
                </a:solidFill>
                <a:latin typeface="Arial"/>
              </a:rPr>
              <a:t> — and re-broadcasts them as spoken alerts in each listener's language.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411480" y="5833872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1">
                <a:solidFill>
                  <a:srgbClr val="5B6472"/>
                </a:solidFill>
                <a:latin typeface="Arial"/>
              </a:rPr>
              <a:t>*62 B per ~3 s sentence (unit-test median) vs 256 kbps raw audio. No field pilot yet.</a:t>
            </a:r>
          </a:p>
          <a:p>
            <a:pPr algn="l">
              <a:spcAft>
                <a:spcPts val="0"/>
              </a:spcAft>
            </a:pPr>
            <a:r>
              <a:rPr sz="850" b="0" i="1">
                <a:solidFill>
                  <a:srgbClr val="5B6472"/>
                </a:solidFill>
                <a:latin typeface="Arial"/>
              </a:rPr>
              <a:t>Photos, Wikimedia Commons: </a:t>
            </a:r>
            <a:r>
              <a:rPr sz="850" b="0" i="1">
                <a:solidFill>
                  <a:srgbClr val="0F766E"/>
                </a:solidFill>
                <a:latin typeface="Arial"/>
                <a:hlinkClick r:id="rId5"/>
              </a:rPr>
              <a:t>NDRF – MHA, GODL-India</a:t>
            </a:r>
            <a:r>
              <a:rPr sz="850" b="0" i="0">
                <a:solidFill>
                  <a:srgbClr val="5B6472"/>
                </a:solidFill>
                <a:latin typeface="Arial"/>
              </a:rPr>
              <a:t> · </a:t>
            </a:r>
            <a:r>
              <a:rPr sz="850" b="0" i="1">
                <a:solidFill>
                  <a:srgbClr val="0F766E"/>
                </a:solidFill>
                <a:latin typeface="Arial"/>
                <a:hlinkClick r:id="rId8"/>
              </a:rPr>
              <a:t>fishermen – Saral Shots, CC0</a:t>
            </a:r>
            <a:r>
              <a:rPr sz="850" b="0" i="0">
                <a:solidFill>
                  <a:srgbClr val="5B6472"/>
                </a:solidFill>
                <a:latin typeface="Arial"/>
              </a:rPr>
              <a:t> · </a:t>
            </a:r>
            <a:r>
              <a:rPr sz="850" b="0" i="1">
                <a:solidFill>
                  <a:srgbClr val="0F766E"/>
                </a:solidFill>
                <a:latin typeface="Arial"/>
                <a:hlinkClick r:id="rId11"/>
              </a:rPr>
              <a:t>woman on phone – Ammalu, CC BY-SA 3.0</a:t>
            </a:r>
            <a:r>
              <a:rPr sz="850" b="0" i="0">
                <a:solidFill>
                  <a:srgbClr val="5B6472"/>
                </a:solidFill>
                <a:latin typeface="Arial"/>
              </a:rPr>
              <a:t> · </a:t>
            </a:r>
            <a:r>
              <a:rPr sz="850" b="0" i="1">
                <a:solidFill>
                  <a:srgbClr val="0F766E"/>
                </a:solidFill>
                <a:latin typeface="Arial"/>
                <a:hlinkClick r:id="rId14"/>
              </a:rPr>
              <a:t>rail workers – David Brossard, CC BY-SA 2.0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433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1572768"/>
            <a:ext cx="2926080" cy="2651760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Oval 17411"/>
          <p:cNvSpPr/>
          <p:nvPr/>
        </p:nvSpPr>
        <p:spPr>
          <a:xfrm>
            <a:off x="502920" y="1664208"/>
            <a:ext cx="365760" cy="36576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brain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387" y="1744675"/>
            <a:ext cx="204825" cy="204825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960120" y="1728216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A580C"/>
                </a:solidFill>
                <a:latin typeface="Arial"/>
              </a:rPr>
              <a:t>Open models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94360" y="212140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5"/>
              </a:rPr>
              <a:t>SraVaani-1.0 STT · ARTPARK, IISc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5"/>
              </a:rPr>
              <a:t>huggingface.co/ARTPARK-IISc/SraVaani-1.0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94360" y="253288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6"/>
              </a:rPr>
              <a:t>Indic-Mio TTS · SPRING Lab, IIT-M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6"/>
              </a:rPr>
              <a:t>huggingface.co/SPRINGLab/Indic-Mio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94360" y="294436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7"/>
              </a:rPr>
              <a:t>VITS Rasa 13 TTS · AI4Bharat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7"/>
              </a:rPr>
              <a:t>huggingface.co/ai4bharat/vits_rasa_13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94360" y="335584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8"/>
              </a:rPr>
              <a:t>Silero VAD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8"/>
              </a:rPr>
              <a:t>github.com/snakers4/silero-vad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594360" y="376732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9"/>
              </a:rPr>
              <a:t>IndicTrans2 (planned translation) · AI4Bharat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9"/>
              </a:rPr>
              <a:t>github.com/AI4Bharat/IndicTrans2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429000" y="1572768"/>
            <a:ext cx="2926080" cy="2651760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Oval 17420"/>
          <p:cNvSpPr/>
          <p:nvPr/>
        </p:nvSpPr>
        <p:spPr>
          <a:xfrm>
            <a:off x="3520439" y="1664208"/>
            <a:ext cx="365760" cy="3657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2" name="Picture 17421" descr="code-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00907" y="1744675"/>
            <a:ext cx="204825" cy="204825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3977639" y="1728216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766E"/>
                </a:solidFill>
                <a:latin typeface="Arial"/>
              </a:rPr>
              <a:t>Runtimes and libraries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3611880" y="212140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11"/>
              </a:rPr>
              <a:t>sherpa-onnx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11"/>
              </a:rPr>
              <a:t>github.com/k2-fsa/sherpa-onnx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611880" y="253288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12"/>
              </a:rPr>
              <a:t>llama.cpp / ggml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12"/>
              </a:rPr>
              <a:t>github.com/ggml-org/llama.cpp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3611880" y="294436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13"/>
              </a:rPr>
              <a:t>mio-tts-cpp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13"/>
              </a:rPr>
              <a:t>github.com/mmnga/mio-tts-cpp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3611880" y="335584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14"/>
              </a:rPr>
              <a:t>Bouncy Castle (encryption)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14"/>
              </a:rPr>
              <a:t>www.bouncycastle.org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3611880" y="376732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15"/>
              </a:rPr>
              <a:t>RadioLib (LoRa)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15"/>
              </a:rPr>
              <a:t>github.com/jgromes/RadioLib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6446520" y="1572768"/>
            <a:ext cx="2926080" cy="2651760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Oval 17429"/>
          <p:cNvSpPr/>
          <p:nvPr/>
        </p:nvSpPr>
        <p:spPr>
          <a:xfrm>
            <a:off x="6537959" y="1664208"/>
            <a:ext cx="365760" cy="365760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1" name="Picture 17430" descr="book-whit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18427" y="1744675"/>
            <a:ext cx="204825" cy="204825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6995159" y="1728216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2433"/>
                </a:solidFill>
                <a:latin typeface="Arial"/>
              </a:rPr>
              <a:t>Standards and data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6629400" y="212140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17"/>
              </a:rPr>
              <a:t>OASIS CAP 1.2 alerts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17"/>
              </a:rPr>
              <a:t>docs.oasis-open.org/emergency/cap/v1.2/CAP-v1.2.html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6629400" y="253288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18"/>
              </a:rPr>
              <a:t>NDMA SACHET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18"/>
              </a:rPr>
              <a:t>sachet.ndma.gov.in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6629400" y="294436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19"/>
              </a:rPr>
              <a:t>Google FLEURS (STT test set)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19"/>
              </a:rPr>
              <a:t>huggingface.co/datasets/google/fleurs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6629400" y="335584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20"/>
              </a:rPr>
              <a:t>Codec2 (bitrate baseline)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20"/>
              </a:rPr>
              <a:t>github.com/drowe67/codec2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629400" y="376732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21"/>
              </a:rPr>
              <a:t>Meshtastic (LoRa mesh)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21"/>
              </a:rPr>
              <a:t>meshtastic.org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411480" y="4315968"/>
            <a:ext cx="3566160" cy="1901952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9" name="Oval 17438"/>
          <p:cNvSpPr/>
          <p:nvPr/>
        </p:nvSpPr>
        <p:spPr>
          <a:xfrm>
            <a:off x="502920" y="4407407"/>
            <a:ext cx="365760" cy="365760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0" name="Picture 17439" descr="android-whit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83387" y="4487875"/>
            <a:ext cx="204825" cy="204825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960120" y="4471416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2433"/>
                </a:solidFill>
                <a:latin typeface="Arial"/>
              </a:rPr>
              <a:t>Android guides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594360" y="4864607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23"/>
              </a:rPr>
              <a:t>Wi-Fi Direct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23"/>
              </a:rPr>
              <a:t>developer.android.com/develop/connectivity/wifi/wifi-direct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594360" y="5294375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24"/>
              </a:rPr>
              <a:t>Bluetooth and BLE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24"/>
              </a:rPr>
              <a:t>developer.android.com/develop/connectivity/bluetooth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594360" y="5724144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25"/>
              </a:rPr>
              <a:t>Audio focus (ALERT)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25"/>
              </a:rPr>
              <a:t>developer.android.com/media/optimize/audio-focus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4069080" y="4315968"/>
            <a:ext cx="5303520" cy="1901952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Oval 17445"/>
          <p:cNvSpPr/>
          <p:nvPr/>
        </p:nvSpPr>
        <p:spPr>
          <a:xfrm>
            <a:off x="4160520" y="4407407"/>
            <a:ext cx="365760" cy="36576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7" name="Picture 17446" descr="github-whit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240987" y="4487875"/>
            <a:ext cx="204825" cy="204825"/>
          </a:xfrm>
          <a:prstGeom prst="rect">
            <a:avLst/>
          </a:prstGeom>
        </p:spPr>
      </p:pic>
      <p:sp>
        <p:nvSpPr>
          <p:cNvPr id="17448" name="TextBox 17447"/>
          <p:cNvSpPr txBox="1"/>
          <p:nvPr/>
        </p:nvSpPr>
        <p:spPr>
          <a:xfrm>
            <a:off x="4617720" y="447141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5803D"/>
                </a:solidFill>
                <a:latin typeface="Arial"/>
              </a:rPr>
              <a:t>Our work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4251960" y="4864607"/>
            <a:ext cx="24231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27"/>
              </a:rPr>
              <a:t>Source code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27"/>
              </a:rPr>
              <a:t>github.com/prasadxa/itantra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4251960" y="5294375"/>
            <a:ext cx="24231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28"/>
              </a:rPr>
              <a:t>4 GB-class memory test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28"/>
              </a:rPr>
              <a:t>github.com/prasadxa/itantra/tree/main/tools/lowram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4251960" y="5724144"/>
            <a:ext cx="24231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29"/>
              </a:rPr>
              <a:t>Model pack (1.2 GB)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29"/>
              </a:rPr>
              <a:t>r2.dev/models/v1/manifest.json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6858000" y="4864607"/>
            <a:ext cx="24231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30"/>
              </a:rPr>
              <a:t>Website and results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30"/>
              </a:rPr>
              <a:t>itantra-106.pages.dev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6858000" y="5294375"/>
            <a:ext cx="24231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31"/>
              </a:rPr>
              <a:t>Demo film, 1 min 55 s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31"/>
              </a:rPr>
              <a:t>itantra-106.pages.dev/demo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6858000" y="5724144"/>
            <a:ext cx="24231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32"/>
              </a:rPr>
              <a:t>Reviewer install guide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32"/>
              </a:rPr>
              <a:t>itantra-106.pages.dev/#try</a:t>
            </a:r>
          </a:p>
        </p:txBody>
      </p:sp>
      <p:sp>
        <p:nvSpPr>
          <p:cNvPr id="17455" name="Rounded Rectangle 17454">
            <a:hlinkClick r:id="rId33"/>
          </p:cNvPr>
          <p:cNvSpPr/>
          <p:nvPr/>
        </p:nvSpPr>
        <p:spPr>
          <a:xfrm>
            <a:off x="9509760" y="1572768"/>
            <a:ext cx="2267712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6" name="Picture 17455" descr="qr-site.png">
            <a:hlinkClick r:id="rId33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601200" y="1655064"/>
            <a:ext cx="914400" cy="914400"/>
          </a:xfrm>
          <a:prstGeom prst="rect">
            <a:avLst/>
          </a:prstGeom>
        </p:spPr>
      </p:pic>
      <p:sp>
        <p:nvSpPr>
          <p:cNvPr id="17457" name="TextBox 17456"/>
          <p:cNvSpPr txBox="1"/>
          <p:nvPr/>
        </p:nvSpPr>
        <p:spPr>
          <a:xfrm>
            <a:off x="10607040" y="1572768"/>
            <a:ext cx="114300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  <a:hlinkClick r:id="rId33"/>
              </a:rPr>
              <a:t>Website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overview · results</a:t>
            </a:r>
          </a:p>
        </p:txBody>
      </p:sp>
      <p:sp>
        <p:nvSpPr>
          <p:cNvPr id="17458" name="Rounded Rectangle 17457">
            <a:hlinkClick r:id="rId35"/>
          </p:cNvPr>
          <p:cNvSpPr/>
          <p:nvPr/>
        </p:nvSpPr>
        <p:spPr>
          <a:xfrm>
            <a:off x="9509760" y="2743200"/>
            <a:ext cx="2267712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9" name="Picture 17458" descr="qr-demo.png">
            <a:hlinkClick r:id="rId35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601200" y="2825496"/>
            <a:ext cx="914400" cy="914400"/>
          </a:xfrm>
          <a:prstGeom prst="rect">
            <a:avLst/>
          </a:prstGeom>
        </p:spPr>
      </p:pic>
      <p:sp>
        <p:nvSpPr>
          <p:cNvPr id="17460" name="TextBox 17459"/>
          <p:cNvSpPr txBox="1"/>
          <p:nvPr/>
        </p:nvSpPr>
        <p:spPr>
          <a:xfrm>
            <a:off x="10607040" y="2743200"/>
            <a:ext cx="114300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  <a:hlinkClick r:id="rId35"/>
              </a:rPr>
              <a:t>Demo film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1 min 55 s</a:t>
            </a:r>
          </a:p>
        </p:txBody>
      </p:sp>
      <p:sp>
        <p:nvSpPr>
          <p:cNvPr id="17461" name="Rounded Rectangle 17460">
            <a:hlinkClick r:id="rId27"/>
          </p:cNvPr>
          <p:cNvSpPr/>
          <p:nvPr/>
        </p:nvSpPr>
        <p:spPr>
          <a:xfrm>
            <a:off x="9509760" y="3913632"/>
            <a:ext cx="2267712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2" name="Picture 17461" descr="qr-github.png">
            <a:hlinkClick r:id="rId27"/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601200" y="3995928"/>
            <a:ext cx="914400" cy="914400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10607040" y="3913632"/>
            <a:ext cx="114300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  <a:hlinkClick r:id="rId27"/>
              </a:rPr>
              <a:t>Code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GitHub</a:t>
            </a:r>
          </a:p>
        </p:txBody>
      </p:sp>
      <p:sp>
        <p:nvSpPr>
          <p:cNvPr id="17464" name="Rounded Rectangle 17463">
            <a:hlinkClick r:id="rId38"/>
          </p:cNvPr>
          <p:cNvSpPr/>
          <p:nvPr/>
        </p:nvSpPr>
        <p:spPr>
          <a:xfrm>
            <a:off x="9509760" y="5084064"/>
            <a:ext cx="2267712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5" name="Picture 17464" descr="qr-apk.png">
            <a:hlinkClick r:id="rId38"/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601200" y="5166359"/>
            <a:ext cx="914400" cy="914400"/>
          </a:xfrm>
          <a:prstGeom prst="rect">
            <a:avLst/>
          </a:prstGeom>
        </p:spPr>
      </p:pic>
      <p:sp>
        <p:nvSpPr>
          <p:cNvPr id="17466" name="TextBox 17465"/>
          <p:cNvSpPr txBox="1"/>
          <p:nvPr/>
        </p:nvSpPr>
        <p:spPr>
          <a:xfrm>
            <a:off x="10607040" y="5084064"/>
            <a:ext cx="114300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  <a:hlinkClick r:id="rId38"/>
              </a:rPr>
              <a:t>APK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Android 8+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