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9"/>
  </p:notesMasterIdLst>
  <p:sldIdLst>
    <p:sldId id="291" r:id="rId2"/>
    <p:sldId id="281" r:id="rId3"/>
    <p:sldId id="290" r:id="rId4"/>
    <p:sldId id="293" r:id="rId5"/>
    <p:sldId id="294" r:id="rId6"/>
    <p:sldId id="296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8" d="100"/>
          <a:sy n="68" d="100"/>
        </p:scale>
        <p:origin x="792" y="7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bps</c:v>
                </c:pt>
              </c:strCache>
            </c:strRef>
          </c:tx>
          <c:dPt>
            <c:idx val="0"/>
            <c:spPr>
              <a:solidFill>
                <a:srgbClr val="9AA3AF"/>
              </a:solidFill>
            </c:spPr>
          </c:dPt>
          <c:dPt>
            <c:idx val="1"/>
            <c:spPr>
              <a:solidFill>
                <a:srgbClr val="9AA3AF"/>
              </a:solidFill>
            </c:spPr>
          </c:dPt>
          <c:dPt>
            <c:idx val="2"/>
            <c:spPr>
              <a:solidFill>
                <a:srgbClr val="EA580C"/>
              </a:solidFill>
            </c:spPr>
          </c:dPt>
          <c:cat>
            <c:strRef>
              <c:f>Sheet1!$A$2:$A$4</c:f>
              <c:strCache>
                <c:ptCount val="3"/>
                <c:pt idx="0">
                  <c:v>Raw audio</c:v>
                </c:pt>
                <c:pt idx="1">
                  <c:v>Opus voice</c:v>
                </c:pt>
                <c:pt idx="2">
                  <c:v>iTantra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256000</c:v>
                </c:pt>
                <c:pt idx="1">
                  <c:v>12000</c:v>
                </c:pt>
                <c:pt idx="2">
                  <c:v>165</c:v>
                </c:pt>
              </c:numCache>
            </c:numRef>
          </c:val>
        </c:ser>
        <c:dLbls>
          <c:numFmt formatCode="[&gt;=1000]0,&quot;k&quot;;0" sourceLinked="0"/>
          <c:txPr>
            <a:bodyPr/>
            <a:lstStyle/>
            <a:p>
              <a:pPr>
                <a:defRPr sz="900" b="1">
                  <a:solidFill>
                    <a:srgbClr val="1B2433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45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900">
                <a:solidFill>
                  <a:srgbClr val="1B2433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logBase val="10"/>
          <c:max val="100000000.0"/>
          <c:min val="10.0"/>
        </c:scaling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6/2/2026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6/2/2026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6/2/2026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6/2/2026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hyperlink" Target="https://itantra-106.pages.dev/" TargetMode="External"/><Relationship Id="rId5" Type="http://schemas.openxmlformats.org/officeDocument/2006/relationships/image" Target="../media/image3.png"/><Relationship Id="rId6" Type="http://schemas.openxmlformats.org/officeDocument/2006/relationships/hyperlink" Target="https://itantra-106.pages.dev/demo/" TargetMode="External"/><Relationship Id="rId7" Type="http://schemas.openxmlformats.org/officeDocument/2006/relationships/image" Target="../media/image4.png"/><Relationship Id="rId8" Type="http://schemas.openxmlformats.org/officeDocument/2006/relationships/hyperlink" Target="https://github.com/prasadxa/itantra" TargetMode="External"/><Relationship Id="rId9" Type="http://schemas.openxmlformats.org/officeDocument/2006/relationships/image" Target="../media/image5.png"/><Relationship Id="rId10" Type="http://schemas.openxmlformats.org/officeDocument/2006/relationships/hyperlink" Target="https://pub-d139da76dbb3434bbcb332e210a95fcf.r2.dev/apk/iTantra-0.1.0-debug.apk" TargetMode="External"/><Relationship Id="rId11" Type="http://schemas.openxmlformats.org/officeDocument/2006/relationships/image" Target="../media/image6.png"/><Relationship Id="rId12" Type="http://schemas.openxmlformats.org/officeDocument/2006/relationships/image" Target="../media/image7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8.png"/><Relationship Id="rId5" Type="http://schemas.openxmlformats.org/officeDocument/2006/relationships/image" Target="../media/image9.png"/><Relationship Id="rId6" Type="http://schemas.openxmlformats.org/officeDocument/2006/relationships/image" Target="../media/image10.png"/><Relationship Id="rId7" Type="http://schemas.openxmlformats.org/officeDocument/2006/relationships/image" Target="../media/image11.png"/><Relationship Id="rId8" Type="http://schemas.openxmlformats.org/officeDocument/2006/relationships/image" Target="../media/image12.png"/><Relationship Id="rId9" Type="http://schemas.openxmlformats.org/officeDocument/2006/relationships/chart" Target="../charts/chart1.xml"/><Relationship Id="rId10" Type="http://schemas.openxmlformats.org/officeDocument/2006/relationships/image" Target="../media/image13.jpg"/><Relationship Id="rId11" Type="http://schemas.openxmlformats.org/officeDocument/2006/relationships/hyperlink" Target="https://itantra-106.pages.dev/demo/" TargetMode="External"/><Relationship Id="rId12" Type="http://schemas.openxmlformats.org/officeDocument/2006/relationships/image" Target="../media/image14.jpg"/><Relationship Id="rId13" Type="http://schemas.openxmlformats.org/officeDocument/2006/relationships/image" Target="../media/image15.png"/><Relationship Id="rId14" Type="http://schemas.openxmlformats.org/officeDocument/2006/relationships/hyperlink" Target="https://itantra-106.pages.dev/" TargetMode="Externa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16.png"/><Relationship Id="rId5" Type="http://schemas.openxmlformats.org/officeDocument/2006/relationships/image" Target="../media/image17.png"/><Relationship Id="rId6" Type="http://schemas.openxmlformats.org/officeDocument/2006/relationships/image" Target="../media/image18.png"/><Relationship Id="rId7" Type="http://schemas.openxmlformats.org/officeDocument/2006/relationships/image" Target="../media/image19.png"/><Relationship Id="rId8" Type="http://schemas.openxmlformats.org/officeDocument/2006/relationships/image" Target="../media/image20.png"/><Relationship Id="rId9" Type="http://schemas.openxmlformats.org/officeDocument/2006/relationships/image" Target="../media/image21.png"/><Relationship Id="rId10" Type="http://schemas.openxmlformats.org/officeDocument/2006/relationships/image" Target="../media/image22.png"/><Relationship Id="rId11" Type="http://schemas.openxmlformats.org/officeDocument/2006/relationships/image" Target="../media/image23.png"/><Relationship Id="rId12" Type="http://schemas.openxmlformats.org/officeDocument/2006/relationships/image" Target="../media/image24.png"/><Relationship Id="rId13" Type="http://schemas.openxmlformats.org/officeDocument/2006/relationships/image" Target="../media/image25.png"/><Relationship Id="rId14" Type="http://schemas.openxmlformats.org/officeDocument/2006/relationships/image" Target="../media/image26.png"/><Relationship Id="rId15" Type="http://schemas.openxmlformats.org/officeDocument/2006/relationships/image" Target="../media/image27.png"/><Relationship Id="rId16" Type="http://schemas.openxmlformats.org/officeDocument/2006/relationships/image" Target="../media/image28.jpg"/><Relationship Id="rId17" Type="http://schemas.openxmlformats.org/officeDocument/2006/relationships/hyperlink" Target="https://itantra-106.pages.dev/" TargetMode="External"/><Relationship Id="rId18" Type="http://schemas.openxmlformats.org/officeDocument/2006/relationships/image" Target="../media/image29.jpg"/><Relationship Id="rId19" Type="http://schemas.openxmlformats.org/officeDocument/2006/relationships/image" Target="../media/image30.jpg"/><Relationship Id="rId20" Type="http://schemas.openxmlformats.org/officeDocument/2006/relationships/hyperlink" Target="https://itantra-106.pages.dev/#try" TargetMode="External"/><Relationship Id="rId21" Type="http://schemas.openxmlformats.org/officeDocument/2006/relationships/image" Target="../media/image6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31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image" Target="../media/image32.jpg"/><Relationship Id="rId5" Type="http://schemas.openxmlformats.org/officeDocument/2006/relationships/hyperlink" Target="https://commons.wikimedia.org/wiki/File:The_NDRF_teams_carrying_out_rescue_and_relief_operations_in_flood-affected_areas_of_Kerala_on_August_11,_2018.JPG" TargetMode="External"/><Relationship Id="rId6" Type="http://schemas.openxmlformats.org/officeDocument/2006/relationships/image" Target="../media/image33.jpg"/><Relationship Id="rId7" Type="http://schemas.openxmlformats.org/officeDocument/2006/relationships/hyperlink" Target="https://commons.wikimedia.org/wiki/File:Fishermen_in_sea.jpg" TargetMode="External"/><Relationship Id="rId8" Type="http://schemas.openxmlformats.org/officeDocument/2006/relationships/image" Target="../media/image34.jpg"/><Relationship Id="rId9" Type="http://schemas.openxmlformats.org/officeDocument/2006/relationships/hyperlink" Target="https://commons.wikimedia.org/wiki/File:Tamil_rural_woman_with_a_mobile_phone_facility.jpg" TargetMode="External"/><Relationship Id="rId10" Type="http://schemas.openxmlformats.org/officeDocument/2006/relationships/image" Target="../media/image35.jpg"/><Relationship Id="rId11" Type="http://schemas.openxmlformats.org/officeDocument/2006/relationships/hyperlink" Target="https://commons.wikimedia.org/wiki/File:Rail_workers_-_Bina_Etawa_Junction_Station_-_India_(4609971779).jpg" TargetMode="External"/><Relationship Id="rId12" Type="http://schemas.openxmlformats.org/officeDocument/2006/relationships/image" Target="../media/image36.png"/><Relationship Id="rId13" Type="http://schemas.openxmlformats.org/officeDocument/2006/relationships/image" Target="../media/image37.png"/><Relationship Id="rId14" Type="http://schemas.openxmlformats.org/officeDocument/2006/relationships/image" Target="../media/image38.png"/><Relationship Id="rId15" Type="http://schemas.openxmlformats.org/officeDocument/2006/relationships/hyperlink" Target="https://sachet.ndma.gov.in/" TargetMode="Externa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Relationship Id="rId4" Type="http://schemas.openxmlformats.org/officeDocument/2006/relationships/image" Target="../media/image39.png"/><Relationship Id="rId5" Type="http://schemas.openxmlformats.org/officeDocument/2006/relationships/hyperlink" Target="https://huggingface.co/ARTPARK-IISc/SraVaani-1.0" TargetMode="External"/><Relationship Id="rId6" Type="http://schemas.openxmlformats.org/officeDocument/2006/relationships/hyperlink" Target="https://huggingface.co/SPRINGLab/Indic-Mio" TargetMode="External"/><Relationship Id="rId7" Type="http://schemas.openxmlformats.org/officeDocument/2006/relationships/hyperlink" Target="https://huggingface.co/ai4bharat/vits_rasa_13" TargetMode="External"/><Relationship Id="rId8" Type="http://schemas.openxmlformats.org/officeDocument/2006/relationships/hyperlink" Target="https://github.com/snakers4/silero-vad" TargetMode="External"/><Relationship Id="rId9" Type="http://schemas.openxmlformats.org/officeDocument/2006/relationships/hyperlink" Target="https://github.com/AI4Bharat/IndicTrans2" TargetMode="External"/><Relationship Id="rId10" Type="http://schemas.openxmlformats.org/officeDocument/2006/relationships/image" Target="../media/image40.png"/><Relationship Id="rId11" Type="http://schemas.openxmlformats.org/officeDocument/2006/relationships/hyperlink" Target="https://github.com/k2-fsa/sherpa-onnx" TargetMode="External"/><Relationship Id="rId12" Type="http://schemas.openxmlformats.org/officeDocument/2006/relationships/hyperlink" Target="https://github.com/ggml-org/llama.cpp" TargetMode="External"/><Relationship Id="rId13" Type="http://schemas.openxmlformats.org/officeDocument/2006/relationships/hyperlink" Target="https://github.com/mmnga/mio-tts-cpp" TargetMode="External"/><Relationship Id="rId14" Type="http://schemas.openxmlformats.org/officeDocument/2006/relationships/hyperlink" Target="https://www.bouncycastle.org" TargetMode="External"/><Relationship Id="rId15" Type="http://schemas.openxmlformats.org/officeDocument/2006/relationships/hyperlink" Target="https://github.com/jgromes/RadioLib" TargetMode="External"/><Relationship Id="rId16" Type="http://schemas.openxmlformats.org/officeDocument/2006/relationships/image" Target="../media/image41.png"/><Relationship Id="rId17" Type="http://schemas.openxmlformats.org/officeDocument/2006/relationships/hyperlink" Target="https://docs.oasis-open.org/emergency/cap/v1.2/CAP-v1.2.html" TargetMode="External"/><Relationship Id="rId18" Type="http://schemas.openxmlformats.org/officeDocument/2006/relationships/hyperlink" Target="https://sachet.ndma.gov.in" TargetMode="External"/><Relationship Id="rId19" Type="http://schemas.openxmlformats.org/officeDocument/2006/relationships/hyperlink" Target="https://huggingface.co/datasets/google/fleurs" TargetMode="External"/><Relationship Id="rId20" Type="http://schemas.openxmlformats.org/officeDocument/2006/relationships/hyperlink" Target="https://github.com/drowe67/codec2" TargetMode="External"/><Relationship Id="rId21" Type="http://schemas.openxmlformats.org/officeDocument/2006/relationships/hyperlink" Target="https://meshtastic.org" TargetMode="External"/><Relationship Id="rId22" Type="http://schemas.openxmlformats.org/officeDocument/2006/relationships/image" Target="../media/image42.png"/><Relationship Id="rId23" Type="http://schemas.openxmlformats.org/officeDocument/2006/relationships/hyperlink" Target="https://developer.android.com/develop/connectivity/wifi/wifi-direct" TargetMode="External"/><Relationship Id="rId24" Type="http://schemas.openxmlformats.org/officeDocument/2006/relationships/hyperlink" Target="https://developer.android.com/develop/connectivity/bluetooth" TargetMode="External"/><Relationship Id="rId25" Type="http://schemas.openxmlformats.org/officeDocument/2006/relationships/hyperlink" Target="https://developer.android.com/media/optimize/audio-focus" TargetMode="External"/><Relationship Id="rId26" Type="http://schemas.openxmlformats.org/officeDocument/2006/relationships/image" Target="../media/image43.png"/><Relationship Id="rId27" Type="http://schemas.openxmlformats.org/officeDocument/2006/relationships/hyperlink" Target="https://github.com/prasadxa/itantra" TargetMode="External"/><Relationship Id="rId28" Type="http://schemas.openxmlformats.org/officeDocument/2006/relationships/hyperlink" Target="https://github.com/prasadxa/itantra/tree/main/tools/lowram" TargetMode="External"/><Relationship Id="rId29" Type="http://schemas.openxmlformats.org/officeDocument/2006/relationships/hyperlink" Target="https://pub-d139da76dbb3434bbcb332e210a95fcf.r2.dev/models/v1/manifest.json" TargetMode="External"/><Relationship Id="rId30" Type="http://schemas.openxmlformats.org/officeDocument/2006/relationships/hyperlink" Target="https://itantra-106.pages.dev" TargetMode="External"/><Relationship Id="rId31" Type="http://schemas.openxmlformats.org/officeDocument/2006/relationships/hyperlink" Target="https://itantra-106.pages.dev/demo" TargetMode="External"/><Relationship Id="rId32" Type="http://schemas.openxmlformats.org/officeDocument/2006/relationships/hyperlink" Target="https://itantra-106.pages.dev/#try" TargetMode="External"/><Relationship Id="rId33" Type="http://schemas.openxmlformats.org/officeDocument/2006/relationships/hyperlink" Target="https://itantra-106.pages.dev/" TargetMode="External"/><Relationship Id="rId34" Type="http://schemas.openxmlformats.org/officeDocument/2006/relationships/image" Target="../media/image44.png"/><Relationship Id="rId35" Type="http://schemas.openxmlformats.org/officeDocument/2006/relationships/hyperlink" Target="https://itantra-106.pages.dev/demo/" TargetMode="External"/><Relationship Id="rId36" Type="http://schemas.openxmlformats.org/officeDocument/2006/relationships/image" Target="../media/image45.png"/><Relationship Id="rId37" Type="http://schemas.openxmlformats.org/officeDocument/2006/relationships/image" Target="../media/image46.png"/><Relationship Id="rId38" Type="http://schemas.openxmlformats.org/officeDocument/2006/relationships/hyperlink" Target="https://pub-d139da76dbb3434bbcb332e210a95fcf.r2.dev/apk/iTantra-0.1.0-debug.apk" TargetMode="External"/><Relationship Id="rId39" Type="http://schemas.openxmlformats.org/officeDocument/2006/relationships/image" Target="../media/image4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54891" y="1715881"/>
            <a:ext cx="3203509" cy="3426237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245686" y="648614"/>
            <a:ext cx="8534400" cy="1752600"/>
          </a:xfrm>
        </p:spPr>
        <p:txBody>
          <a:bodyPr/>
          <a:lstStyle/>
          <a:p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TITLE PAGE</a:t>
            </a:r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</a:t>
            </a:r>
            <a:r>
              <a:rPr lang="en-US" sz="4000" b="1" dirty="0" smtClean="0">
                <a:solidFill>
                  <a:schemeClr val="tx2"/>
                </a:solidFill>
                <a:latin typeface="Garamond" panose="02020404030301010803" pitchFamily="18" charset="0"/>
              </a:rPr>
              <a:t>2026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31286" y="2076450"/>
            <a:ext cx="5924550" cy="47030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pPr marL="285750" indent="-285750" algn="l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US" sz="19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ID –</a:t>
            </a:r>
            <a:r>
              <a:rPr b="0" sz="1700">
                <a:solidFill>
                  <a:srgbClr val="EA580C"/>
                </a:solidFill>
                <a:latin typeface="Arial"/>
              </a:rPr>
              <a:t> SIH26173</a:t>
            </a:r>
          </a:p>
          <a:p>
            <a:pPr marL="285750" indent="-285750" algn="l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US" sz="19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Title-</a:t>
            </a:r>
            <a:r>
              <a:rPr b="0" sz="1300">
                <a:solidFill>
                  <a:srgbClr val="1B2433"/>
                </a:solidFill>
                <a:latin typeface="Arial"/>
              </a:rPr>
              <a:t> iTantra – Indian Multilingual TTS &amp; STT Aided Neural Transceiver Radio Access for low bitrate links</a:t>
            </a:r>
          </a:p>
          <a:p>
            <a:pPr marL="285750" indent="-285750" algn="l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US" sz="1900" b="1" dirty="0">
                <a:latin typeface="Arial" panose="020B0604020202020204" pitchFamily="34" charset="0"/>
                <a:cs typeface="Arial" panose="020B0604020202020204" pitchFamily="34" charset="0"/>
              </a:rPr>
              <a:t>Theme-</a:t>
            </a:r>
            <a:r>
              <a:rPr b="0" sz="1700">
                <a:solidFill>
                  <a:srgbClr val="EA580C"/>
                </a:solidFill>
                <a:latin typeface="Arial"/>
              </a:rPr>
              <a:t> Smart Automation</a:t>
            </a:r>
          </a:p>
          <a:p>
            <a:pPr marL="285750" indent="-285750" algn="l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US" sz="1900" b="1" dirty="0">
                <a:latin typeface="Arial" panose="020B0604020202020204" pitchFamily="34" charset="0"/>
                <a:cs typeface="Arial" panose="020B0604020202020204" pitchFamily="34" charset="0"/>
              </a:rPr>
              <a:t>PS Category-</a:t>
            </a:r>
            <a:r>
              <a:rPr b="0" sz="1700">
                <a:solidFill>
                  <a:srgbClr val="EA580C"/>
                </a:solidFill>
                <a:latin typeface="Arial"/>
              </a:rPr>
              <a:t> Software</a:t>
            </a:r>
          </a:p>
          <a:p>
            <a:pPr marL="285750" indent="-285750" algn="l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US" sz="1900" b="1" dirty="0">
                <a:latin typeface="Arial" panose="020B0604020202020204" pitchFamily="34" charset="0"/>
                <a:cs typeface="Arial" panose="020B0604020202020204" pitchFamily="34" charset="0"/>
              </a:rPr>
              <a:t>Team ID-</a:t>
            </a:r>
            <a:r>
              <a:rPr b="0" sz="1700">
                <a:solidFill>
                  <a:srgbClr val="EA580C"/>
                </a:solidFill>
                <a:latin typeface="Arial"/>
              </a:rPr>
              <a:t> 188881</a:t>
            </a:r>
          </a:p>
          <a:p>
            <a:pPr marL="285750" indent="-285750" algn="l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US" sz="1900" b="1" dirty="0">
                <a:latin typeface="Arial" panose="020B0604020202020204" pitchFamily="34" charset="0"/>
                <a:cs typeface="Arial" panose="020B0604020202020204" pitchFamily="34" charset="0"/>
              </a:rPr>
              <a:t>Team Name (Registered on portal)</a:t>
            </a:r>
            <a:r>
              <a:rPr b="0" sz="1700">
                <a:solidFill>
                  <a:srgbClr val="EA580C"/>
                </a:solidFill>
                <a:latin typeface="Arial"/>
              </a:rPr>
              <a:t> Team Turtle</a:t>
            </a:r>
            <a:endParaRPr lang="en-IN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38" name="Rounded Rectangle 37">
            <a:hlinkClick r:id="rId4"/>
          </p:cNvPr>
          <p:cNvSpPr/>
          <p:nvPr/>
        </p:nvSpPr>
        <p:spPr>
          <a:xfrm>
            <a:off x="566928" y="5230368"/>
            <a:ext cx="1234440" cy="329184"/>
          </a:xfrm>
          <a:prstGeom prst="roundRect">
            <a:avLst>
              <a:gd name="adj" fmla="val 50000"/>
            </a:avLst>
          </a:prstGeom>
          <a:solidFill>
            <a:srgbClr val="E6F4F2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pic>
        <p:nvPicPr>
          <p:cNvPr id="39" name="Picture 38" descr="globe-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6656" y="5285231"/>
            <a:ext cx="219456" cy="219456"/>
          </a:xfrm>
          <a:prstGeom prst="rect">
            <a:avLst/>
          </a:prstGeom>
        </p:spPr>
      </p:pic>
      <p:sp>
        <p:nvSpPr>
          <p:cNvPr id="40" name="TextBox 39">
            <a:hlinkClick r:id="rId4"/>
          </p:cNvPr>
          <p:cNvSpPr txBox="1"/>
          <p:nvPr/>
        </p:nvSpPr>
        <p:spPr>
          <a:xfrm>
            <a:off x="950976" y="5230368"/>
            <a:ext cx="777240" cy="32918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Aft>
                <a:spcPts val="0"/>
              </a:spcAft>
            </a:pPr>
            <a:r>
              <a:rPr sz="1050" b="1" i="0">
                <a:solidFill>
                  <a:srgbClr val="0F766E"/>
                </a:solidFill>
                <a:latin typeface="Arial"/>
              </a:rPr>
              <a:t>Website</a:t>
            </a:r>
          </a:p>
        </p:txBody>
      </p:sp>
      <p:sp>
        <p:nvSpPr>
          <p:cNvPr id="41" name="Rounded Rectangle 40">
            <a:hlinkClick r:id="rId6"/>
          </p:cNvPr>
          <p:cNvSpPr/>
          <p:nvPr/>
        </p:nvSpPr>
        <p:spPr>
          <a:xfrm>
            <a:off x="1911096" y="5230368"/>
            <a:ext cx="1371600" cy="329184"/>
          </a:xfrm>
          <a:prstGeom prst="roundRect">
            <a:avLst>
              <a:gd name="adj" fmla="val 50000"/>
            </a:avLst>
          </a:prstGeom>
          <a:solidFill>
            <a:srgbClr val="E6F4F2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pic>
        <p:nvPicPr>
          <p:cNvPr id="42" name="Picture 41" descr="film-t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020824" y="5285231"/>
            <a:ext cx="219456" cy="219456"/>
          </a:xfrm>
          <a:prstGeom prst="rect">
            <a:avLst/>
          </a:prstGeom>
        </p:spPr>
      </p:pic>
      <p:sp>
        <p:nvSpPr>
          <p:cNvPr id="43" name="TextBox 42">
            <a:hlinkClick r:id="rId6"/>
          </p:cNvPr>
          <p:cNvSpPr txBox="1"/>
          <p:nvPr/>
        </p:nvSpPr>
        <p:spPr>
          <a:xfrm>
            <a:off x="2295144" y="5230368"/>
            <a:ext cx="914400" cy="32918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Aft>
                <a:spcPts val="0"/>
              </a:spcAft>
            </a:pPr>
            <a:r>
              <a:rPr sz="1050" b="1" i="0">
                <a:solidFill>
                  <a:srgbClr val="0F766E"/>
                </a:solidFill>
                <a:latin typeface="Arial"/>
              </a:rPr>
              <a:t>Demo film</a:t>
            </a:r>
          </a:p>
        </p:txBody>
      </p:sp>
      <p:sp>
        <p:nvSpPr>
          <p:cNvPr id="44" name="Rounded Rectangle 43">
            <a:hlinkClick r:id="rId8"/>
          </p:cNvPr>
          <p:cNvSpPr/>
          <p:nvPr/>
        </p:nvSpPr>
        <p:spPr>
          <a:xfrm>
            <a:off x="3392424" y="5230368"/>
            <a:ext cx="960120" cy="329184"/>
          </a:xfrm>
          <a:prstGeom prst="roundRect">
            <a:avLst>
              <a:gd name="adj" fmla="val 50000"/>
            </a:avLst>
          </a:prstGeom>
          <a:solidFill>
            <a:srgbClr val="E6F4F2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pic>
        <p:nvPicPr>
          <p:cNvPr id="45" name="Picture 44" descr="github-t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502152" y="5285231"/>
            <a:ext cx="219456" cy="219456"/>
          </a:xfrm>
          <a:prstGeom prst="rect">
            <a:avLst/>
          </a:prstGeom>
        </p:spPr>
      </p:pic>
      <p:sp>
        <p:nvSpPr>
          <p:cNvPr id="46" name="TextBox 45">
            <a:hlinkClick r:id="rId8"/>
          </p:cNvPr>
          <p:cNvSpPr txBox="1"/>
          <p:nvPr/>
        </p:nvSpPr>
        <p:spPr>
          <a:xfrm>
            <a:off x="3776472" y="5230368"/>
            <a:ext cx="502920" cy="32918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Aft>
                <a:spcPts val="0"/>
              </a:spcAft>
            </a:pPr>
            <a:r>
              <a:rPr sz="1050" b="1" i="0">
                <a:solidFill>
                  <a:srgbClr val="0F766E"/>
                </a:solidFill>
                <a:latin typeface="Arial"/>
              </a:rPr>
              <a:t>Code</a:t>
            </a:r>
          </a:p>
        </p:txBody>
      </p:sp>
      <p:sp>
        <p:nvSpPr>
          <p:cNvPr id="47" name="Rounded Rectangle 46">
            <a:hlinkClick r:id="rId10"/>
          </p:cNvPr>
          <p:cNvSpPr/>
          <p:nvPr/>
        </p:nvSpPr>
        <p:spPr>
          <a:xfrm>
            <a:off x="4462272" y="5230368"/>
            <a:ext cx="914400" cy="329184"/>
          </a:xfrm>
          <a:prstGeom prst="roundRect">
            <a:avLst>
              <a:gd name="adj" fmla="val 50000"/>
            </a:avLst>
          </a:prstGeom>
          <a:solidFill>
            <a:srgbClr val="E6F4F2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pic>
        <p:nvPicPr>
          <p:cNvPr id="48" name="Picture 47" descr="download-t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572000" y="5285231"/>
            <a:ext cx="219456" cy="219456"/>
          </a:xfrm>
          <a:prstGeom prst="rect">
            <a:avLst/>
          </a:prstGeom>
        </p:spPr>
      </p:pic>
      <p:sp>
        <p:nvSpPr>
          <p:cNvPr id="49" name="TextBox 48">
            <a:hlinkClick r:id="rId10"/>
          </p:cNvPr>
          <p:cNvSpPr txBox="1"/>
          <p:nvPr/>
        </p:nvSpPr>
        <p:spPr>
          <a:xfrm>
            <a:off x="4846320" y="5230368"/>
            <a:ext cx="457200" cy="32918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Aft>
                <a:spcPts val="0"/>
              </a:spcAft>
            </a:pPr>
            <a:r>
              <a:rPr sz="1050" b="1" i="0">
                <a:solidFill>
                  <a:srgbClr val="0F766E"/>
                </a:solidFill>
                <a:latin typeface="Arial"/>
              </a:rPr>
              <a:t>APK</a:t>
            </a:r>
          </a:p>
        </p:txBody>
      </p:sp>
      <p:pic>
        <p:nvPicPr>
          <p:cNvPr id="50" name="Picture 49" descr="logo.png">
            <a:hlinkClick r:id="rId4"/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967728" y="6089904"/>
            <a:ext cx="512064" cy="512064"/>
          </a:xfrm>
          <a:prstGeom prst="roundRect">
            <a:avLst>
              <a:gd name="adj" fmla="val 20000"/>
            </a:avLst>
          </a:prstGeom>
        </p:spPr>
      </p:pic>
      <p:sp>
        <p:nvSpPr>
          <p:cNvPr id="51" name="TextBox 50"/>
          <p:cNvSpPr txBox="1"/>
          <p:nvPr/>
        </p:nvSpPr>
        <p:spPr>
          <a:xfrm>
            <a:off x="7589520" y="6071616"/>
            <a:ext cx="3108960" cy="56692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0"/>
              </a:spcAft>
            </a:pPr>
            <a:r>
              <a:rPr sz="1800" b="1" i="0">
                <a:solidFill>
                  <a:srgbClr val="1B2433"/>
                </a:solidFill>
                <a:latin typeface="Arial"/>
              </a:rPr>
              <a:t>iTantra</a:t>
            </a:r>
          </a:p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5B6472"/>
                </a:solidFill>
                <a:latin typeface="Arial"/>
              </a:rPr>
              <a:t>Speak. Send text. Hear it back — offline.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82998" y="0"/>
            <a:ext cx="10972800" cy="1143000"/>
          </a:xfrm>
        </p:spPr>
        <p:txBody>
          <a:bodyPr/>
          <a:lstStyle/>
          <a:p>
            <a:pPr eaLnBrk="1" hangingPunct="1"/>
            <a:r>
              <a:rPr lang="en-US" sz="2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iTantra: Speak. Send Text. Hear It Back — Offline</a:t>
            </a:r>
            <a:b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</a:b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z="1200" b="1"/>
              <a:t>Team Turtle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5362" name="TextBox 15361"/>
          <p:cNvSpPr txBox="1"/>
          <p:nvPr/>
        </p:nvSpPr>
        <p:spPr>
          <a:xfrm>
            <a:off x="411480" y="1188720"/>
            <a:ext cx="7726679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B2433"/>
                </a:solidFill>
                <a:latin typeface="Arial"/>
              </a:rPr>
              <a:t>Proposed Solution (Describe your Idea/Solution/Prototype)</a:t>
            </a:r>
          </a:p>
        </p:txBody>
      </p:sp>
      <p:sp>
        <p:nvSpPr>
          <p:cNvPr id="15363" name="TextBox 15362"/>
          <p:cNvSpPr txBox="1"/>
          <p:nvPr/>
        </p:nvSpPr>
        <p:spPr>
          <a:xfrm>
            <a:off x="411480" y="1481328"/>
            <a:ext cx="7726679" cy="38404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0"/>
              </a:spcAft>
            </a:pPr>
            <a:r>
              <a:rPr sz="1050" b="1" i="0">
                <a:solidFill>
                  <a:srgbClr val="EA580C"/>
                </a:solidFill>
                <a:latin typeface="Arial"/>
              </a:rPr>
              <a:t>Problem: </a:t>
            </a:r>
            <a:r>
              <a:rPr sz="1050" b="0" i="0">
                <a:solidFill>
                  <a:srgbClr val="1B2433"/>
                </a:solidFill>
                <a:latin typeface="Arial"/>
              </a:rPr>
              <a:t>when towers fail after a flood or cyclone, only thin links remain — Bluetooth, a crowded hotspot or LoRa radio at ~250 bps. Voice needs 256 kbps raw, ~12 kbps with a good codec.</a:t>
            </a:r>
          </a:p>
        </p:txBody>
      </p:sp>
      <p:sp>
        <p:nvSpPr>
          <p:cNvPr id="15364" name="TextBox 15363"/>
          <p:cNvSpPr txBox="1"/>
          <p:nvPr/>
        </p:nvSpPr>
        <p:spPr>
          <a:xfrm>
            <a:off x="411480" y="1883664"/>
            <a:ext cx="7726679" cy="38404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0"/>
              </a:spcAft>
            </a:pPr>
            <a:r>
              <a:rPr sz="1050" b="1" i="0">
                <a:solidFill>
                  <a:srgbClr val="0F766E"/>
                </a:solidFill>
                <a:latin typeface="Arial"/>
              </a:rPr>
              <a:t>Our idea: </a:t>
            </a:r>
            <a:r>
              <a:rPr sz="1050" b="0" i="0">
                <a:solidFill>
                  <a:srgbClr val="1B2433"/>
                </a:solidFill>
                <a:latin typeface="Arial"/>
              </a:rPr>
              <a:t>send the meaning, not the sound. Speech becomes text on the phone, only the text travels, and it is spoken again on arrival. </a:t>
            </a:r>
            <a:r>
              <a:rPr sz="1050" b="1" i="0">
                <a:solidFill>
                  <a:srgbClr val="EA580C"/>
                </a:solidFill>
                <a:latin typeface="Arial"/>
              </a:rPr>
              <a:t>No tower, no internet, no cloud.</a:t>
            </a:r>
          </a:p>
        </p:txBody>
      </p:sp>
      <p:sp>
        <p:nvSpPr>
          <p:cNvPr id="15365" name="Oval 15364"/>
          <p:cNvSpPr/>
          <p:nvPr/>
        </p:nvSpPr>
        <p:spPr>
          <a:xfrm>
            <a:off x="1001268" y="2395728"/>
            <a:ext cx="365760" cy="365760"/>
          </a:xfrm>
          <a:prstGeom prst="ellipse">
            <a:avLst/>
          </a:prstGeom>
          <a:solidFill>
            <a:srgbClr val="EA580C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pic>
        <p:nvPicPr>
          <p:cNvPr id="15366" name="Picture 15365" descr="mic-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1735" y="2476195"/>
            <a:ext cx="204825" cy="204825"/>
          </a:xfrm>
          <a:prstGeom prst="rect">
            <a:avLst/>
          </a:prstGeom>
        </p:spPr>
      </p:pic>
      <p:sp>
        <p:nvSpPr>
          <p:cNvPr id="15367" name="TextBox 15366"/>
          <p:cNvSpPr txBox="1"/>
          <p:nvPr/>
        </p:nvSpPr>
        <p:spPr>
          <a:xfrm>
            <a:off x="411479" y="2807208"/>
            <a:ext cx="1545336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EA580C"/>
                </a:solidFill>
                <a:latin typeface="Arial"/>
              </a:rPr>
              <a:t>Speak</a:t>
            </a:r>
          </a:p>
          <a:p>
            <a:pPr algn="ctr">
              <a:spcAft>
                <a:spcPts val="0"/>
              </a:spcAft>
            </a:pPr>
            <a:r>
              <a:rPr sz="850" b="0" i="0">
                <a:solidFill>
                  <a:srgbClr val="5B6472"/>
                </a:solidFill>
                <a:latin typeface="Arial"/>
              </a:rPr>
              <a:t>hold to talk</a:t>
            </a:r>
          </a:p>
        </p:txBody>
      </p:sp>
      <p:cxnSp>
        <p:nvCxnSpPr>
          <p:cNvPr id="15368" name="Connector 15367"/>
          <p:cNvCxnSpPr/>
          <p:nvPr/>
        </p:nvCxnSpPr>
        <p:spPr>
          <a:xfrm>
            <a:off x="1458468" y="2578608"/>
            <a:ext cx="996696" cy="0"/>
          </a:xfrm>
          <a:prstGeom prst="line">
            <a:avLst/>
          </a:prstGeom>
          <a:ln w="15875">
            <a:solidFill>
              <a:srgbClr val="B8BEC7"/>
            </a:solidFill>
            <a:tailEnd type="triangle" w="med" len="med"/>
          </a:ln>
        </p:spPr>
      </p:cxnSp>
      <p:sp>
        <p:nvSpPr>
          <p:cNvPr id="15369" name="Oval 15368"/>
          <p:cNvSpPr/>
          <p:nvPr/>
        </p:nvSpPr>
        <p:spPr>
          <a:xfrm>
            <a:off x="2546604" y="2395728"/>
            <a:ext cx="365760" cy="365760"/>
          </a:xfrm>
          <a:prstGeom prst="ellipse">
            <a:avLst/>
          </a:prstGeom>
          <a:solidFill>
            <a:srgbClr val="EA580C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pic>
        <p:nvPicPr>
          <p:cNvPr id="15370" name="Picture 15369" descr="wave-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27071" y="2476195"/>
            <a:ext cx="204825" cy="204825"/>
          </a:xfrm>
          <a:prstGeom prst="rect">
            <a:avLst/>
          </a:prstGeom>
        </p:spPr>
      </p:pic>
      <p:sp>
        <p:nvSpPr>
          <p:cNvPr id="15371" name="TextBox 15370"/>
          <p:cNvSpPr txBox="1"/>
          <p:nvPr/>
        </p:nvSpPr>
        <p:spPr>
          <a:xfrm>
            <a:off x="1956816" y="2807208"/>
            <a:ext cx="1545336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EA580C"/>
                </a:solidFill>
                <a:latin typeface="Arial"/>
              </a:rPr>
              <a:t>Speech → text</a:t>
            </a:r>
          </a:p>
          <a:p>
            <a:pPr algn="ctr">
              <a:spcAft>
                <a:spcPts val="0"/>
              </a:spcAft>
            </a:pPr>
            <a:r>
              <a:rPr sz="850" b="0" i="0">
                <a:solidFill>
                  <a:srgbClr val="5B6472"/>
                </a:solidFill>
                <a:latin typeface="Arial"/>
              </a:rPr>
              <a:t>on the phone</a:t>
            </a:r>
          </a:p>
        </p:txBody>
      </p:sp>
      <p:cxnSp>
        <p:nvCxnSpPr>
          <p:cNvPr id="15372" name="Connector 15371"/>
          <p:cNvCxnSpPr/>
          <p:nvPr/>
        </p:nvCxnSpPr>
        <p:spPr>
          <a:xfrm>
            <a:off x="3003804" y="2578608"/>
            <a:ext cx="996696" cy="0"/>
          </a:xfrm>
          <a:prstGeom prst="line">
            <a:avLst/>
          </a:prstGeom>
          <a:ln w="15875">
            <a:solidFill>
              <a:srgbClr val="B8BEC7"/>
            </a:solidFill>
            <a:tailEnd type="triangle" w="med" len="med"/>
          </a:ln>
        </p:spPr>
      </p:cxnSp>
      <p:sp>
        <p:nvSpPr>
          <p:cNvPr id="15373" name="Oval 15372"/>
          <p:cNvSpPr/>
          <p:nvPr/>
        </p:nvSpPr>
        <p:spPr>
          <a:xfrm>
            <a:off x="4091939" y="2395728"/>
            <a:ext cx="365760" cy="365760"/>
          </a:xfrm>
          <a:prstGeom prst="ellipse">
            <a:avLst/>
          </a:prstGeom>
          <a:solidFill>
            <a:srgbClr val="EA580C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pic>
        <p:nvPicPr>
          <p:cNvPr id="15374" name="Picture 15373" descr="bytes-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72407" y="2476195"/>
            <a:ext cx="204825" cy="204825"/>
          </a:xfrm>
          <a:prstGeom prst="rect">
            <a:avLst/>
          </a:prstGeom>
        </p:spPr>
      </p:pic>
      <p:sp>
        <p:nvSpPr>
          <p:cNvPr id="15375" name="TextBox 15374"/>
          <p:cNvSpPr txBox="1"/>
          <p:nvPr/>
        </p:nvSpPr>
        <p:spPr>
          <a:xfrm>
            <a:off x="3502152" y="2807208"/>
            <a:ext cx="1545336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EA580C"/>
                </a:solidFill>
                <a:latin typeface="Arial"/>
              </a:rPr>
              <a:t>Tiny frame</a:t>
            </a:r>
          </a:p>
          <a:p>
            <a:pPr algn="ctr">
              <a:spcAft>
                <a:spcPts val="0"/>
              </a:spcAft>
            </a:pPr>
            <a:r>
              <a:rPr sz="850" b="0" i="0">
                <a:solidFill>
                  <a:srgbClr val="5B6472"/>
                </a:solidFill>
                <a:latin typeface="Arial"/>
              </a:rPr>
              <a:t>≈62 bytes*</a:t>
            </a:r>
          </a:p>
        </p:txBody>
      </p:sp>
      <p:cxnSp>
        <p:nvCxnSpPr>
          <p:cNvPr id="15376" name="Connector 15375"/>
          <p:cNvCxnSpPr/>
          <p:nvPr/>
        </p:nvCxnSpPr>
        <p:spPr>
          <a:xfrm>
            <a:off x="4549140" y="2578608"/>
            <a:ext cx="996696" cy="0"/>
          </a:xfrm>
          <a:prstGeom prst="line">
            <a:avLst/>
          </a:prstGeom>
          <a:ln w="15875">
            <a:solidFill>
              <a:srgbClr val="B8BEC7"/>
            </a:solidFill>
            <a:tailEnd type="triangle" w="med" len="med"/>
          </a:ln>
        </p:spPr>
      </p:cxnSp>
      <p:sp>
        <p:nvSpPr>
          <p:cNvPr id="15377" name="Oval 15376"/>
          <p:cNvSpPr/>
          <p:nvPr/>
        </p:nvSpPr>
        <p:spPr>
          <a:xfrm>
            <a:off x="5637276" y="2395728"/>
            <a:ext cx="365760" cy="365760"/>
          </a:xfrm>
          <a:prstGeom prst="ellipse">
            <a:avLst/>
          </a:prstGeom>
          <a:solidFill>
            <a:srgbClr val="1B2433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pic>
        <p:nvPicPr>
          <p:cNvPr id="15378" name="Picture 15377" descr="wifi-whit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17743" y="2476195"/>
            <a:ext cx="204825" cy="204825"/>
          </a:xfrm>
          <a:prstGeom prst="rect">
            <a:avLst/>
          </a:prstGeom>
        </p:spPr>
      </p:pic>
      <p:sp>
        <p:nvSpPr>
          <p:cNvPr id="15379" name="TextBox 15378"/>
          <p:cNvSpPr txBox="1"/>
          <p:nvPr/>
        </p:nvSpPr>
        <p:spPr>
          <a:xfrm>
            <a:off x="5047488" y="2807208"/>
            <a:ext cx="1545336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1B2433"/>
                </a:solidFill>
                <a:latin typeface="Arial"/>
              </a:rPr>
              <a:t>Any link</a:t>
            </a:r>
          </a:p>
          <a:p>
            <a:pPr algn="ctr">
              <a:spcAft>
                <a:spcPts val="0"/>
              </a:spcAft>
            </a:pPr>
            <a:r>
              <a:rPr sz="850" b="0" i="0">
                <a:solidFill>
                  <a:srgbClr val="5B6472"/>
                </a:solidFill>
                <a:latin typeface="Arial"/>
              </a:rPr>
              <a:t>Wi-Fi · Direct · BLE</a:t>
            </a:r>
          </a:p>
        </p:txBody>
      </p:sp>
      <p:cxnSp>
        <p:nvCxnSpPr>
          <p:cNvPr id="15380" name="Connector 15379"/>
          <p:cNvCxnSpPr/>
          <p:nvPr/>
        </p:nvCxnSpPr>
        <p:spPr>
          <a:xfrm>
            <a:off x="6094476" y="2578608"/>
            <a:ext cx="996696" cy="0"/>
          </a:xfrm>
          <a:prstGeom prst="line">
            <a:avLst/>
          </a:prstGeom>
          <a:ln w="15875">
            <a:solidFill>
              <a:srgbClr val="B8BEC7"/>
            </a:solidFill>
            <a:tailEnd type="triangle" w="med" len="med"/>
          </a:ln>
        </p:spPr>
      </p:cxnSp>
      <p:sp>
        <p:nvSpPr>
          <p:cNvPr id="15381" name="Oval 15380"/>
          <p:cNvSpPr/>
          <p:nvPr/>
        </p:nvSpPr>
        <p:spPr>
          <a:xfrm>
            <a:off x="7182612" y="2395728"/>
            <a:ext cx="365760" cy="365760"/>
          </a:xfrm>
          <a:prstGeom prst="ellipse">
            <a:avLst/>
          </a:prstGeom>
          <a:solidFill>
            <a:srgbClr val="0F766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pic>
        <p:nvPicPr>
          <p:cNvPr id="15382" name="Picture 15381" descr="speaker-whit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263079" y="2476195"/>
            <a:ext cx="204825" cy="204825"/>
          </a:xfrm>
          <a:prstGeom prst="rect">
            <a:avLst/>
          </a:prstGeom>
        </p:spPr>
      </p:pic>
      <p:sp>
        <p:nvSpPr>
          <p:cNvPr id="15383" name="TextBox 15382"/>
          <p:cNvSpPr txBox="1"/>
          <p:nvPr/>
        </p:nvSpPr>
        <p:spPr>
          <a:xfrm>
            <a:off x="6592824" y="2807208"/>
            <a:ext cx="1545336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0F766E"/>
                </a:solidFill>
                <a:latin typeface="Arial"/>
              </a:rPr>
              <a:t>Text → speech</a:t>
            </a:r>
          </a:p>
          <a:p>
            <a:pPr algn="ctr">
              <a:spcAft>
                <a:spcPts val="0"/>
              </a:spcAft>
            </a:pPr>
            <a:r>
              <a:rPr sz="850" b="0" i="0">
                <a:solidFill>
                  <a:srgbClr val="5B6472"/>
                </a:solidFill>
                <a:latin typeface="Arial"/>
              </a:rPr>
              <a:t>own language</a:t>
            </a:r>
          </a:p>
        </p:txBody>
      </p:sp>
      <p:sp>
        <p:nvSpPr>
          <p:cNvPr id="15384" name="Rectangle 15383"/>
          <p:cNvSpPr/>
          <p:nvPr/>
        </p:nvSpPr>
        <p:spPr>
          <a:xfrm>
            <a:off x="411480" y="3218688"/>
            <a:ext cx="7726679" cy="9144"/>
          </a:xfrm>
          <a:prstGeom prst="rect">
            <a:avLst/>
          </a:prstGeom>
          <a:solidFill>
            <a:srgbClr val="DDE1E7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5385" name="TextBox 15384"/>
          <p:cNvSpPr txBox="1"/>
          <p:nvPr/>
        </p:nvSpPr>
        <p:spPr>
          <a:xfrm>
            <a:off x="411480" y="3291840"/>
            <a:ext cx="242316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0"/>
              </a:spcAft>
            </a:pPr>
            <a:r>
              <a:rPr sz="1050" b="1" i="0">
                <a:solidFill>
                  <a:srgbClr val="1B2433"/>
                </a:solidFill>
                <a:latin typeface="Arial"/>
              </a:rPr>
              <a:t>Detailed explanation of the proposed solution</a:t>
            </a:r>
          </a:p>
        </p:txBody>
      </p:sp>
      <p:sp>
        <p:nvSpPr>
          <p:cNvPr id="15386" name="TextBox 15385"/>
          <p:cNvSpPr txBox="1"/>
          <p:nvPr/>
        </p:nvSpPr>
        <p:spPr>
          <a:xfrm>
            <a:off x="411480" y="3730752"/>
            <a:ext cx="2423160" cy="23774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 marL="146304" indent="-146304">
              <a:spcAft>
                <a:spcPts val="400"/>
              </a:spcAft>
              <a:buFont typeface="Arial"/>
              <a:buChar char="•"/>
            </a:pPr>
            <a:r>
              <a:rPr sz="950" b="1" i="0">
                <a:solidFill>
                  <a:srgbClr val="EA580C"/>
                </a:solidFill>
                <a:latin typeface="Arial"/>
              </a:rPr>
              <a:t>10 Indian languages. </a:t>
            </a:r>
            <a:r>
              <a:rPr sz="950" b="0" i="0">
                <a:solidFill>
                  <a:srgbClr val="1B2433"/>
                </a:solidFill>
                <a:latin typeface="Arial"/>
              </a:rPr>
              <a:t>Hindi, Bengali, Marathi, Telugu, Tamil, Gujarati, Kannada, Malayalam, Odia, English — speech in and out.</a:t>
            </a:r>
          </a:p>
          <a:p>
            <a:pPr algn="l" marL="146304" indent="-146304">
              <a:spcAft>
                <a:spcPts val="400"/>
              </a:spcAft>
              <a:buFont typeface="Arial"/>
              <a:buChar char="•"/>
            </a:pPr>
            <a:r>
              <a:rPr sz="950" b="1" i="0">
                <a:solidFill>
                  <a:srgbClr val="EA580C"/>
                </a:solidFill>
                <a:latin typeface="Arial"/>
              </a:rPr>
              <a:t>ALERT mode. </a:t>
            </a:r>
            <a:r>
              <a:rPr sz="950" b="0" i="0">
                <a:solidFill>
                  <a:srgbClr val="1B2433"/>
                </a:solidFill>
                <a:latin typeface="Arial"/>
              </a:rPr>
              <a:t>Plays on the alarm stream at full volume with vibration (16/16 in test).</a:t>
            </a:r>
          </a:p>
          <a:p>
            <a:pPr algn="l" marL="146304" indent="-146304">
              <a:spcAft>
                <a:spcPts val="400"/>
              </a:spcAft>
              <a:buFont typeface="Arial"/>
              <a:buChar char="•"/>
            </a:pPr>
            <a:r>
              <a:rPr sz="950" b="1" i="0">
                <a:solidFill>
                  <a:srgbClr val="EA580C"/>
                </a:solidFill>
                <a:latin typeface="Arial"/>
              </a:rPr>
              <a:t>SOS. </a:t>
            </a:r>
            <a:r>
              <a:rPr sz="950" b="0" i="0">
                <a:solidFill>
                  <a:srgbClr val="1B2433"/>
                </a:solidFill>
                <a:latin typeface="Arial"/>
              </a:rPr>
              <a:t>One tap sends 1 of 6 templates with GPS/NavIC location, read aloud on arrival.</a:t>
            </a:r>
          </a:p>
          <a:p>
            <a:pPr algn="l" marL="146304" indent="-146304">
              <a:spcAft>
                <a:spcPts val="400"/>
              </a:spcAft>
              <a:buFont typeface="Arial"/>
              <a:buChar char="•"/>
            </a:pPr>
            <a:r>
              <a:rPr sz="950" b="1" i="0">
                <a:solidFill>
                  <a:srgbClr val="EA580C"/>
                </a:solidFill>
                <a:latin typeface="Arial"/>
              </a:rPr>
              <a:t>Talk your way. </a:t>
            </a:r>
            <a:r>
              <a:rPr sz="950" b="0" i="0">
                <a:solidFill>
                  <a:srgbClr val="1B2433"/>
                </a:solidFill>
                <a:latin typeface="Arial"/>
              </a:rPr>
              <a:t>Push-to-talk, hands-free call mode and live captions.</a:t>
            </a:r>
          </a:p>
        </p:txBody>
      </p:sp>
      <p:sp>
        <p:nvSpPr>
          <p:cNvPr id="15387" name="TextBox 15386"/>
          <p:cNvSpPr txBox="1"/>
          <p:nvPr/>
        </p:nvSpPr>
        <p:spPr>
          <a:xfrm>
            <a:off x="3063240" y="3291840"/>
            <a:ext cx="242316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0"/>
              </a:spcAft>
            </a:pPr>
            <a:r>
              <a:rPr sz="1050" b="1" i="0">
                <a:solidFill>
                  <a:srgbClr val="1B2433"/>
                </a:solidFill>
                <a:latin typeface="Arial"/>
              </a:rPr>
              <a:t>How it addresses the problem</a:t>
            </a:r>
          </a:p>
        </p:txBody>
      </p:sp>
      <p:graphicFrame>
        <p:nvGraphicFramePr>
          <p:cNvPr id="15388" name="Chart 15387"/>
          <p:cNvGraphicFramePr>
            <a:graphicFrameLocks noGrp="1"/>
          </p:cNvGraphicFramePr>
          <p:nvPr/>
        </p:nvGraphicFramePr>
        <p:xfrm>
          <a:off x="3017520" y="3566160"/>
          <a:ext cx="2468879" cy="1005840"/>
        </p:xfrm>
        <a:graphic>
          <a:graphicData uri="http://schemas.openxmlformats.org/drawingml/2006/chart">
            <c:chart xmlns:c="http://schemas.openxmlformats.org/drawingml/2006/chart" r:id="rId9"/>
          </a:graphicData>
        </a:graphic>
      </p:graphicFrame>
      <p:sp>
        <p:nvSpPr>
          <p:cNvPr id="15389" name="TextBox 15388"/>
          <p:cNvSpPr txBox="1"/>
          <p:nvPr/>
        </p:nvSpPr>
        <p:spPr>
          <a:xfrm>
            <a:off x="3063240" y="4572000"/>
            <a:ext cx="2423160" cy="1828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0"/>
              </a:spcAft>
            </a:pPr>
            <a:r>
              <a:rPr sz="800" b="0" i="1">
                <a:solidFill>
                  <a:srgbClr val="5B6472"/>
                </a:solidFill>
                <a:latin typeface="Arial"/>
              </a:rPr>
              <a:t>bits/s for one spoken sentence (log scale)</a:t>
            </a:r>
          </a:p>
        </p:txBody>
      </p:sp>
      <p:sp>
        <p:nvSpPr>
          <p:cNvPr id="15390" name="TextBox 15389"/>
          <p:cNvSpPr txBox="1"/>
          <p:nvPr/>
        </p:nvSpPr>
        <p:spPr>
          <a:xfrm>
            <a:off x="3063240" y="4828032"/>
            <a:ext cx="2423160" cy="12801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 marL="146304" indent="-146304">
              <a:spcAft>
                <a:spcPts val="400"/>
              </a:spcAft>
              <a:buFont typeface="Arial"/>
              <a:buChar char="•"/>
            </a:pPr>
            <a:r>
              <a:rPr sz="950" b="1" i="0">
                <a:solidFill>
                  <a:srgbClr val="EA580C"/>
                </a:solidFill>
                <a:latin typeface="Arial"/>
              </a:rPr>
              <a:t>≈1,500× less data </a:t>
            </a:r>
            <a:r>
              <a:rPr sz="950" b="0" i="0">
                <a:solidFill>
                  <a:srgbClr val="1B2433"/>
                </a:solidFill>
                <a:latin typeface="Arial"/>
              </a:rPr>
              <a:t>than raw audio — a sentence fits LoRa's ~250 bps.</a:t>
            </a:r>
          </a:p>
          <a:p>
            <a:pPr algn="l" marL="146304" indent="-146304">
              <a:spcAft>
                <a:spcPts val="400"/>
              </a:spcAft>
              <a:buFont typeface="Arial"/>
              <a:buChar char="•"/>
            </a:pPr>
            <a:r>
              <a:rPr sz="950" b="1" i="0">
                <a:solidFill>
                  <a:srgbClr val="EA580C"/>
                </a:solidFill>
                <a:latin typeface="Arial"/>
              </a:rPr>
              <a:t>62 B </a:t>
            </a:r>
            <a:r>
              <a:rPr sz="950" b="0" i="0">
                <a:solidFill>
                  <a:srgbClr val="1B2433"/>
                </a:solidFill>
                <a:latin typeface="Arial"/>
              </a:rPr>
              <a:t>per sentence in binary vs 524 B as JSON.</a:t>
            </a:r>
          </a:p>
          <a:p>
            <a:pPr algn="l" marL="146304" indent="-146304">
              <a:spcAft>
                <a:spcPts val="400"/>
              </a:spcAft>
              <a:buFont typeface="Arial"/>
              <a:buChar char="•"/>
            </a:pPr>
            <a:r>
              <a:rPr sz="950" b="1" i="0">
                <a:solidFill>
                  <a:srgbClr val="EA580C"/>
                </a:solidFill>
                <a:latin typeface="Arial"/>
              </a:rPr>
              <a:t>Still speech at the end, </a:t>
            </a:r>
            <a:r>
              <a:rPr sz="950" b="0" i="0">
                <a:solidFill>
                  <a:srgbClr val="1B2433"/>
                </a:solidFill>
                <a:latin typeface="Arial"/>
              </a:rPr>
              <a:t>so people who cannot read are included.</a:t>
            </a:r>
          </a:p>
        </p:txBody>
      </p:sp>
      <p:sp>
        <p:nvSpPr>
          <p:cNvPr id="15391" name="TextBox 15390"/>
          <p:cNvSpPr txBox="1"/>
          <p:nvPr/>
        </p:nvSpPr>
        <p:spPr>
          <a:xfrm>
            <a:off x="5715000" y="3291840"/>
            <a:ext cx="242316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0"/>
              </a:spcAft>
            </a:pPr>
            <a:r>
              <a:rPr sz="1050" b="1" i="0">
                <a:solidFill>
                  <a:srgbClr val="1B2433"/>
                </a:solidFill>
                <a:latin typeface="Arial"/>
              </a:rPr>
              <a:t>Innovation and uniqueness of the solution</a:t>
            </a:r>
          </a:p>
        </p:txBody>
      </p:sp>
      <p:sp>
        <p:nvSpPr>
          <p:cNvPr id="15392" name="TextBox 15391"/>
          <p:cNvSpPr txBox="1"/>
          <p:nvPr/>
        </p:nvSpPr>
        <p:spPr>
          <a:xfrm>
            <a:off x="5715000" y="3730752"/>
            <a:ext cx="2423160" cy="23774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 marL="146304" indent="-146304">
              <a:spcAft>
                <a:spcPts val="400"/>
              </a:spcAft>
              <a:buFont typeface="Arial"/>
              <a:buChar char="•"/>
            </a:pPr>
            <a:r>
              <a:rPr sz="950" b="1" i="0">
                <a:solidFill>
                  <a:srgbClr val="0F766E"/>
                </a:solidFill>
                <a:latin typeface="Arial"/>
              </a:rPr>
              <a:t>Speech is the codec. </a:t>
            </a:r>
            <a:r>
              <a:rPr sz="950" b="0" i="0">
                <a:solidFill>
                  <a:srgbClr val="1B2433"/>
                </a:solidFill>
                <a:latin typeface="Arial"/>
              </a:rPr>
              <a:t>Text on the wire; the voice is rebuilt in the listener's language.</a:t>
            </a:r>
          </a:p>
          <a:p>
            <a:pPr algn="l" marL="146304" indent="-146304">
              <a:spcAft>
                <a:spcPts val="400"/>
              </a:spcAft>
              <a:buFont typeface="Arial"/>
              <a:buChar char="•"/>
            </a:pPr>
            <a:r>
              <a:rPr sz="950" b="1" i="0">
                <a:solidFill>
                  <a:srgbClr val="0F766E"/>
                </a:solidFill>
                <a:latin typeface="Arial"/>
              </a:rPr>
              <a:t>One frame, any link. </a:t>
            </a:r>
            <a:r>
              <a:rPr sz="950" b="0" i="0">
                <a:solidFill>
                  <a:srgbClr val="1B2433"/>
                </a:solidFill>
                <a:latin typeface="Arial"/>
              </a:rPr>
              <a:t>Wi-Fi, then Wi-Fi Direct (4 s), then Bluetooth LE (8 s), with no user action.</a:t>
            </a:r>
          </a:p>
          <a:p>
            <a:pPr algn="l" marL="146304" indent="-146304">
              <a:spcAft>
                <a:spcPts val="400"/>
              </a:spcAft>
              <a:buFont typeface="Arial"/>
              <a:buChar char="•"/>
            </a:pPr>
            <a:r>
              <a:rPr sz="950" b="1" i="0">
                <a:solidFill>
                  <a:srgbClr val="0F766E"/>
                </a:solidFill>
                <a:latin typeface="Arial"/>
              </a:rPr>
              <a:t>Trusted alerts. </a:t>
            </a:r>
            <a:r>
              <a:rPr sz="950" b="0" i="0">
                <a:solidFill>
                  <a:srgbClr val="1B2433"/>
                </a:solidFill>
                <a:latin typeface="Arial"/>
              </a:rPr>
              <a:t>ALERTs are Ed25519-signed; messages are encrypted after QR pairing.</a:t>
            </a:r>
          </a:p>
          <a:p>
            <a:pPr algn="l" marL="146304" indent="-146304">
              <a:spcAft>
                <a:spcPts val="400"/>
              </a:spcAft>
              <a:buFont typeface="Arial"/>
              <a:buChar char="•"/>
            </a:pPr>
            <a:r>
              <a:rPr sz="950" b="1" i="0">
                <a:solidFill>
                  <a:srgbClr val="0F766E"/>
                </a:solidFill>
                <a:latin typeface="Arial"/>
              </a:rPr>
              <a:t>Adapts to the phone. </a:t>
            </a:r>
            <a:r>
              <a:rPr sz="950" b="0" i="0">
                <a:solidFill>
                  <a:srgbClr val="1B2433"/>
                </a:solidFill>
                <a:latin typeface="Arial"/>
              </a:rPr>
              <a:t>LITE profile turns on by itself below 6 GB RAM.</a:t>
            </a:r>
          </a:p>
        </p:txBody>
      </p:sp>
      <p:sp>
        <p:nvSpPr>
          <p:cNvPr id="15393" name="TextBox 15392"/>
          <p:cNvSpPr txBox="1"/>
          <p:nvPr/>
        </p:nvSpPr>
        <p:spPr>
          <a:xfrm>
            <a:off x="411480" y="6126480"/>
            <a:ext cx="7726679" cy="1828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0"/>
              </a:spcAft>
            </a:pPr>
            <a:r>
              <a:rPr sz="900" b="0" i="1">
                <a:solidFill>
                  <a:srgbClr val="5B6472"/>
                </a:solidFill>
                <a:latin typeface="Arial"/>
              </a:rPr>
              <a:t>*Median of 310 FLEURS sentences (unit test), before encryption and link headers. Bars assume a ~3 s sentence.</a:t>
            </a:r>
          </a:p>
        </p:txBody>
      </p:sp>
      <p:pic>
        <p:nvPicPr>
          <p:cNvPr id="15394" name="Picture 15393" descr="03_sos_sheet.jpg">
            <a:hlinkClick r:id="rId11"/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314359" y="1207008"/>
            <a:ext cx="1662976" cy="3566160"/>
          </a:xfrm>
          <a:prstGeom prst="roundRect">
            <a:avLst>
              <a:gd name="adj" fmla="val 8000"/>
            </a:avLst>
          </a:prstGeom>
          <a:ln w="9525">
            <a:solidFill>
              <a:srgbClr val="DDE1E7"/>
            </a:solidFill>
          </a:ln>
        </p:spPr>
      </p:pic>
      <p:pic>
        <p:nvPicPr>
          <p:cNvPr id="15395" name="Picture 15394" descr="01_alert_card.jpg">
            <a:hlinkClick r:id="rId11"/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0114495" y="1207008"/>
            <a:ext cx="1662976" cy="3566160"/>
          </a:xfrm>
          <a:prstGeom prst="roundRect">
            <a:avLst>
              <a:gd name="adj" fmla="val 8000"/>
            </a:avLst>
          </a:prstGeom>
          <a:ln w="9525">
            <a:solidFill>
              <a:srgbClr val="DDE1E7"/>
            </a:solidFill>
          </a:ln>
        </p:spPr>
      </p:pic>
      <p:sp>
        <p:nvSpPr>
          <p:cNvPr id="15396" name="TextBox 15395"/>
          <p:cNvSpPr txBox="1"/>
          <p:nvPr/>
        </p:nvSpPr>
        <p:spPr>
          <a:xfrm>
            <a:off x="8314359" y="4818888"/>
            <a:ext cx="1662976" cy="2011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spcAft>
                <a:spcPts val="0"/>
              </a:spcAft>
            </a:pPr>
            <a:r>
              <a:rPr sz="950" b="1" i="0">
                <a:solidFill>
                  <a:srgbClr val="EA580C"/>
                </a:solidFill>
                <a:latin typeface="Arial"/>
              </a:rPr>
              <a:t>Sender · SOS</a:t>
            </a:r>
          </a:p>
        </p:txBody>
      </p:sp>
      <p:sp>
        <p:nvSpPr>
          <p:cNvPr id="15397" name="TextBox 15396"/>
          <p:cNvSpPr txBox="1"/>
          <p:nvPr/>
        </p:nvSpPr>
        <p:spPr>
          <a:xfrm>
            <a:off x="10114495" y="4818888"/>
            <a:ext cx="1662976" cy="2011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spcAft>
                <a:spcPts val="0"/>
              </a:spcAft>
            </a:pPr>
            <a:r>
              <a:rPr sz="950" b="1" i="0">
                <a:solidFill>
                  <a:srgbClr val="0F766E"/>
                </a:solidFill>
                <a:latin typeface="Arial"/>
              </a:rPr>
              <a:t>Receiver · ALERT</a:t>
            </a:r>
          </a:p>
        </p:txBody>
      </p:sp>
      <p:sp>
        <p:nvSpPr>
          <p:cNvPr id="15398" name="Rounded Rectangle 15397">
            <a:hlinkClick r:id="rId11"/>
          </p:cNvPr>
          <p:cNvSpPr/>
          <p:nvPr/>
        </p:nvSpPr>
        <p:spPr>
          <a:xfrm>
            <a:off x="8314359" y="5138928"/>
            <a:ext cx="3463112" cy="329184"/>
          </a:xfrm>
          <a:prstGeom prst="roundRect">
            <a:avLst>
              <a:gd name="adj" fmla="val 50000"/>
            </a:avLst>
          </a:prstGeom>
          <a:solidFill>
            <a:srgbClr val="FFF1E8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pic>
        <p:nvPicPr>
          <p:cNvPr id="15399" name="Picture 15398" descr="film-sa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424087" y="5193792"/>
            <a:ext cx="219456" cy="219456"/>
          </a:xfrm>
          <a:prstGeom prst="rect">
            <a:avLst/>
          </a:prstGeom>
        </p:spPr>
      </p:pic>
      <p:sp>
        <p:nvSpPr>
          <p:cNvPr id="15400" name="TextBox 15399">
            <a:hlinkClick r:id="rId11"/>
          </p:cNvPr>
          <p:cNvSpPr txBox="1"/>
          <p:nvPr/>
        </p:nvSpPr>
        <p:spPr>
          <a:xfrm>
            <a:off x="8698407" y="5138928"/>
            <a:ext cx="3005912" cy="32918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Aft>
                <a:spcPts val="0"/>
              </a:spcAft>
            </a:pPr>
            <a:r>
              <a:rPr sz="950" b="1" i="0">
                <a:solidFill>
                  <a:srgbClr val="EA580C"/>
                </a:solidFill>
                <a:latin typeface="Arial"/>
              </a:rPr>
              <a:t>Watch the demo film  ·  1 min 55 s</a:t>
            </a:r>
          </a:p>
        </p:txBody>
      </p:sp>
      <p:sp>
        <p:nvSpPr>
          <p:cNvPr id="15401" name="TextBox 15400"/>
          <p:cNvSpPr txBox="1"/>
          <p:nvPr/>
        </p:nvSpPr>
        <p:spPr>
          <a:xfrm>
            <a:off x="8314359" y="5577840"/>
            <a:ext cx="3463112" cy="5029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0"/>
              </a:spcAft>
            </a:pPr>
            <a:r>
              <a:rPr sz="850" b="0" i="0">
                <a:solidFill>
                  <a:srgbClr val="5B6472"/>
                </a:solidFill>
                <a:latin typeface="Arial"/>
              </a:rPr>
              <a:t>Real screens from the running prototype (v0.1.0), vivo I2202, Snapdragon 870. </a:t>
            </a:r>
            <a:r>
              <a:rPr sz="850" b="1" i="0">
                <a:solidFill>
                  <a:srgbClr val="0F766E"/>
                </a:solidFill>
                <a:latin typeface="Arial"/>
                <a:hlinkClick r:id="rId14"/>
              </a:rPr>
              <a:t>Try it: itantra-106.pages.dev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TECHNICAL APPROACH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1" name="Oval 10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z="1200" b="1"/>
              <a:t>Team Turtle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0" name="TextBox 17409"/>
          <p:cNvSpPr txBox="1"/>
          <p:nvPr/>
        </p:nvSpPr>
        <p:spPr>
          <a:xfrm>
            <a:off x="411480" y="1188720"/>
            <a:ext cx="3657600" cy="411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1B2433"/>
                </a:solidFill>
                <a:latin typeface="Arial"/>
              </a:rPr>
              <a:t>Technologies to be used (e.g. programming languages, frameworks, hardware)</a:t>
            </a:r>
          </a:p>
        </p:txBody>
      </p:sp>
      <p:graphicFrame>
        <p:nvGraphicFramePr>
          <p:cNvPr id="17411" name="Table 17410"/>
          <p:cNvGraphicFramePr>
            <a:graphicFrameLocks noGrp="1"/>
          </p:cNvGraphicFramePr>
          <p:nvPr/>
        </p:nvGraphicFramePr>
        <p:xfrm>
          <a:off x="411480" y="1700784"/>
          <a:ext cx="3657600" cy="393192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051560"/>
                <a:gridCol w="2606040"/>
              </a:tblGrid>
              <a:tr h="274320"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0F766E"/>
                          </a:solidFill>
                          <a:latin typeface="Arial"/>
                        </a:rPr>
                        <a:t>Layer</a:t>
                      </a:r>
                    </a:p>
                  </a:txBody>
                  <a:tcPr marL="73152" marR="73152" marT="27432" marB="27432" anchor="ctr">
                    <a:solidFill>
                      <a:srgbClr val="E6F4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0F766E"/>
                          </a:solidFill>
                          <a:latin typeface="Arial"/>
                        </a:rPr>
                        <a:t>Technology</a:t>
                      </a:r>
                    </a:p>
                  </a:txBody>
                  <a:tcPr marL="73152" marR="73152" marT="27432" marB="27432" anchor="ctr">
                    <a:solidFill>
                      <a:srgbClr val="E6F4F2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1B2433"/>
                          </a:solidFill>
                          <a:latin typeface="Arial"/>
                        </a:rPr>
                        <a:t>App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B2433"/>
                          </a:solidFill>
                          <a:latin typeface="Arial"/>
                        </a:rPr>
                        <a:t>Kotlin 2.4, Jetpack Compose; Android 8.0+, 64-bit ARM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1B2433"/>
                          </a:solidFill>
                          <a:latin typeface="Arial"/>
                        </a:rPr>
                        <a:t>Voice detection</a:t>
                      </a:r>
                    </a:p>
                  </a:txBody>
                  <a:tcPr marL="73152" marR="73152" marT="27432" marB="27432" anchor="ctr">
                    <a:solidFill>
                      <a:srgbClr val="F6F7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B2433"/>
                          </a:solidFill>
                          <a:latin typeface="Arial"/>
                        </a:rPr>
                        <a:t>Silero VAD (0.6 MB) — a pause ends the sentence</a:t>
                      </a:r>
                    </a:p>
                  </a:txBody>
                  <a:tcPr marL="73152" marR="73152" marT="27432" marB="27432" anchor="ctr">
                    <a:solidFill>
                      <a:srgbClr val="F6F7F9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1B2433"/>
                          </a:solidFill>
                          <a:latin typeface="Arial"/>
                        </a:rPr>
                        <a:t>Speech-to-text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B2433"/>
                          </a:solidFill>
                          <a:latin typeface="Arial"/>
                        </a:rPr>
                        <a:t>SraVaani-1.0 (IISc), int8 ONNX on sherpa-onnx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1B2433"/>
                          </a:solidFill>
                          <a:latin typeface="Arial"/>
                        </a:rPr>
                        <a:t>Text-to-speech</a:t>
                      </a:r>
                    </a:p>
                  </a:txBody>
                  <a:tcPr marL="73152" marR="73152" marT="27432" marB="27432" anchor="ctr">
                    <a:solidFill>
                      <a:srgbClr val="F6F7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B2433"/>
                          </a:solidFill>
                          <a:latin typeface="Arial"/>
                        </a:rPr>
                        <a:t>VITS Rasa (6 languages), Indic-Mio via llama.cpp (4)</a:t>
                      </a:r>
                    </a:p>
                  </a:txBody>
                  <a:tcPr marL="73152" marR="73152" marT="27432" marB="27432" anchor="ctr">
                    <a:solidFill>
                      <a:srgbClr val="F6F7F9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1B2433"/>
                          </a:solidFill>
                          <a:latin typeface="Arial"/>
                        </a:rPr>
                        <a:t>Links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B2433"/>
                          </a:solidFill>
                          <a:latin typeface="Arial"/>
                        </a:rPr>
                        <a:t>Wi-Fi mDNS/TCP, Wi-Fi Direct, BLE GATT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1B2433"/>
                          </a:solidFill>
                          <a:latin typeface="Arial"/>
                        </a:rPr>
                        <a:t>Security</a:t>
                      </a:r>
                    </a:p>
                  </a:txBody>
                  <a:tcPr marL="73152" marR="73152" marT="27432" marB="27432" anchor="ctr">
                    <a:solidFill>
                      <a:srgbClr val="F6F7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B2433"/>
                          </a:solidFill>
                          <a:latin typeface="Arial"/>
                        </a:rPr>
                        <a:t>X25519, ChaCha20-Poly1305, Ed25519; QR pairing</a:t>
                      </a:r>
                    </a:p>
                  </a:txBody>
                  <a:tcPr marL="73152" marR="73152" marT="27432" marB="27432" anchor="ctr">
                    <a:solidFill>
                      <a:srgbClr val="F6F7F9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1B2433"/>
                          </a:solidFill>
                          <a:latin typeface="Arial"/>
                        </a:rPr>
                        <a:t>Radio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B2433"/>
                          </a:solidFill>
                          <a:latin typeface="Arial"/>
                        </a:rPr>
                        <a:t>ESP32-S3 + SX1262 LoRa, 865–867 MHz, RadioLib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1B2433"/>
                          </a:solidFill>
                          <a:latin typeface="Arial"/>
                        </a:rPr>
                        <a:t>Control room</a:t>
                      </a:r>
                    </a:p>
                  </a:txBody>
                  <a:tcPr marL="73152" marR="73152" marT="27432" marB="27432" anchor="ctr">
                    <a:solidFill>
                      <a:srgbClr val="F6F7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B2433"/>
                          </a:solidFill>
                          <a:latin typeface="Arial"/>
                        </a:rPr>
                        <a:t>Python gateway, SQLite log, CAP 1.2 alert parser</a:t>
                      </a:r>
                    </a:p>
                  </a:txBody>
                  <a:tcPr marL="73152" marR="73152" marT="27432" marB="27432" anchor="ctr">
                    <a:solidFill>
                      <a:srgbClr val="F6F7F9"/>
                    </a:solidFill>
                  </a:tcPr>
                </a:tc>
              </a:tr>
            </a:tbl>
          </a:graphicData>
        </a:graphic>
      </p:graphicFrame>
      <p:sp>
        <p:nvSpPr>
          <p:cNvPr id="17412" name="TextBox 17411"/>
          <p:cNvSpPr txBox="1"/>
          <p:nvPr/>
        </p:nvSpPr>
        <p:spPr>
          <a:xfrm>
            <a:off x="4343400" y="1188720"/>
            <a:ext cx="740664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1B2433"/>
                </a:solidFill>
                <a:latin typeface="Arial"/>
              </a:rPr>
              <a:t>Methodology and process for implementation (Flow Charts/Images/ working prototype)</a:t>
            </a:r>
          </a:p>
        </p:txBody>
      </p:sp>
      <p:sp>
        <p:nvSpPr>
          <p:cNvPr id="17413" name="Rounded Rectangle 17412"/>
          <p:cNvSpPr/>
          <p:nvPr/>
        </p:nvSpPr>
        <p:spPr>
          <a:xfrm>
            <a:off x="4343400" y="1517904"/>
            <a:ext cx="2331720" cy="1828800"/>
          </a:xfrm>
          <a:prstGeom prst="roundRect">
            <a:avLst>
              <a:gd name="adj" fmla="val 6000"/>
            </a:avLst>
          </a:prstGeom>
          <a:solidFill>
            <a:srgbClr val="FFF1E8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7414" name="TextBox 17413"/>
          <p:cNvSpPr txBox="1"/>
          <p:nvPr/>
        </p:nvSpPr>
        <p:spPr>
          <a:xfrm>
            <a:off x="4343400" y="1581912"/>
            <a:ext cx="2331720" cy="1828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spcAft>
                <a:spcPts val="0"/>
              </a:spcAft>
            </a:pPr>
            <a:r>
              <a:rPr sz="900" b="1" i="0">
                <a:solidFill>
                  <a:srgbClr val="EA580C"/>
                </a:solidFill>
                <a:latin typeface="Arial"/>
              </a:rPr>
              <a:t>SENDER PHONE</a:t>
            </a:r>
          </a:p>
        </p:txBody>
      </p:sp>
      <p:sp>
        <p:nvSpPr>
          <p:cNvPr id="17415" name="Rounded Rectangle 17414"/>
          <p:cNvSpPr/>
          <p:nvPr/>
        </p:nvSpPr>
        <p:spPr>
          <a:xfrm>
            <a:off x="4480560" y="1828800"/>
            <a:ext cx="2057400" cy="292608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pic>
        <p:nvPicPr>
          <p:cNvPr id="17416" name="Picture 17415" descr="mic-s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81144" y="1883664"/>
            <a:ext cx="182880" cy="182880"/>
          </a:xfrm>
          <a:prstGeom prst="rect">
            <a:avLst/>
          </a:prstGeom>
        </p:spPr>
      </p:pic>
      <p:sp>
        <p:nvSpPr>
          <p:cNvPr id="17417" name="TextBox 17416"/>
          <p:cNvSpPr txBox="1"/>
          <p:nvPr/>
        </p:nvSpPr>
        <p:spPr>
          <a:xfrm>
            <a:off x="4837176" y="1828800"/>
            <a:ext cx="1645919" cy="29260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Aft>
                <a:spcPts val="0"/>
              </a:spcAft>
            </a:pPr>
            <a:r>
              <a:rPr sz="950" b="0" i="0">
                <a:solidFill>
                  <a:srgbClr val="1B2433"/>
                </a:solidFill>
                <a:latin typeface="Arial"/>
              </a:rPr>
              <a:t>Mic 16 kHz</a:t>
            </a:r>
          </a:p>
        </p:txBody>
      </p:sp>
      <p:sp>
        <p:nvSpPr>
          <p:cNvPr id="17418" name="Rounded Rectangle 17417"/>
          <p:cNvSpPr/>
          <p:nvPr/>
        </p:nvSpPr>
        <p:spPr>
          <a:xfrm>
            <a:off x="4480560" y="2203704"/>
            <a:ext cx="2057400" cy="292608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pic>
        <p:nvPicPr>
          <p:cNvPr id="17419" name="Picture 17418" descr="ear-sa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81144" y="2258568"/>
            <a:ext cx="182880" cy="182880"/>
          </a:xfrm>
          <a:prstGeom prst="rect">
            <a:avLst/>
          </a:prstGeom>
        </p:spPr>
      </p:pic>
      <p:sp>
        <p:nvSpPr>
          <p:cNvPr id="17420" name="TextBox 17419"/>
          <p:cNvSpPr txBox="1"/>
          <p:nvPr/>
        </p:nvSpPr>
        <p:spPr>
          <a:xfrm>
            <a:off x="4837176" y="2203704"/>
            <a:ext cx="1645919" cy="29260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Aft>
                <a:spcPts val="0"/>
              </a:spcAft>
            </a:pPr>
            <a:r>
              <a:rPr sz="950" b="0" i="0">
                <a:solidFill>
                  <a:srgbClr val="1B2433"/>
                </a:solidFill>
                <a:latin typeface="Arial"/>
              </a:rPr>
              <a:t>VAD: cut at pause</a:t>
            </a:r>
          </a:p>
        </p:txBody>
      </p:sp>
      <p:sp>
        <p:nvSpPr>
          <p:cNvPr id="17421" name="Rounded Rectangle 17420"/>
          <p:cNvSpPr/>
          <p:nvPr/>
        </p:nvSpPr>
        <p:spPr>
          <a:xfrm>
            <a:off x="4480560" y="2578608"/>
            <a:ext cx="2057400" cy="292608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pic>
        <p:nvPicPr>
          <p:cNvPr id="17422" name="Picture 17421" descr="wave-sa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1144" y="2633472"/>
            <a:ext cx="182880" cy="182880"/>
          </a:xfrm>
          <a:prstGeom prst="rect">
            <a:avLst/>
          </a:prstGeom>
        </p:spPr>
      </p:pic>
      <p:sp>
        <p:nvSpPr>
          <p:cNvPr id="17423" name="TextBox 17422"/>
          <p:cNvSpPr txBox="1"/>
          <p:nvPr/>
        </p:nvSpPr>
        <p:spPr>
          <a:xfrm>
            <a:off x="4837176" y="2578608"/>
            <a:ext cx="1645919" cy="29260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Aft>
                <a:spcPts val="0"/>
              </a:spcAft>
            </a:pPr>
            <a:r>
              <a:rPr sz="950" b="0" i="0">
                <a:solidFill>
                  <a:srgbClr val="1B2433"/>
                </a:solidFill>
                <a:latin typeface="Arial"/>
              </a:rPr>
              <a:t>Speech-to-text</a:t>
            </a:r>
          </a:p>
        </p:txBody>
      </p:sp>
      <p:sp>
        <p:nvSpPr>
          <p:cNvPr id="17424" name="Rounded Rectangle 17423"/>
          <p:cNvSpPr/>
          <p:nvPr/>
        </p:nvSpPr>
        <p:spPr>
          <a:xfrm>
            <a:off x="4480560" y="2953512"/>
            <a:ext cx="2057400" cy="292608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pic>
        <p:nvPicPr>
          <p:cNvPr id="17425" name="Picture 17424" descr="bytes-sa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81144" y="3008376"/>
            <a:ext cx="182880" cy="182880"/>
          </a:xfrm>
          <a:prstGeom prst="rect">
            <a:avLst/>
          </a:prstGeom>
        </p:spPr>
      </p:pic>
      <p:sp>
        <p:nvSpPr>
          <p:cNvPr id="17426" name="TextBox 17425"/>
          <p:cNvSpPr txBox="1"/>
          <p:nvPr/>
        </p:nvSpPr>
        <p:spPr>
          <a:xfrm>
            <a:off x="4837176" y="2953512"/>
            <a:ext cx="1645919" cy="29260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Aft>
                <a:spcPts val="0"/>
              </a:spcAft>
            </a:pPr>
            <a:r>
              <a:rPr sz="950" b="0" i="0">
                <a:solidFill>
                  <a:srgbClr val="1B2433"/>
                </a:solidFill>
                <a:latin typeface="Arial"/>
              </a:rPr>
              <a:t>Pack · sign · encrypt</a:t>
            </a:r>
          </a:p>
        </p:txBody>
      </p:sp>
      <p:cxnSp>
        <p:nvCxnSpPr>
          <p:cNvPr id="17427" name="Connector 17426"/>
          <p:cNvCxnSpPr/>
          <p:nvPr/>
        </p:nvCxnSpPr>
        <p:spPr>
          <a:xfrm>
            <a:off x="6702552" y="2432304"/>
            <a:ext cx="146304" cy="0"/>
          </a:xfrm>
          <a:prstGeom prst="line">
            <a:avLst/>
          </a:prstGeom>
          <a:ln w="25400">
            <a:solidFill>
              <a:srgbClr val="1B2433"/>
            </a:solidFill>
            <a:tailEnd type="triangle" w="med" len="med"/>
          </a:ln>
        </p:spPr>
      </p:cxnSp>
      <p:sp>
        <p:nvSpPr>
          <p:cNvPr id="17428" name="Rounded Rectangle 17427"/>
          <p:cNvSpPr/>
          <p:nvPr/>
        </p:nvSpPr>
        <p:spPr>
          <a:xfrm>
            <a:off x="6876288" y="1517904"/>
            <a:ext cx="2331720" cy="1828800"/>
          </a:xfrm>
          <a:prstGeom prst="roundRect">
            <a:avLst>
              <a:gd name="adj" fmla="val 6000"/>
            </a:avLst>
          </a:prstGeom>
          <a:solidFill>
            <a:srgbClr val="EEF1F5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7429" name="TextBox 17428"/>
          <p:cNvSpPr txBox="1"/>
          <p:nvPr/>
        </p:nvSpPr>
        <p:spPr>
          <a:xfrm>
            <a:off x="6876288" y="1581912"/>
            <a:ext cx="2331720" cy="1828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spcAft>
                <a:spcPts val="0"/>
              </a:spcAft>
            </a:pPr>
            <a:r>
              <a:rPr sz="900" b="1" i="0">
                <a:solidFill>
                  <a:srgbClr val="1B2433"/>
                </a:solidFill>
                <a:latin typeface="Arial"/>
              </a:rPr>
              <a:t>ANY LINK — same frame</a:t>
            </a:r>
          </a:p>
        </p:txBody>
      </p:sp>
      <p:sp>
        <p:nvSpPr>
          <p:cNvPr id="17430" name="Rounded Rectangle 17429"/>
          <p:cNvSpPr/>
          <p:nvPr/>
        </p:nvSpPr>
        <p:spPr>
          <a:xfrm>
            <a:off x="7013448" y="1828800"/>
            <a:ext cx="2057400" cy="292608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pic>
        <p:nvPicPr>
          <p:cNvPr id="17431" name="Picture 17430" descr="wifi-ink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114031" y="1883664"/>
            <a:ext cx="182880" cy="182880"/>
          </a:xfrm>
          <a:prstGeom prst="rect">
            <a:avLst/>
          </a:prstGeom>
        </p:spPr>
      </p:pic>
      <p:sp>
        <p:nvSpPr>
          <p:cNvPr id="17432" name="TextBox 17431"/>
          <p:cNvSpPr txBox="1"/>
          <p:nvPr/>
        </p:nvSpPr>
        <p:spPr>
          <a:xfrm>
            <a:off x="7370063" y="1828800"/>
            <a:ext cx="1645919" cy="29260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Aft>
                <a:spcPts val="0"/>
              </a:spcAft>
            </a:pPr>
            <a:r>
              <a:rPr sz="950" b="0" i="0">
                <a:solidFill>
                  <a:srgbClr val="1B2433"/>
                </a:solidFill>
                <a:latin typeface="Arial"/>
              </a:rPr>
              <a:t>Wi-Fi LAN (first)</a:t>
            </a:r>
          </a:p>
        </p:txBody>
      </p:sp>
      <p:sp>
        <p:nvSpPr>
          <p:cNvPr id="17433" name="Rounded Rectangle 17432"/>
          <p:cNvSpPr/>
          <p:nvPr/>
        </p:nvSpPr>
        <p:spPr>
          <a:xfrm>
            <a:off x="7013448" y="2203704"/>
            <a:ext cx="2057400" cy="292608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pic>
        <p:nvPicPr>
          <p:cNvPr id="17434" name="Picture 17433" descr="antenna-ink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114031" y="2258568"/>
            <a:ext cx="182880" cy="182880"/>
          </a:xfrm>
          <a:prstGeom prst="rect">
            <a:avLst/>
          </a:prstGeom>
        </p:spPr>
      </p:pic>
      <p:sp>
        <p:nvSpPr>
          <p:cNvPr id="17435" name="TextBox 17434"/>
          <p:cNvSpPr txBox="1"/>
          <p:nvPr/>
        </p:nvSpPr>
        <p:spPr>
          <a:xfrm>
            <a:off x="7370063" y="2203704"/>
            <a:ext cx="1645919" cy="29260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Aft>
                <a:spcPts val="0"/>
              </a:spcAft>
            </a:pPr>
            <a:r>
              <a:rPr sz="950" b="0" i="0">
                <a:solidFill>
                  <a:srgbClr val="1B2433"/>
                </a:solidFill>
                <a:latin typeface="Arial"/>
              </a:rPr>
              <a:t>Wi-Fi Direct (+4 s)</a:t>
            </a:r>
          </a:p>
        </p:txBody>
      </p:sp>
      <p:sp>
        <p:nvSpPr>
          <p:cNvPr id="17436" name="Rounded Rectangle 17435"/>
          <p:cNvSpPr/>
          <p:nvPr/>
        </p:nvSpPr>
        <p:spPr>
          <a:xfrm>
            <a:off x="7013448" y="2578608"/>
            <a:ext cx="2057400" cy="292608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pic>
        <p:nvPicPr>
          <p:cNvPr id="17437" name="Picture 17436" descr="bt-ink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114031" y="2633472"/>
            <a:ext cx="182880" cy="182880"/>
          </a:xfrm>
          <a:prstGeom prst="rect">
            <a:avLst/>
          </a:prstGeom>
        </p:spPr>
      </p:pic>
      <p:sp>
        <p:nvSpPr>
          <p:cNvPr id="17438" name="TextBox 17437"/>
          <p:cNvSpPr txBox="1"/>
          <p:nvPr/>
        </p:nvSpPr>
        <p:spPr>
          <a:xfrm>
            <a:off x="7370063" y="2578608"/>
            <a:ext cx="1645919" cy="29260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Aft>
                <a:spcPts val="0"/>
              </a:spcAft>
            </a:pPr>
            <a:r>
              <a:rPr sz="950" b="0" i="0">
                <a:solidFill>
                  <a:srgbClr val="1B2433"/>
                </a:solidFill>
                <a:latin typeface="Arial"/>
              </a:rPr>
              <a:t>Bluetooth LE (+8 s)</a:t>
            </a:r>
          </a:p>
        </p:txBody>
      </p:sp>
      <p:sp>
        <p:nvSpPr>
          <p:cNvPr id="17439" name="Rounded Rectangle 17438"/>
          <p:cNvSpPr/>
          <p:nvPr/>
        </p:nvSpPr>
        <p:spPr>
          <a:xfrm>
            <a:off x="7013448" y="2953512"/>
            <a:ext cx="2057400" cy="292608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pic>
        <p:nvPicPr>
          <p:cNvPr id="17440" name="Picture 17439" descr="server-ink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114031" y="3008376"/>
            <a:ext cx="182880" cy="182880"/>
          </a:xfrm>
          <a:prstGeom prst="rect">
            <a:avLst/>
          </a:prstGeom>
        </p:spPr>
      </p:pic>
      <p:sp>
        <p:nvSpPr>
          <p:cNvPr id="17441" name="TextBox 17440"/>
          <p:cNvSpPr txBox="1"/>
          <p:nvPr/>
        </p:nvSpPr>
        <p:spPr>
          <a:xfrm>
            <a:off x="7370063" y="2953512"/>
            <a:ext cx="1645919" cy="29260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Aft>
                <a:spcPts val="0"/>
              </a:spcAft>
            </a:pPr>
            <a:r>
              <a:rPr sz="950" b="0" i="0">
                <a:solidFill>
                  <a:srgbClr val="1B2433"/>
                </a:solidFill>
                <a:latin typeface="Arial"/>
              </a:rPr>
              <a:t>Control room / LoRa</a:t>
            </a:r>
          </a:p>
        </p:txBody>
      </p:sp>
      <p:cxnSp>
        <p:nvCxnSpPr>
          <p:cNvPr id="17442" name="Connector 17441"/>
          <p:cNvCxnSpPr/>
          <p:nvPr/>
        </p:nvCxnSpPr>
        <p:spPr>
          <a:xfrm>
            <a:off x="9235440" y="2432304"/>
            <a:ext cx="146304" cy="0"/>
          </a:xfrm>
          <a:prstGeom prst="line">
            <a:avLst/>
          </a:prstGeom>
          <a:ln w="25400">
            <a:solidFill>
              <a:srgbClr val="1B2433"/>
            </a:solidFill>
            <a:tailEnd type="triangle" w="med" len="med"/>
          </a:ln>
        </p:spPr>
      </p:cxnSp>
      <p:sp>
        <p:nvSpPr>
          <p:cNvPr id="17443" name="Rounded Rectangle 17442"/>
          <p:cNvSpPr/>
          <p:nvPr/>
        </p:nvSpPr>
        <p:spPr>
          <a:xfrm>
            <a:off x="9409176" y="1517904"/>
            <a:ext cx="2331720" cy="1828800"/>
          </a:xfrm>
          <a:prstGeom prst="roundRect">
            <a:avLst>
              <a:gd name="adj" fmla="val 6000"/>
            </a:avLst>
          </a:prstGeom>
          <a:solidFill>
            <a:srgbClr val="E6F4F2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7444" name="TextBox 17443"/>
          <p:cNvSpPr txBox="1"/>
          <p:nvPr/>
        </p:nvSpPr>
        <p:spPr>
          <a:xfrm>
            <a:off x="9409176" y="1581912"/>
            <a:ext cx="2331720" cy="1828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spcAft>
                <a:spcPts val="0"/>
              </a:spcAft>
            </a:pPr>
            <a:r>
              <a:rPr sz="900" b="1" i="0">
                <a:solidFill>
                  <a:srgbClr val="0F766E"/>
                </a:solidFill>
                <a:latin typeface="Arial"/>
              </a:rPr>
              <a:t>RECEIVER PHONE</a:t>
            </a:r>
          </a:p>
        </p:txBody>
      </p:sp>
      <p:sp>
        <p:nvSpPr>
          <p:cNvPr id="17445" name="Rounded Rectangle 17444"/>
          <p:cNvSpPr/>
          <p:nvPr/>
        </p:nvSpPr>
        <p:spPr>
          <a:xfrm>
            <a:off x="9546336" y="1828800"/>
            <a:ext cx="2057400" cy="292608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pic>
        <p:nvPicPr>
          <p:cNvPr id="17446" name="Picture 17445" descr="check-t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646919" y="1883664"/>
            <a:ext cx="182880" cy="182880"/>
          </a:xfrm>
          <a:prstGeom prst="rect">
            <a:avLst/>
          </a:prstGeom>
        </p:spPr>
      </p:pic>
      <p:sp>
        <p:nvSpPr>
          <p:cNvPr id="17447" name="TextBox 17446"/>
          <p:cNvSpPr txBox="1"/>
          <p:nvPr/>
        </p:nvSpPr>
        <p:spPr>
          <a:xfrm>
            <a:off x="9902951" y="1828800"/>
            <a:ext cx="1645919" cy="29260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Aft>
                <a:spcPts val="0"/>
              </a:spcAft>
            </a:pPr>
            <a:r>
              <a:rPr sz="950" b="0" i="0">
                <a:solidFill>
                  <a:srgbClr val="1B2433"/>
                </a:solidFill>
                <a:latin typeface="Arial"/>
              </a:rPr>
              <a:t>Verify · decode · ACK</a:t>
            </a:r>
          </a:p>
        </p:txBody>
      </p:sp>
      <p:sp>
        <p:nvSpPr>
          <p:cNvPr id="17448" name="Rounded Rectangle 17447"/>
          <p:cNvSpPr/>
          <p:nvPr/>
        </p:nvSpPr>
        <p:spPr>
          <a:xfrm>
            <a:off x="9546336" y="2203704"/>
            <a:ext cx="2057400" cy="292608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pic>
        <p:nvPicPr>
          <p:cNvPr id="17449" name="Picture 17448" descr="text-t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646919" y="2258568"/>
            <a:ext cx="182880" cy="182880"/>
          </a:xfrm>
          <a:prstGeom prst="rect">
            <a:avLst/>
          </a:prstGeom>
        </p:spPr>
      </p:pic>
      <p:sp>
        <p:nvSpPr>
          <p:cNvPr id="17450" name="TextBox 17449"/>
          <p:cNvSpPr txBox="1"/>
          <p:nvPr/>
        </p:nvSpPr>
        <p:spPr>
          <a:xfrm>
            <a:off x="9902951" y="2203704"/>
            <a:ext cx="1645919" cy="29260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Aft>
                <a:spcPts val="0"/>
              </a:spcAft>
            </a:pPr>
            <a:r>
              <a:rPr sz="950" b="0" i="0">
                <a:solidFill>
                  <a:srgbClr val="1B2433"/>
                </a:solidFill>
                <a:latin typeface="Arial"/>
              </a:rPr>
              <a:t>Numbers → words</a:t>
            </a:r>
          </a:p>
        </p:txBody>
      </p:sp>
      <p:sp>
        <p:nvSpPr>
          <p:cNvPr id="17451" name="Rounded Rectangle 17450"/>
          <p:cNvSpPr/>
          <p:nvPr/>
        </p:nvSpPr>
        <p:spPr>
          <a:xfrm>
            <a:off x="9546336" y="2578608"/>
            <a:ext cx="2057400" cy="292608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pic>
        <p:nvPicPr>
          <p:cNvPr id="17452" name="Picture 17451" descr="speaker-t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9646919" y="2633472"/>
            <a:ext cx="182880" cy="182880"/>
          </a:xfrm>
          <a:prstGeom prst="rect">
            <a:avLst/>
          </a:prstGeom>
        </p:spPr>
      </p:pic>
      <p:sp>
        <p:nvSpPr>
          <p:cNvPr id="17453" name="TextBox 17452"/>
          <p:cNvSpPr txBox="1"/>
          <p:nvPr/>
        </p:nvSpPr>
        <p:spPr>
          <a:xfrm>
            <a:off x="9902951" y="2578608"/>
            <a:ext cx="1645919" cy="29260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Aft>
                <a:spcPts val="0"/>
              </a:spcAft>
            </a:pPr>
            <a:r>
              <a:rPr sz="950" b="0" i="0">
                <a:solidFill>
                  <a:srgbClr val="1B2433"/>
                </a:solidFill>
                <a:latin typeface="Arial"/>
              </a:rPr>
              <a:t>TTS, own language</a:t>
            </a:r>
          </a:p>
        </p:txBody>
      </p:sp>
      <p:sp>
        <p:nvSpPr>
          <p:cNvPr id="17454" name="Rounded Rectangle 17453"/>
          <p:cNvSpPr/>
          <p:nvPr/>
        </p:nvSpPr>
        <p:spPr>
          <a:xfrm>
            <a:off x="9546336" y="2953512"/>
            <a:ext cx="2057400" cy="292608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pic>
        <p:nvPicPr>
          <p:cNvPr id="17455" name="Picture 17454" descr="siren-t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9646919" y="3008376"/>
            <a:ext cx="182880" cy="182880"/>
          </a:xfrm>
          <a:prstGeom prst="rect">
            <a:avLst/>
          </a:prstGeom>
        </p:spPr>
      </p:pic>
      <p:sp>
        <p:nvSpPr>
          <p:cNvPr id="17456" name="TextBox 17455"/>
          <p:cNvSpPr txBox="1"/>
          <p:nvPr/>
        </p:nvSpPr>
        <p:spPr>
          <a:xfrm>
            <a:off x="9902951" y="2953512"/>
            <a:ext cx="1645919" cy="29260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Aft>
                <a:spcPts val="0"/>
              </a:spcAft>
            </a:pPr>
            <a:r>
              <a:rPr sz="950" b="0" i="0">
                <a:solidFill>
                  <a:srgbClr val="1B2433"/>
                </a:solidFill>
                <a:latin typeface="Arial"/>
              </a:rPr>
              <a:t>Voice note / ALERT</a:t>
            </a:r>
          </a:p>
        </p:txBody>
      </p:sp>
      <p:sp>
        <p:nvSpPr>
          <p:cNvPr id="17457" name="TextBox 17456"/>
          <p:cNvSpPr txBox="1"/>
          <p:nvPr/>
        </p:nvSpPr>
        <p:spPr>
          <a:xfrm>
            <a:off x="4343400" y="3493008"/>
            <a:ext cx="2331720" cy="7315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200"/>
              </a:spcAft>
            </a:pPr>
            <a:r>
              <a:rPr sz="1000" b="1" i="0">
                <a:solidFill>
                  <a:srgbClr val="15803D"/>
                </a:solidFill>
                <a:latin typeface="Arial"/>
              </a:rPr>
              <a:t>Built and running</a:t>
            </a:r>
          </a:p>
          <a:p>
            <a:pPr algn="l">
              <a:spcAft>
                <a:spcPts val="200"/>
              </a:spcAft>
            </a:pPr>
            <a:r>
              <a:rPr sz="900" b="0" i="0">
                <a:solidFill>
                  <a:srgbClr val="1B2433"/>
                </a:solidFill>
                <a:latin typeface="Arial"/>
              </a:rPr>
              <a:t>Push-to-talk, call mode, 10-language STT/TTS, ALERT, SOS, LITE profile, control room.</a:t>
            </a:r>
          </a:p>
        </p:txBody>
      </p:sp>
      <p:sp>
        <p:nvSpPr>
          <p:cNvPr id="17458" name="TextBox 17457"/>
          <p:cNvSpPr txBox="1"/>
          <p:nvPr/>
        </p:nvSpPr>
        <p:spPr>
          <a:xfrm>
            <a:off x="6876288" y="3493008"/>
            <a:ext cx="2331720" cy="7315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200"/>
              </a:spcAft>
            </a:pPr>
            <a:r>
              <a:rPr sz="1000" b="1" i="0">
                <a:solidFill>
                  <a:srgbClr val="B45309"/>
                </a:solidFill>
                <a:latin typeface="Arial"/>
              </a:rPr>
              <a:t>Partial · test pending</a:t>
            </a:r>
          </a:p>
          <a:p>
            <a:pPr algn="l">
              <a:spcAft>
                <a:spcPts val="200"/>
              </a:spcAft>
            </a:pPr>
            <a:r>
              <a:rPr sz="900" b="0" i="0">
                <a:solidFill>
                  <a:srgbClr val="1B2433"/>
                </a:solidFill>
                <a:latin typeface="Arial"/>
              </a:rPr>
              <a:t>Encryption covers binary mode; LoRa firmware compiles; Wi-Fi Direct/BLE two-phone test.</a:t>
            </a:r>
          </a:p>
        </p:txBody>
      </p:sp>
      <p:sp>
        <p:nvSpPr>
          <p:cNvPr id="17459" name="TextBox 17458"/>
          <p:cNvSpPr txBox="1"/>
          <p:nvPr/>
        </p:nvSpPr>
        <p:spPr>
          <a:xfrm>
            <a:off x="9409176" y="3493008"/>
            <a:ext cx="2331720" cy="7315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200"/>
              </a:spcAft>
            </a:pPr>
            <a:r>
              <a:rPr sz="1000" b="1" i="0">
                <a:solidFill>
                  <a:srgbClr val="64748B"/>
                </a:solidFill>
                <a:latin typeface="Arial"/>
              </a:rPr>
              <a:t>Planned</a:t>
            </a:r>
          </a:p>
          <a:p>
            <a:pPr algn="l">
              <a:spcAft>
                <a:spcPts val="200"/>
              </a:spcAft>
            </a:pPr>
            <a:r>
              <a:rPr sz="900" b="0" i="0">
                <a:solidFill>
                  <a:srgbClr val="1B2433"/>
                </a:solidFill>
                <a:latin typeface="Arial"/>
              </a:rPr>
              <a:t>On-device translation (IndicTrans2), smaller voices, phone-to-phone mesh relay.</a:t>
            </a:r>
          </a:p>
        </p:txBody>
      </p:sp>
      <p:sp>
        <p:nvSpPr>
          <p:cNvPr id="17460" name="TextBox 17459"/>
          <p:cNvSpPr txBox="1"/>
          <p:nvPr/>
        </p:nvSpPr>
        <p:spPr>
          <a:xfrm>
            <a:off x="4343400" y="4315968"/>
            <a:ext cx="7406640" cy="2011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1B2433"/>
                </a:solidFill>
                <a:latin typeface="Arial"/>
              </a:rPr>
              <a:t>Working prototype — real screens</a:t>
            </a:r>
          </a:p>
        </p:txBody>
      </p:sp>
      <p:pic>
        <p:nvPicPr>
          <p:cNvPr id="17461" name="Picture 17460" descr="dashboard.jpg">
            <a:hlinkClick r:id="rId17"/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4343400" y="4572000"/>
            <a:ext cx="3085810" cy="1417320"/>
          </a:xfrm>
          <a:prstGeom prst="roundRect">
            <a:avLst>
              <a:gd name="adj" fmla="val 4000"/>
            </a:avLst>
          </a:prstGeom>
        </p:spPr>
      </p:pic>
      <p:sp>
        <p:nvSpPr>
          <p:cNvPr id="17462" name="TextBox 17461"/>
          <p:cNvSpPr txBox="1"/>
          <p:nvPr/>
        </p:nvSpPr>
        <p:spPr>
          <a:xfrm>
            <a:off x="4251960" y="6025896"/>
            <a:ext cx="3268690" cy="16459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spcAft>
                <a:spcPts val="0"/>
              </a:spcAft>
            </a:pPr>
            <a:r>
              <a:rPr sz="800" b="0" i="0">
                <a:solidFill>
                  <a:srgbClr val="5B6472"/>
                </a:solidFill>
                <a:latin typeface="Arial"/>
              </a:rPr>
              <a:t>PC control room</a:t>
            </a:r>
          </a:p>
        </p:txBody>
      </p:sp>
      <p:pic>
        <p:nvPicPr>
          <p:cNvPr id="17463" name="Picture 17462" descr="pairing.jpg">
            <a:hlinkClick r:id="rId17"/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7566370" y="4572000"/>
            <a:ext cx="659645" cy="1417320"/>
          </a:xfrm>
          <a:prstGeom prst="roundRect">
            <a:avLst>
              <a:gd name="adj" fmla="val 8000"/>
            </a:avLst>
          </a:prstGeom>
          <a:ln w="9525">
            <a:solidFill>
              <a:srgbClr val="DDE1E7"/>
            </a:solidFill>
          </a:ln>
        </p:spPr>
      </p:pic>
      <p:sp>
        <p:nvSpPr>
          <p:cNvPr id="17464" name="TextBox 17463"/>
          <p:cNvSpPr txBox="1"/>
          <p:nvPr/>
        </p:nvSpPr>
        <p:spPr>
          <a:xfrm>
            <a:off x="7474930" y="6025896"/>
            <a:ext cx="842525" cy="16459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spcAft>
                <a:spcPts val="0"/>
              </a:spcAft>
            </a:pPr>
            <a:r>
              <a:rPr sz="800" b="0" i="0">
                <a:solidFill>
                  <a:srgbClr val="5B6472"/>
                </a:solidFill>
                <a:latin typeface="Arial"/>
              </a:rPr>
              <a:t>QR pairing</a:t>
            </a:r>
          </a:p>
        </p:txBody>
      </p:sp>
      <p:pic>
        <p:nvPicPr>
          <p:cNvPr id="17465" name="Picture 17464" descr="08_hindi_ui.jpg">
            <a:hlinkClick r:id="rId17"/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8363175" y="4572000"/>
            <a:ext cx="660926" cy="1417320"/>
          </a:xfrm>
          <a:prstGeom prst="roundRect">
            <a:avLst>
              <a:gd name="adj" fmla="val 8000"/>
            </a:avLst>
          </a:prstGeom>
          <a:ln w="9525">
            <a:solidFill>
              <a:srgbClr val="DDE1E7"/>
            </a:solidFill>
          </a:ln>
        </p:spPr>
      </p:pic>
      <p:sp>
        <p:nvSpPr>
          <p:cNvPr id="17466" name="TextBox 17465"/>
          <p:cNvSpPr txBox="1"/>
          <p:nvPr/>
        </p:nvSpPr>
        <p:spPr>
          <a:xfrm>
            <a:off x="8271735" y="6025896"/>
            <a:ext cx="843806" cy="16459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spcAft>
                <a:spcPts val="0"/>
              </a:spcAft>
            </a:pPr>
            <a:r>
              <a:rPr sz="800" b="0" i="0">
                <a:solidFill>
                  <a:srgbClr val="5B6472"/>
                </a:solidFill>
                <a:latin typeface="Arial"/>
              </a:rPr>
              <a:t>LITE profile</a:t>
            </a:r>
          </a:p>
        </p:txBody>
      </p:sp>
      <p:sp>
        <p:nvSpPr>
          <p:cNvPr id="17467" name="TextBox 17466"/>
          <p:cNvSpPr txBox="1"/>
          <p:nvPr/>
        </p:nvSpPr>
        <p:spPr>
          <a:xfrm>
            <a:off x="9252701" y="4572000"/>
            <a:ext cx="2524770" cy="10972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 marL="146304" indent="-146304">
              <a:spcAft>
                <a:spcPts val="300"/>
              </a:spcAft>
              <a:buFont typeface="Arial"/>
              <a:buChar char="•"/>
            </a:pPr>
            <a:r>
              <a:rPr sz="900" b="0" i="0">
                <a:solidFill>
                  <a:srgbClr val="1B2433"/>
                </a:solidFill>
                <a:latin typeface="Arial"/>
              </a:rPr>
              <a:t>Prototype v0.1.0, APK 60 MB</a:t>
            </a:r>
          </a:p>
          <a:p>
            <a:pPr algn="l" marL="146304" indent="-146304">
              <a:spcAft>
                <a:spcPts val="300"/>
              </a:spcAft>
              <a:buFont typeface="Arial"/>
              <a:buChar char="•"/>
            </a:pPr>
            <a:r>
              <a:rPr sz="900" b="0" i="0">
                <a:solidFill>
                  <a:srgbClr val="1B2433"/>
                </a:solidFill>
                <a:latin typeface="Arial"/>
              </a:rPr>
              <a:t>Models 1.2 GB, installed once</a:t>
            </a:r>
          </a:p>
          <a:p>
            <a:pPr algn="l" marL="146304" indent="-146304">
              <a:spcAft>
                <a:spcPts val="300"/>
              </a:spcAft>
              <a:buFont typeface="Arial"/>
              <a:buChar char="•"/>
            </a:pPr>
            <a:r>
              <a:rPr sz="900" b="0" i="0">
                <a:solidFill>
                  <a:srgbClr val="1B2433"/>
                </a:solidFill>
                <a:latin typeface="Arial"/>
              </a:rPr>
              <a:t>Tested on Snapdragon 870 and 8 Gen 3</a:t>
            </a:r>
          </a:p>
        </p:txBody>
      </p:sp>
      <p:sp>
        <p:nvSpPr>
          <p:cNvPr id="17468" name="Rounded Rectangle 17467">
            <a:hlinkClick r:id="rId20"/>
          </p:cNvPr>
          <p:cNvSpPr/>
          <p:nvPr/>
        </p:nvSpPr>
        <p:spPr>
          <a:xfrm>
            <a:off x="9252701" y="5715000"/>
            <a:ext cx="2524770" cy="274320"/>
          </a:xfrm>
          <a:prstGeom prst="roundRect">
            <a:avLst>
              <a:gd name="adj" fmla="val 50000"/>
            </a:avLst>
          </a:prstGeom>
          <a:solidFill>
            <a:srgbClr val="E6F4F2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pic>
        <p:nvPicPr>
          <p:cNvPr id="17469" name="Picture 17468" descr="download-te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9362429" y="5742432"/>
            <a:ext cx="219456" cy="219456"/>
          </a:xfrm>
          <a:prstGeom prst="rect">
            <a:avLst/>
          </a:prstGeom>
        </p:spPr>
      </p:pic>
      <p:sp>
        <p:nvSpPr>
          <p:cNvPr id="17470" name="TextBox 17469">
            <a:hlinkClick r:id="rId20"/>
          </p:cNvPr>
          <p:cNvSpPr txBox="1"/>
          <p:nvPr/>
        </p:nvSpPr>
        <p:spPr>
          <a:xfrm>
            <a:off x="9636749" y="5715000"/>
            <a:ext cx="206757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Aft>
                <a:spcPts val="0"/>
              </a:spcAft>
            </a:pPr>
            <a:r>
              <a:rPr sz="900" b="1" i="0">
                <a:solidFill>
                  <a:srgbClr val="0F766E"/>
                </a:solidFill>
                <a:latin typeface="Arial"/>
              </a:rPr>
              <a:t>Reviewer install guide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FEASIBILITY AND VIABILITY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z="1200" b="1"/>
              <a:t>Team Turtle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0" name="TextBox 17409"/>
          <p:cNvSpPr txBox="1"/>
          <p:nvPr/>
        </p:nvSpPr>
        <p:spPr>
          <a:xfrm>
            <a:off x="411480" y="11887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1B2433"/>
                </a:solidFill>
                <a:latin typeface="Arial"/>
              </a:rPr>
              <a:t>Analysis of the feasibility of the idea</a:t>
            </a:r>
          </a:p>
        </p:txBody>
      </p:sp>
      <p:sp>
        <p:nvSpPr>
          <p:cNvPr id="17411" name="TextBox 17410"/>
          <p:cNvSpPr txBox="1"/>
          <p:nvPr/>
        </p:nvSpPr>
        <p:spPr>
          <a:xfrm>
            <a:off x="5486400" y="1225296"/>
            <a:ext cx="6291072" cy="228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spcAft>
                <a:spcPts val="0"/>
              </a:spcAft>
            </a:pPr>
            <a:r>
              <a:rPr sz="1050" b="0" i="1">
                <a:solidFill>
                  <a:srgbClr val="5B6472"/>
                </a:solidFill>
                <a:latin typeface="Arial"/>
              </a:rPr>
              <a:t>Measured: 4 GB-class memory test, in-app logging</a:t>
            </a:r>
          </a:p>
        </p:txBody>
      </p:sp>
      <p:sp>
        <p:nvSpPr>
          <p:cNvPr id="17412" name="Rounded Rectangle 17411"/>
          <p:cNvSpPr/>
          <p:nvPr/>
        </p:nvSpPr>
        <p:spPr>
          <a:xfrm>
            <a:off x="411480" y="1554480"/>
            <a:ext cx="2148840" cy="1115568"/>
          </a:xfrm>
          <a:prstGeom prst="roundRect">
            <a:avLst>
              <a:gd name="adj" fmla="val 8000"/>
            </a:avLst>
          </a:prstGeom>
          <a:solidFill>
            <a:srgbClr val="E6F4F2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7413" name="TextBox 17412"/>
          <p:cNvSpPr txBox="1"/>
          <p:nvPr/>
        </p:nvSpPr>
        <p:spPr>
          <a:xfrm>
            <a:off x="576072" y="1645920"/>
            <a:ext cx="1874520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0"/>
              </a:spcAft>
            </a:pPr>
            <a:r>
              <a:rPr sz="2400" b="1" i="0">
                <a:solidFill>
                  <a:srgbClr val="0F766E"/>
                </a:solidFill>
                <a:latin typeface="Arial"/>
              </a:rPr>
              <a:t>14×</a:t>
            </a:r>
          </a:p>
        </p:txBody>
      </p:sp>
      <p:sp>
        <p:nvSpPr>
          <p:cNvPr id="17414" name="TextBox 17413"/>
          <p:cNvSpPr txBox="1"/>
          <p:nvPr/>
        </p:nvSpPr>
        <p:spPr>
          <a:xfrm>
            <a:off x="576072" y="2103120"/>
            <a:ext cx="1874520" cy="5029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1B2433"/>
                </a:solidFill>
                <a:latin typeface="Arial"/>
              </a:rPr>
              <a:t>faster than speech</a:t>
            </a:r>
          </a:p>
          <a:p>
            <a:pPr algn="l">
              <a:spcAft>
                <a:spcPts val="0"/>
              </a:spcAft>
            </a:pPr>
            <a:r>
              <a:rPr sz="850" b="0" i="0">
                <a:solidFill>
                  <a:srgbClr val="5B6472"/>
                </a:solidFill>
                <a:latin typeface="Arial"/>
              </a:rPr>
              <a:t>real-time factor 0.07, 10/10 languages</a:t>
            </a:r>
          </a:p>
        </p:txBody>
      </p:sp>
      <p:sp>
        <p:nvSpPr>
          <p:cNvPr id="17415" name="Rounded Rectangle 17414"/>
          <p:cNvSpPr/>
          <p:nvPr/>
        </p:nvSpPr>
        <p:spPr>
          <a:xfrm>
            <a:off x="2715768" y="1554480"/>
            <a:ext cx="2148840" cy="1115568"/>
          </a:xfrm>
          <a:prstGeom prst="roundRect">
            <a:avLst>
              <a:gd name="adj" fmla="val 8000"/>
            </a:avLst>
          </a:prstGeom>
          <a:solidFill>
            <a:srgbClr val="E6F4F2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7416" name="TextBox 17415"/>
          <p:cNvSpPr txBox="1"/>
          <p:nvPr/>
        </p:nvSpPr>
        <p:spPr>
          <a:xfrm>
            <a:off x="2880360" y="1645920"/>
            <a:ext cx="1874520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0"/>
              </a:spcAft>
            </a:pPr>
            <a:r>
              <a:rPr sz="2400" b="1" i="0">
                <a:solidFill>
                  <a:srgbClr val="0F766E"/>
                </a:solidFill>
                <a:latin typeface="Arial"/>
              </a:rPr>
              <a:t>0.6 s</a:t>
            </a:r>
          </a:p>
        </p:txBody>
      </p:sp>
      <p:sp>
        <p:nvSpPr>
          <p:cNvPr id="17417" name="TextBox 17416"/>
          <p:cNvSpPr txBox="1"/>
          <p:nvPr/>
        </p:nvSpPr>
        <p:spPr>
          <a:xfrm>
            <a:off x="2880360" y="2103120"/>
            <a:ext cx="1874520" cy="5029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1B2433"/>
                </a:solidFill>
                <a:latin typeface="Arial"/>
              </a:rPr>
              <a:t>speech end → text</a:t>
            </a:r>
          </a:p>
          <a:p>
            <a:pPr algn="l">
              <a:spcAft>
                <a:spcPts val="0"/>
              </a:spcAft>
            </a:pPr>
            <a:r>
              <a:rPr sz="850" b="0" i="0">
                <a:solidFill>
                  <a:srgbClr val="5B6472"/>
                </a:solidFill>
                <a:latin typeface="Arial"/>
              </a:rPr>
              <a:t>median; range 0.42–0.70 s</a:t>
            </a:r>
          </a:p>
        </p:txBody>
      </p:sp>
      <p:sp>
        <p:nvSpPr>
          <p:cNvPr id="17418" name="Rounded Rectangle 17417"/>
          <p:cNvSpPr/>
          <p:nvPr/>
        </p:nvSpPr>
        <p:spPr>
          <a:xfrm>
            <a:off x="5020056" y="1554480"/>
            <a:ext cx="2148840" cy="1115568"/>
          </a:xfrm>
          <a:prstGeom prst="roundRect">
            <a:avLst>
              <a:gd name="adj" fmla="val 8000"/>
            </a:avLst>
          </a:prstGeom>
          <a:solidFill>
            <a:srgbClr val="E6F4F2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7419" name="TextBox 17418"/>
          <p:cNvSpPr txBox="1"/>
          <p:nvPr/>
        </p:nvSpPr>
        <p:spPr>
          <a:xfrm>
            <a:off x="5184648" y="1645920"/>
            <a:ext cx="1874520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0"/>
              </a:spcAft>
            </a:pPr>
            <a:r>
              <a:rPr sz="2400" b="1" i="0">
                <a:solidFill>
                  <a:srgbClr val="0F766E"/>
                </a:solidFill>
                <a:latin typeface="Arial"/>
              </a:rPr>
              <a:t>765 MB</a:t>
            </a:r>
          </a:p>
        </p:txBody>
      </p:sp>
      <p:sp>
        <p:nvSpPr>
          <p:cNvPr id="17420" name="TextBox 17419"/>
          <p:cNvSpPr txBox="1"/>
          <p:nvPr/>
        </p:nvSpPr>
        <p:spPr>
          <a:xfrm>
            <a:off x="5184648" y="2103120"/>
            <a:ext cx="1874520" cy="5029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1B2433"/>
                </a:solidFill>
                <a:latin typeface="Arial"/>
              </a:rPr>
              <a:t>app RAM when idle</a:t>
            </a:r>
          </a:p>
          <a:p>
            <a:pPr algn="l">
              <a:spcAft>
                <a:spcPts val="0"/>
              </a:spcAft>
            </a:pPr>
            <a:r>
              <a:rPr sz="850" b="0" i="0">
                <a:solidFill>
                  <a:srgbClr val="5B6472"/>
                </a:solidFill>
                <a:latin typeface="Arial"/>
              </a:rPr>
              <a:t>1.8 GB peak while speaking</a:t>
            </a:r>
          </a:p>
        </p:txBody>
      </p:sp>
      <p:sp>
        <p:nvSpPr>
          <p:cNvPr id="17421" name="Rounded Rectangle 17420"/>
          <p:cNvSpPr/>
          <p:nvPr/>
        </p:nvSpPr>
        <p:spPr>
          <a:xfrm>
            <a:off x="7324344" y="1554480"/>
            <a:ext cx="2148840" cy="1115568"/>
          </a:xfrm>
          <a:prstGeom prst="roundRect">
            <a:avLst>
              <a:gd name="adj" fmla="val 8000"/>
            </a:avLst>
          </a:prstGeom>
          <a:solidFill>
            <a:srgbClr val="E6F4F2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7422" name="TextBox 17421"/>
          <p:cNvSpPr txBox="1"/>
          <p:nvPr/>
        </p:nvSpPr>
        <p:spPr>
          <a:xfrm>
            <a:off x="7488936" y="1645920"/>
            <a:ext cx="1874520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0"/>
              </a:spcAft>
            </a:pPr>
            <a:r>
              <a:rPr sz="2400" b="1" i="0">
                <a:solidFill>
                  <a:srgbClr val="0F766E"/>
                </a:solidFill>
                <a:latin typeface="Arial"/>
              </a:rPr>
              <a:t>0.3%</a:t>
            </a:r>
          </a:p>
        </p:txBody>
      </p:sp>
      <p:sp>
        <p:nvSpPr>
          <p:cNvPr id="17423" name="TextBox 17422"/>
          <p:cNvSpPr txBox="1"/>
          <p:nvPr/>
        </p:nvSpPr>
        <p:spPr>
          <a:xfrm>
            <a:off x="7488936" y="2103120"/>
            <a:ext cx="1874520" cy="5029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1B2433"/>
                </a:solidFill>
                <a:latin typeface="Arial"/>
              </a:rPr>
              <a:t>idle CPU</a:t>
            </a:r>
          </a:p>
          <a:p>
            <a:pPr algn="l">
              <a:spcAft>
                <a:spcPts val="0"/>
              </a:spcAft>
            </a:pPr>
            <a:r>
              <a:rPr sz="850" b="0" i="0">
                <a:solidFill>
                  <a:srgbClr val="5B6472"/>
                </a:solidFill>
                <a:latin typeface="Arial"/>
              </a:rPr>
              <a:t>of one core, push-to-talk</a:t>
            </a:r>
          </a:p>
        </p:txBody>
      </p:sp>
      <p:sp>
        <p:nvSpPr>
          <p:cNvPr id="17424" name="Rounded Rectangle 17423"/>
          <p:cNvSpPr/>
          <p:nvPr/>
        </p:nvSpPr>
        <p:spPr>
          <a:xfrm>
            <a:off x="9628632" y="1554480"/>
            <a:ext cx="2148840" cy="1115568"/>
          </a:xfrm>
          <a:prstGeom prst="roundRect">
            <a:avLst>
              <a:gd name="adj" fmla="val 8000"/>
            </a:avLst>
          </a:prstGeom>
          <a:solidFill>
            <a:srgbClr val="E6F4F2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7425" name="TextBox 17424"/>
          <p:cNvSpPr txBox="1"/>
          <p:nvPr/>
        </p:nvSpPr>
        <p:spPr>
          <a:xfrm>
            <a:off x="9793224" y="1645920"/>
            <a:ext cx="1874520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0"/>
              </a:spcAft>
            </a:pPr>
            <a:r>
              <a:rPr sz="2400" b="1" i="0">
                <a:solidFill>
                  <a:srgbClr val="0F766E"/>
                </a:solidFill>
                <a:latin typeface="Arial"/>
              </a:rPr>
              <a:t>Alive</a:t>
            </a:r>
          </a:p>
        </p:txBody>
      </p:sp>
      <p:sp>
        <p:nvSpPr>
          <p:cNvPr id="17426" name="TextBox 17425"/>
          <p:cNvSpPr txBox="1"/>
          <p:nvPr/>
        </p:nvSpPr>
        <p:spPr>
          <a:xfrm>
            <a:off x="9793224" y="2103120"/>
            <a:ext cx="1874520" cy="5029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1B2433"/>
                </a:solidFill>
                <a:latin typeface="Arial"/>
              </a:rPr>
              <a:t>app not killed</a:t>
            </a:r>
          </a:p>
          <a:p>
            <a:pPr algn="l">
              <a:spcAft>
                <a:spcPts val="0"/>
              </a:spcAft>
            </a:pPr>
            <a:r>
              <a:rPr sz="850" b="0" i="0">
                <a:solidFill>
                  <a:srgbClr val="5B6472"/>
                </a:solidFill>
                <a:latin typeface="Arial"/>
              </a:rPr>
              <a:t>Android closed 115 other processes</a:t>
            </a:r>
          </a:p>
        </p:txBody>
      </p:sp>
      <p:sp>
        <p:nvSpPr>
          <p:cNvPr id="17427" name="TextBox 17426"/>
          <p:cNvSpPr txBox="1"/>
          <p:nvPr/>
        </p:nvSpPr>
        <p:spPr>
          <a:xfrm>
            <a:off x="411480" y="2743200"/>
            <a:ext cx="11338560" cy="31089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0"/>
              </a:spcAft>
            </a:pPr>
            <a:r>
              <a:rPr sz="900" b="0" i="1">
                <a:solidFill>
                  <a:srgbClr val="5B6472"/>
                </a:solidFill>
                <a:latin typeface="Arial"/>
              </a:rPr>
              <a:t>Method: 12 GB vivo I2202 (Snapdragon 870) with RAM reserved so only ~1.7 GB stayed free, LITE profile; the chip was not slowed, so a budget phone will be slower. Also measured: 41 ms message → ACK over Wi-Fi · 0 audio underruns in 5 languages · word error rate 5.9% (preliminary, 10 clips).</a:t>
            </a:r>
          </a:p>
        </p:txBody>
      </p:sp>
      <p:graphicFrame>
        <p:nvGraphicFramePr>
          <p:cNvPr id="17428" name="Table 17427"/>
          <p:cNvGraphicFramePr>
            <a:graphicFrameLocks noGrp="1"/>
          </p:cNvGraphicFramePr>
          <p:nvPr/>
        </p:nvGraphicFramePr>
        <p:xfrm>
          <a:off x="411480" y="3255264"/>
          <a:ext cx="6583680" cy="2322576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514600"/>
                <a:gridCol w="4069080"/>
              </a:tblGrid>
              <a:tr h="274320"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EA580C"/>
                          </a:solidFill>
                          <a:latin typeface="Arial"/>
                        </a:rPr>
                        <a:t>Potential challenges and risks</a:t>
                      </a:r>
                    </a:p>
                  </a:txBody>
                  <a:tcPr marL="73152" marR="73152" marT="27432" marB="27432" anchor="ctr">
                    <a:solidFill>
                      <a:srgbClr val="FFF1E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EA580C"/>
                          </a:solidFill>
                          <a:latin typeface="Arial"/>
                        </a:rPr>
                        <a:t>Strategies for overcoming these challenges</a:t>
                      </a:r>
                    </a:p>
                  </a:txBody>
                  <a:tcPr marL="73152" marR="73152" marT="27432" marB="27432" anchor="ctr">
                    <a:solidFill>
                      <a:srgbClr val="FFF1E8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1B2433"/>
                          </a:solidFill>
                          <a:latin typeface="Arial"/>
                        </a:rPr>
                        <a:t>Voice starts 3–6 s after arrival in LITE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B2433"/>
                          </a:solidFill>
                          <a:latin typeface="Arial"/>
                        </a:rPr>
                        <a:t>Keep the listener's language loaded; add small, fast voices for hi/gu/or/en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1B2433"/>
                          </a:solidFill>
                          <a:latin typeface="Arial"/>
                        </a:rPr>
                        <a:t>1.14 GB of speech models on the phone</a:t>
                      </a:r>
                    </a:p>
                  </a:txBody>
                  <a:tcPr marL="73152" marR="73152" marT="27432" marB="27432" anchor="ctr">
                    <a:solidFill>
                      <a:srgbClr val="F6F7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B2433"/>
                          </a:solidFill>
                          <a:latin typeface="Arial"/>
                        </a:rPr>
                        <a:t>Download only the languages a user needs; installer checks every file's SHA-256</a:t>
                      </a:r>
                    </a:p>
                  </a:txBody>
                  <a:tcPr marL="73152" marR="73152" marT="27432" marB="27432" anchor="ctr">
                    <a:solidFill>
                      <a:srgbClr val="F6F7F9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1B2433"/>
                          </a:solidFill>
                          <a:latin typeface="Arial"/>
                        </a:rPr>
                        <a:t>Wi-Fi Direct / BLE: two-phone test pending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B2433"/>
                          </a:solidFill>
                          <a:latin typeface="Arial"/>
                        </a:rPr>
                        <a:t>Field tests on two phones; Wi-Fi stays the primary link; LoRa bridge for range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1B2433"/>
                          </a:solidFill>
                          <a:latin typeface="Arial"/>
                        </a:rPr>
                        <a:t>Noise, accents and code-mixing</a:t>
                      </a:r>
                    </a:p>
                  </a:txBody>
                  <a:tcPr marL="73152" marR="73152" marT="27432" marB="27432" anchor="ctr">
                    <a:solidFill>
                      <a:srgbClr val="F6F7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B2433"/>
                          </a:solidFill>
                          <a:latin typeface="Arial"/>
                        </a:rPr>
                        <a:t>Boost alert keywords; 30-clip-per-language evaluation; typed text as a fallback</a:t>
                      </a:r>
                    </a:p>
                  </a:txBody>
                  <a:tcPr marL="73152" marR="73152" marT="27432" marB="27432" anchor="ctr">
                    <a:solidFill>
                      <a:srgbClr val="F6F7F9"/>
                    </a:solidFill>
                  </a:tcPr>
                </a:tc>
              </a:tr>
            </a:tbl>
          </a:graphicData>
        </a:graphic>
      </p:graphicFrame>
      <p:sp>
        <p:nvSpPr>
          <p:cNvPr id="17429" name="TextBox 17428"/>
          <p:cNvSpPr txBox="1"/>
          <p:nvPr/>
        </p:nvSpPr>
        <p:spPr>
          <a:xfrm>
            <a:off x="411480" y="5669280"/>
            <a:ext cx="6583680" cy="411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0"/>
              </a:spcAft>
            </a:pPr>
            <a:r>
              <a:rPr sz="950" b="1" i="0">
                <a:solidFill>
                  <a:srgbClr val="0F766E"/>
                </a:solidFill>
                <a:latin typeface="Arial"/>
              </a:rPr>
              <a:t>Next steps: </a:t>
            </a:r>
            <a:r>
              <a:rPr sz="950" b="0" i="0">
                <a:solidFill>
                  <a:srgbClr val="1B2433"/>
                </a:solidFill>
                <a:latin typeface="Arial"/>
              </a:rPr>
              <a:t>two-phone field test of every link · flash and range-test the LoRa bridge · 30-clip-per-language accuracy run · smaller voices for hi/gu/or/en.</a:t>
            </a:r>
          </a:p>
        </p:txBody>
      </p:sp>
      <p:sp>
        <p:nvSpPr>
          <p:cNvPr id="17430" name="TextBox 17429"/>
          <p:cNvSpPr txBox="1"/>
          <p:nvPr/>
        </p:nvSpPr>
        <p:spPr>
          <a:xfrm>
            <a:off x="7269480" y="3218688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1B2433"/>
                </a:solidFill>
                <a:latin typeface="Arial"/>
              </a:rPr>
              <a:t>Viability</a:t>
            </a:r>
          </a:p>
        </p:txBody>
      </p:sp>
      <p:sp>
        <p:nvSpPr>
          <p:cNvPr id="17431" name="TextBox 17430"/>
          <p:cNvSpPr txBox="1"/>
          <p:nvPr/>
        </p:nvSpPr>
        <p:spPr>
          <a:xfrm>
            <a:off x="7269480" y="3566160"/>
            <a:ext cx="2788920" cy="2651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 marL="146304" indent="-146304">
              <a:spcAft>
                <a:spcPts val="600"/>
              </a:spcAft>
              <a:buFont typeface="Arial"/>
              <a:buChar char="•"/>
            </a:pPr>
            <a:r>
              <a:rPr sz="950" b="1" i="0">
                <a:solidFill>
                  <a:srgbClr val="0F766E"/>
                </a:solidFill>
                <a:latin typeface="Arial"/>
              </a:rPr>
              <a:t>₹0 per message: </a:t>
            </a:r>
            <a:r>
              <a:rPr sz="950" b="0" i="0">
                <a:solidFill>
                  <a:srgbClr val="1B2433"/>
                </a:solidFill>
                <a:latin typeface="Arial"/>
              </a:rPr>
              <a:t>no airtime, SIM, server or cloud fees.</a:t>
            </a:r>
          </a:p>
          <a:p>
            <a:pPr algn="l" marL="146304" indent="-146304">
              <a:spcAft>
                <a:spcPts val="600"/>
              </a:spcAft>
              <a:buFont typeface="Arial"/>
              <a:buChar char="•"/>
            </a:pPr>
            <a:r>
              <a:rPr sz="950" b="1" i="0">
                <a:solidFill>
                  <a:srgbClr val="0F766E"/>
                </a:solidFill>
                <a:latin typeface="Arial"/>
              </a:rPr>
              <a:t>Phones people own: </a:t>
            </a:r>
            <a:r>
              <a:rPr sz="950" b="0" i="0">
                <a:solidFill>
                  <a:srgbClr val="1B2433"/>
                </a:solidFill>
                <a:latin typeface="Arial"/>
              </a:rPr>
              <a:t>Android 8.0+; LITE mode for less RAM.</a:t>
            </a:r>
          </a:p>
          <a:p>
            <a:pPr algn="l" marL="146304" indent="-146304">
              <a:spcAft>
                <a:spcPts val="600"/>
              </a:spcAft>
              <a:buFont typeface="Arial"/>
              <a:buChar char="•"/>
            </a:pPr>
            <a:r>
              <a:rPr sz="950" b="1" i="0">
                <a:solidFill>
                  <a:srgbClr val="0F766E"/>
                </a:solidFill>
                <a:latin typeface="Arial"/>
              </a:rPr>
              <a:t>Low-cost range: </a:t>
            </a:r>
            <a:r>
              <a:rPr sz="950" b="0" i="0">
                <a:solidFill>
                  <a:srgbClr val="1B2433"/>
                </a:solidFill>
                <a:latin typeface="Arial"/>
              </a:rPr>
              <a:t>ESP32-S3 + LoRa node ≈ ₹1,900–3,200.</a:t>
            </a:r>
          </a:p>
          <a:p>
            <a:pPr algn="l" marL="146304" indent="-146304">
              <a:spcAft>
                <a:spcPts val="600"/>
              </a:spcAft>
              <a:buFont typeface="Arial"/>
              <a:buChar char="•"/>
            </a:pPr>
            <a:r>
              <a:rPr sz="950" b="1" i="0">
                <a:solidFill>
                  <a:srgbClr val="0F766E"/>
                </a:solidFill>
                <a:latin typeface="Arial"/>
              </a:rPr>
              <a:t>Open licences: </a:t>
            </a:r>
            <a:r>
              <a:rPr sz="950" b="0" i="0">
                <a:solidFill>
                  <a:srgbClr val="1B2433"/>
                </a:solidFill>
                <a:latin typeface="Arial"/>
              </a:rPr>
              <a:t>MIT, Apache-2.0 and CC-BY-4.0 models.</a:t>
            </a:r>
          </a:p>
          <a:p>
            <a:pPr algn="l" marL="146304" indent="-146304">
              <a:spcAft>
                <a:spcPts val="600"/>
              </a:spcAft>
              <a:buFont typeface="Arial"/>
              <a:buChar char="•"/>
            </a:pPr>
            <a:r>
              <a:rPr sz="950" b="1" i="0">
                <a:solidFill>
                  <a:srgbClr val="0F766E"/>
                </a:solidFill>
                <a:latin typeface="Arial"/>
              </a:rPr>
              <a:t>Fits alert systems: </a:t>
            </a:r>
            <a:r>
              <a:rPr sz="950" b="0" i="0">
                <a:solidFill>
                  <a:srgbClr val="1B2433"/>
                </a:solidFill>
                <a:latin typeface="Arial"/>
              </a:rPr>
              <a:t>the control room reads CAP 1.2 alert files.</a:t>
            </a:r>
          </a:p>
        </p:txBody>
      </p:sp>
      <p:pic>
        <p:nvPicPr>
          <p:cNvPr id="17432" name="Picture 17431" descr="07_metrics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32720" y="3218688"/>
            <a:ext cx="1279212" cy="2743200"/>
          </a:xfrm>
          <a:prstGeom prst="roundRect">
            <a:avLst>
              <a:gd name="adj" fmla="val 8000"/>
            </a:avLst>
          </a:prstGeom>
          <a:ln w="9525">
            <a:solidFill>
              <a:srgbClr val="DDE1E7"/>
            </a:solidFill>
          </a:ln>
        </p:spPr>
      </p:pic>
      <p:sp>
        <p:nvSpPr>
          <p:cNvPr id="17433" name="TextBox 17432"/>
          <p:cNvSpPr txBox="1"/>
          <p:nvPr/>
        </p:nvSpPr>
        <p:spPr>
          <a:xfrm>
            <a:off x="10104120" y="6016752"/>
            <a:ext cx="1691640" cy="1828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spcAft>
                <a:spcPts val="0"/>
              </a:spcAft>
            </a:pPr>
            <a:r>
              <a:rPr sz="800" b="0" i="0">
                <a:solidFill>
                  <a:srgbClr val="5B6472"/>
                </a:solidFill>
                <a:latin typeface="Arial"/>
              </a:rPr>
              <a:t>In-app metrics (real screen)</a:t>
            </a:r>
          </a:p>
        </p:txBody>
      </p:sp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IMPACT AND BENEFITS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z="1200" b="1"/>
              <a:t>Team Turtle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0" name="TextBox 17409"/>
          <p:cNvSpPr txBox="1"/>
          <p:nvPr/>
        </p:nvSpPr>
        <p:spPr>
          <a:xfrm>
            <a:off x="41148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1B2433"/>
                </a:solidFill>
                <a:latin typeface="Arial"/>
              </a:rPr>
              <a:t>Potential impact on the target audience</a:t>
            </a:r>
          </a:p>
        </p:txBody>
      </p:sp>
      <p:pic>
        <p:nvPicPr>
          <p:cNvPr id="17411" name="Picture 17410" descr="ndrf.jpg">
            <a:hlinkClick r:id="rId5"/>
          </p:cNvPr>
          <p:cNvPicPr>
            <a:picLocks noChangeAspect="1"/>
          </p:cNvPicPr>
          <p:nvPr/>
        </p:nvPicPr>
        <p:blipFill>
          <a:blip r:embed="rId4"/>
          <a:srcRect t="1580" b="3687"/>
          <a:stretch>
            <a:fillRect/>
          </a:stretch>
        </p:blipFill>
        <p:spPr>
          <a:xfrm>
            <a:off x="411480" y="1517904"/>
            <a:ext cx="2743200" cy="1463040"/>
          </a:xfrm>
          <a:prstGeom prst="rect">
            <a:avLst/>
          </a:prstGeom>
        </p:spPr>
      </p:pic>
      <p:sp>
        <p:nvSpPr>
          <p:cNvPr id="17412" name="TextBox 17411"/>
          <p:cNvSpPr txBox="1"/>
          <p:nvPr/>
        </p:nvSpPr>
        <p:spPr>
          <a:xfrm>
            <a:off x="411480" y="3054096"/>
            <a:ext cx="2743200" cy="56692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100"/>
              </a:spcAft>
            </a:pPr>
            <a:r>
              <a:rPr sz="1050" b="1" i="0">
                <a:solidFill>
                  <a:srgbClr val="1B2433"/>
                </a:solidFill>
                <a:latin typeface="Arial"/>
              </a:rPr>
              <a:t>Disaster response teams</a:t>
            </a:r>
          </a:p>
          <a:p>
            <a:pPr algn="l">
              <a:spcAft>
                <a:spcPts val="100"/>
              </a:spcAft>
            </a:pPr>
            <a:r>
              <a:rPr sz="900" b="0" i="0">
                <a:solidFill>
                  <a:srgbClr val="5B6472"/>
                </a:solidFill>
                <a:latin typeface="Arial"/>
              </a:rPr>
              <a:t>Coordinate rescue by voice when towers and internet are down.</a:t>
            </a:r>
          </a:p>
        </p:txBody>
      </p:sp>
      <p:pic>
        <p:nvPicPr>
          <p:cNvPr id="17413" name="Picture 17412" descr="fish.jpg">
            <a:hlinkClick r:id="rId7"/>
          </p:cNvPr>
          <p:cNvPicPr>
            <a:picLocks noChangeAspect="1"/>
          </p:cNvPicPr>
          <p:nvPr/>
        </p:nvPicPr>
        <p:blipFill>
          <a:blip r:embed="rId6"/>
          <a:srcRect t="8667" b="20222"/>
          <a:stretch>
            <a:fillRect/>
          </a:stretch>
        </p:blipFill>
        <p:spPr>
          <a:xfrm>
            <a:off x="3282696" y="1517904"/>
            <a:ext cx="2743200" cy="1463040"/>
          </a:xfrm>
          <a:prstGeom prst="rect">
            <a:avLst/>
          </a:prstGeom>
        </p:spPr>
      </p:pic>
      <p:sp>
        <p:nvSpPr>
          <p:cNvPr id="17414" name="TextBox 17413"/>
          <p:cNvSpPr txBox="1"/>
          <p:nvPr/>
        </p:nvSpPr>
        <p:spPr>
          <a:xfrm>
            <a:off x="3282696" y="3054096"/>
            <a:ext cx="2743200" cy="56692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100"/>
              </a:spcAft>
            </a:pPr>
            <a:r>
              <a:rPr sz="1050" b="1" i="0">
                <a:solidFill>
                  <a:srgbClr val="1B2433"/>
                </a:solidFill>
                <a:latin typeface="Arial"/>
              </a:rPr>
              <a:t>Coastal fishing communities</a:t>
            </a:r>
          </a:p>
          <a:p>
            <a:pPr algn="l">
              <a:spcAft>
                <a:spcPts val="100"/>
              </a:spcAft>
            </a:pPr>
            <a:r>
              <a:rPr sz="900" b="0" i="0">
                <a:solidFill>
                  <a:srgbClr val="5B6472"/>
                </a:solidFill>
                <a:latin typeface="Arial"/>
              </a:rPr>
              <a:t>Cyclone warnings spoken in their own language, with no data plan.</a:t>
            </a:r>
          </a:p>
        </p:txBody>
      </p:sp>
      <p:pic>
        <p:nvPicPr>
          <p:cNvPr id="17415" name="Picture 17414" descr="rural2.jpg">
            <a:hlinkClick r:id="rId9"/>
          </p:cNvPr>
          <p:cNvPicPr>
            <a:picLocks noChangeAspect="1"/>
          </p:cNvPicPr>
          <p:nvPr/>
        </p:nvPicPr>
        <p:blipFill>
          <a:blip r:embed="rId8"/>
          <a:srcRect t="8667" b="20222"/>
          <a:stretch>
            <a:fillRect/>
          </a:stretch>
        </p:blipFill>
        <p:spPr>
          <a:xfrm>
            <a:off x="6153912" y="1517904"/>
            <a:ext cx="2743200" cy="1463040"/>
          </a:xfrm>
          <a:prstGeom prst="rect">
            <a:avLst/>
          </a:prstGeom>
        </p:spPr>
      </p:pic>
      <p:sp>
        <p:nvSpPr>
          <p:cNvPr id="17416" name="TextBox 17415"/>
          <p:cNvSpPr txBox="1"/>
          <p:nvPr/>
        </p:nvSpPr>
        <p:spPr>
          <a:xfrm>
            <a:off x="6153912" y="3054096"/>
            <a:ext cx="2743200" cy="56692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100"/>
              </a:spcAft>
            </a:pPr>
            <a:r>
              <a:rPr sz="1050" b="1" i="0">
                <a:solidFill>
                  <a:srgbClr val="1B2433"/>
                </a:solidFill>
                <a:latin typeface="Arial"/>
              </a:rPr>
              <a:t>Low-literacy users</a:t>
            </a:r>
          </a:p>
          <a:p>
            <a:pPr algn="l">
              <a:spcAft>
                <a:spcPts val="100"/>
              </a:spcAft>
            </a:pPr>
            <a:r>
              <a:rPr sz="900" b="0" i="0">
                <a:solidFill>
                  <a:srgbClr val="5B6472"/>
                </a:solidFill>
                <a:latin typeface="Arial"/>
              </a:rPr>
              <a:t>An alert they can hear instead of read, in 10 languages.</a:t>
            </a:r>
          </a:p>
        </p:txBody>
      </p:sp>
      <p:pic>
        <p:nvPicPr>
          <p:cNvPr id="17417" name="Picture 17416" descr="rail.jpg">
            <a:hlinkClick r:id="rId11"/>
          </p:cNvPr>
          <p:cNvPicPr>
            <a:picLocks noChangeAspect="1"/>
          </p:cNvPicPr>
          <p:nvPr/>
        </p:nvPicPr>
        <p:blipFill>
          <a:blip r:embed="rId10"/>
          <a:srcRect t="5962" b="13912"/>
          <a:stretch>
            <a:fillRect/>
          </a:stretch>
        </p:blipFill>
        <p:spPr>
          <a:xfrm>
            <a:off x="9025128" y="1517904"/>
            <a:ext cx="2743200" cy="1463040"/>
          </a:xfrm>
          <a:prstGeom prst="rect">
            <a:avLst/>
          </a:prstGeom>
        </p:spPr>
      </p:pic>
      <p:sp>
        <p:nvSpPr>
          <p:cNvPr id="17418" name="TextBox 17417"/>
          <p:cNvSpPr txBox="1"/>
          <p:nvPr/>
        </p:nvSpPr>
        <p:spPr>
          <a:xfrm>
            <a:off x="9025128" y="3054096"/>
            <a:ext cx="2743200" cy="56692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100"/>
              </a:spcAft>
            </a:pPr>
            <a:r>
              <a:rPr sz="1050" b="1" i="0">
                <a:solidFill>
                  <a:srgbClr val="1B2433"/>
                </a:solidFill>
                <a:latin typeface="Arial"/>
              </a:rPr>
              <a:t>Remote field staff</a:t>
            </a:r>
          </a:p>
          <a:p>
            <a:pPr algn="l">
              <a:spcAft>
                <a:spcPts val="100"/>
              </a:spcAft>
            </a:pPr>
            <a:r>
              <a:rPr sz="900" b="0" i="0">
                <a:solidFill>
                  <a:srgbClr val="5B6472"/>
                </a:solidFill>
                <a:latin typeface="Arial"/>
              </a:rPr>
              <a:t>A voice link for teams working where coverage is poor.</a:t>
            </a:r>
          </a:p>
        </p:txBody>
      </p:sp>
      <p:sp>
        <p:nvSpPr>
          <p:cNvPr id="17419" name="TextBox 17418"/>
          <p:cNvSpPr txBox="1"/>
          <p:nvPr/>
        </p:nvSpPr>
        <p:spPr>
          <a:xfrm>
            <a:off x="411480" y="3703320"/>
            <a:ext cx="1600200" cy="4572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EA580C"/>
                </a:solidFill>
                <a:latin typeface="Arial"/>
              </a:rPr>
              <a:t>≈1,500×</a:t>
            </a:r>
          </a:p>
        </p:txBody>
      </p:sp>
      <p:sp>
        <p:nvSpPr>
          <p:cNvPr id="17420" name="TextBox 17419"/>
          <p:cNvSpPr txBox="1"/>
          <p:nvPr/>
        </p:nvSpPr>
        <p:spPr>
          <a:xfrm>
            <a:off x="2084832" y="3703320"/>
            <a:ext cx="2011680" cy="4572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1B2433"/>
                </a:solidFill>
                <a:latin typeface="Arial"/>
              </a:rPr>
              <a:t>less data than raw audio*</a:t>
            </a:r>
          </a:p>
        </p:txBody>
      </p:sp>
      <p:sp>
        <p:nvSpPr>
          <p:cNvPr id="17421" name="TextBox 17420"/>
          <p:cNvSpPr txBox="1"/>
          <p:nvPr/>
        </p:nvSpPr>
        <p:spPr>
          <a:xfrm>
            <a:off x="4242816" y="3703320"/>
            <a:ext cx="1097280" cy="4572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0F766E"/>
                </a:solidFill>
                <a:latin typeface="Arial"/>
              </a:rPr>
              <a:t>1.03 s</a:t>
            </a:r>
          </a:p>
        </p:txBody>
      </p:sp>
      <p:sp>
        <p:nvSpPr>
          <p:cNvPr id="17422" name="TextBox 17421"/>
          <p:cNvSpPr txBox="1"/>
          <p:nvPr/>
        </p:nvSpPr>
        <p:spPr>
          <a:xfrm>
            <a:off x="5413248" y="3703320"/>
            <a:ext cx="2514600" cy="4572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1B2433"/>
                </a:solidFill>
                <a:latin typeface="Arial"/>
              </a:rPr>
              <a:t>ALERT arrival → spoken aloud (Wi-Fi)</a:t>
            </a:r>
          </a:p>
        </p:txBody>
      </p:sp>
      <p:sp>
        <p:nvSpPr>
          <p:cNvPr id="17423" name="TextBox 17422"/>
          <p:cNvSpPr txBox="1"/>
          <p:nvPr/>
        </p:nvSpPr>
        <p:spPr>
          <a:xfrm>
            <a:off x="8074152" y="3703320"/>
            <a:ext cx="502920" cy="4572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1B2433"/>
                </a:solidFill>
                <a:latin typeface="Arial"/>
              </a:rPr>
              <a:t>10</a:t>
            </a:r>
          </a:p>
        </p:txBody>
      </p:sp>
      <p:sp>
        <p:nvSpPr>
          <p:cNvPr id="17424" name="TextBox 17423"/>
          <p:cNvSpPr txBox="1"/>
          <p:nvPr/>
        </p:nvSpPr>
        <p:spPr>
          <a:xfrm>
            <a:off x="8650224" y="3703320"/>
            <a:ext cx="3108960" cy="4572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1B2433"/>
                </a:solidFill>
                <a:latin typeface="Arial"/>
              </a:rPr>
              <a:t>Indian languages, speech in and out</a:t>
            </a:r>
          </a:p>
        </p:txBody>
      </p:sp>
      <p:sp>
        <p:nvSpPr>
          <p:cNvPr id="17425" name="Rectangle 17424"/>
          <p:cNvSpPr/>
          <p:nvPr/>
        </p:nvSpPr>
        <p:spPr>
          <a:xfrm>
            <a:off x="411480" y="4261104"/>
            <a:ext cx="11365992" cy="9144"/>
          </a:xfrm>
          <a:prstGeom prst="rect">
            <a:avLst/>
          </a:prstGeom>
          <a:solidFill>
            <a:srgbClr val="DDE1E7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7426" name="TextBox 17425"/>
          <p:cNvSpPr txBox="1"/>
          <p:nvPr/>
        </p:nvSpPr>
        <p:spPr>
          <a:xfrm>
            <a:off x="411480" y="4352544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0"/>
              </a:spcAft>
            </a:pPr>
            <a:r>
              <a:rPr sz="1250" b="1" i="0">
                <a:solidFill>
                  <a:srgbClr val="1B2433"/>
                </a:solidFill>
                <a:latin typeface="Arial"/>
              </a:rPr>
              <a:t>Benefits of the solution (social, economic, environmental, etc.)</a:t>
            </a:r>
          </a:p>
        </p:txBody>
      </p:sp>
      <p:sp>
        <p:nvSpPr>
          <p:cNvPr id="17427" name="Oval 17426"/>
          <p:cNvSpPr/>
          <p:nvPr/>
        </p:nvSpPr>
        <p:spPr>
          <a:xfrm>
            <a:off x="411479" y="4645152"/>
            <a:ext cx="310896" cy="310896"/>
          </a:xfrm>
          <a:prstGeom prst="ellipse">
            <a:avLst/>
          </a:prstGeom>
          <a:solidFill>
            <a:srgbClr val="EA580C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pic>
        <p:nvPicPr>
          <p:cNvPr id="17428" name="Picture 17427" descr="heart-whit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79877" y="4713549"/>
            <a:ext cx="174101" cy="174101"/>
          </a:xfrm>
          <a:prstGeom prst="rect">
            <a:avLst/>
          </a:prstGeom>
        </p:spPr>
      </p:pic>
      <p:sp>
        <p:nvSpPr>
          <p:cNvPr id="17429" name="TextBox 17428"/>
          <p:cNvSpPr txBox="1"/>
          <p:nvPr/>
        </p:nvSpPr>
        <p:spPr>
          <a:xfrm>
            <a:off x="795528" y="4690872"/>
            <a:ext cx="3200400" cy="23774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EA580C"/>
                </a:solidFill>
                <a:latin typeface="Arial"/>
              </a:rPr>
              <a:t>Social</a:t>
            </a:r>
          </a:p>
        </p:txBody>
      </p:sp>
      <p:sp>
        <p:nvSpPr>
          <p:cNvPr id="17430" name="TextBox 17429"/>
          <p:cNvSpPr txBox="1"/>
          <p:nvPr/>
        </p:nvSpPr>
        <p:spPr>
          <a:xfrm>
            <a:off x="411480" y="5001768"/>
            <a:ext cx="3611880" cy="6400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 marL="146304" indent="-146304">
              <a:spcAft>
                <a:spcPts val="200"/>
              </a:spcAft>
              <a:buFont typeface="Arial"/>
              <a:buChar char="•"/>
            </a:pPr>
            <a:r>
              <a:rPr sz="950" b="0" i="0">
                <a:solidFill>
                  <a:srgbClr val="1B2433"/>
                </a:solidFill>
                <a:latin typeface="Arial"/>
              </a:rPr>
              <a:t>Alerts spoken aloud in Indian languages — people who cannot read are included.</a:t>
            </a:r>
          </a:p>
          <a:p>
            <a:pPr algn="l" marL="146304" indent="-146304">
              <a:spcAft>
                <a:spcPts val="200"/>
              </a:spcAft>
              <a:buFont typeface="Arial"/>
              <a:buChar char="•"/>
            </a:pPr>
            <a:r>
              <a:rPr sz="950" b="0" i="0">
                <a:solidFill>
                  <a:srgbClr val="1B2433"/>
                </a:solidFill>
                <a:latin typeface="Arial"/>
              </a:rPr>
              <a:t>SOS carries location to rescuers in one tap.</a:t>
            </a:r>
          </a:p>
        </p:txBody>
      </p:sp>
      <p:sp>
        <p:nvSpPr>
          <p:cNvPr id="17431" name="Oval 17430"/>
          <p:cNvSpPr/>
          <p:nvPr/>
        </p:nvSpPr>
        <p:spPr>
          <a:xfrm>
            <a:off x="4242816" y="4645152"/>
            <a:ext cx="310896" cy="310896"/>
          </a:xfrm>
          <a:prstGeom prst="ellipse">
            <a:avLst/>
          </a:prstGeom>
          <a:solidFill>
            <a:srgbClr val="0F766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pic>
        <p:nvPicPr>
          <p:cNvPr id="17432" name="Picture 17431" descr="rupee-whit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311213" y="4713549"/>
            <a:ext cx="174101" cy="174101"/>
          </a:xfrm>
          <a:prstGeom prst="rect">
            <a:avLst/>
          </a:prstGeom>
        </p:spPr>
      </p:pic>
      <p:sp>
        <p:nvSpPr>
          <p:cNvPr id="17433" name="TextBox 17432"/>
          <p:cNvSpPr txBox="1"/>
          <p:nvPr/>
        </p:nvSpPr>
        <p:spPr>
          <a:xfrm>
            <a:off x="4626864" y="4690872"/>
            <a:ext cx="3200400" cy="23774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0F766E"/>
                </a:solidFill>
                <a:latin typeface="Arial"/>
              </a:rPr>
              <a:t>Economic</a:t>
            </a:r>
          </a:p>
        </p:txBody>
      </p:sp>
      <p:sp>
        <p:nvSpPr>
          <p:cNvPr id="17434" name="TextBox 17433"/>
          <p:cNvSpPr txBox="1"/>
          <p:nvPr/>
        </p:nvSpPr>
        <p:spPr>
          <a:xfrm>
            <a:off x="4242816" y="5001768"/>
            <a:ext cx="3611880" cy="6400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 marL="146304" indent="-146304">
              <a:spcAft>
                <a:spcPts val="200"/>
              </a:spcAft>
              <a:buFont typeface="Arial"/>
              <a:buChar char="•"/>
            </a:pPr>
            <a:r>
              <a:rPr sz="950" b="0" i="0">
                <a:solidFill>
                  <a:srgbClr val="1B2433"/>
                </a:solidFill>
                <a:latin typeface="Arial"/>
              </a:rPr>
              <a:t>No airtime, SIM, cloud or licence fees.</a:t>
            </a:r>
          </a:p>
          <a:p>
            <a:pPr algn="l" marL="146304" indent="-146304">
              <a:spcAft>
                <a:spcPts val="200"/>
              </a:spcAft>
              <a:buFont typeface="Arial"/>
              <a:buChar char="•"/>
            </a:pPr>
            <a:r>
              <a:rPr sz="950" b="0" i="0">
                <a:solidFill>
                  <a:srgbClr val="1B2433"/>
                </a:solidFill>
                <a:latin typeface="Arial"/>
              </a:rPr>
              <a:t>Runs on phones people own; a LoRa node costs ≈ ₹1,900–3,200.</a:t>
            </a:r>
          </a:p>
        </p:txBody>
      </p:sp>
      <p:sp>
        <p:nvSpPr>
          <p:cNvPr id="17435" name="Oval 17434"/>
          <p:cNvSpPr/>
          <p:nvPr/>
        </p:nvSpPr>
        <p:spPr>
          <a:xfrm>
            <a:off x="8074152" y="4645152"/>
            <a:ext cx="310896" cy="310896"/>
          </a:xfrm>
          <a:prstGeom prst="ellipse">
            <a:avLst/>
          </a:prstGeom>
          <a:solidFill>
            <a:srgbClr val="15803D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pic>
        <p:nvPicPr>
          <p:cNvPr id="17436" name="Picture 17435" descr="leaf-whit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142549" y="4713549"/>
            <a:ext cx="174101" cy="174101"/>
          </a:xfrm>
          <a:prstGeom prst="rect">
            <a:avLst/>
          </a:prstGeom>
        </p:spPr>
      </p:pic>
      <p:sp>
        <p:nvSpPr>
          <p:cNvPr id="17437" name="TextBox 17436"/>
          <p:cNvSpPr txBox="1"/>
          <p:nvPr/>
        </p:nvSpPr>
        <p:spPr>
          <a:xfrm>
            <a:off x="8458200" y="4690872"/>
            <a:ext cx="3200400" cy="23774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15803D"/>
                </a:solidFill>
                <a:latin typeface="Arial"/>
              </a:rPr>
              <a:t>Environmental</a:t>
            </a:r>
          </a:p>
        </p:txBody>
      </p:sp>
      <p:sp>
        <p:nvSpPr>
          <p:cNvPr id="17438" name="TextBox 17437"/>
          <p:cNvSpPr txBox="1"/>
          <p:nvPr/>
        </p:nvSpPr>
        <p:spPr>
          <a:xfrm>
            <a:off x="8074152" y="5001768"/>
            <a:ext cx="3611880" cy="6400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 marL="146304" indent="-146304">
              <a:spcAft>
                <a:spcPts val="200"/>
              </a:spcAft>
              <a:buFont typeface="Arial"/>
              <a:buChar char="•"/>
            </a:pPr>
            <a:r>
              <a:rPr sz="950" b="0" i="0">
                <a:solidFill>
                  <a:srgbClr val="1B2433"/>
                </a:solidFill>
                <a:latin typeface="Arial"/>
              </a:rPr>
              <a:t>Fewer bytes per message means less radio time on air.</a:t>
            </a:r>
          </a:p>
          <a:p>
            <a:pPr algn="l" marL="146304" indent="-146304">
              <a:spcAft>
                <a:spcPts val="200"/>
              </a:spcAft>
              <a:buFont typeface="Arial"/>
              <a:buChar char="•"/>
            </a:pPr>
            <a:r>
              <a:rPr sz="950" b="0" i="0">
                <a:solidFill>
                  <a:srgbClr val="1B2433"/>
                </a:solidFill>
                <a:latin typeface="Arial"/>
              </a:rPr>
              <a:t>No servers or data centres needed. Battery gain not yet measured.</a:t>
            </a:r>
          </a:p>
        </p:txBody>
      </p:sp>
      <p:sp>
        <p:nvSpPr>
          <p:cNvPr id="17439" name="TextBox 17438"/>
          <p:cNvSpPr txBox="1"/>
          <p:nvPr/>
        </p:nvSpPr>
        <p:spPr>
          <a:xfrm>
            <a:off x="411480" y="5614416"/>
            <a:ext cx="11338560" cy="21945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0"/>
              </a:spcAft>
            </a:pPr>
            <a:r>
              <a:rPr sz="950" b="1" i="0">
                <a:solidFill>
                  <a:srgbClr val="0F766E"/>
                </a:solidFill>
                <a:latin typeface="Arial"/>
              </a:rPr>
              <a:t>Fits India's alert system: </a:t>
            </a:r>
            <a:r>
              <a:rPr sz="950" b="0" i="0">
                <a:solidFill>
                  <a:srgbClr val="1B2433"/>
                </a:solidFill>
                <a:latin typeface="Arial"/>
              </a:rPr>
              <a:t>the control room reads CAP 1.2 alert files — the format behind </a:t>
            </a:r>
            <a:r>
              <a:rPr sz="950" b="1" i="0">
                <a:solidFill>
                  <a:srgbClr val="0F766E"/>
                </a:solidFill>
                <a:latin typeface="Arial"/>
                <a:hlinkClick r:id="rId15"/>
              </a:rPr>
              <a:t>NDMA SACHET</a:t>
            </a:r>
            <a:r>
              <a:rPr sz="950" b="0" i="0">
                <a:solidFill>
                  <a:srgbClr val="1B2433"/>
                </a:solidFill>
                <a:latin typeface="Arial"/>
              </a:rPr>
              <a:t> — and re-broadcasts them as spoken alerts in each listener's language.</a:t>
            </a:r>
          </a:p>
        </p:txBody>
      </p:sp>
      <p:sp>
        <p:nvSpPr>
          <p:cNvPr id="17440" name="TextBox 17439"/>
          <p:cNvSpPr txBox="1"/>
          <p:nvPr/>
        </p:nvSpPr>
        <p:spPr>
          <a:xfrm>
            <a:off x="411480" y="5888736"/>
            <a:ext cx="1133856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0"/>
              </a:spcAft>
            </a:pPr>
            <a:r>
              <a:rPr sz="800" b="0" i="1">
                <a:solidFill>
                  <a:srgbClr val="5B6472"/>
                </a:solidFill>
                <a:latin typeface="Arial"/>
              </a:rPr>
              <a:t>*62 B per ~3 s sentence (unit-test median) vs 256 kbps raw audio. No field pilot yet.</a:t>
            </a:r>
          </a:p>
          <a:p>
            <a:pPr algn="l">
              <a:spcAft>
                <a:spcPts val="0"/>
              </a:spcAft>
            </a:pPr>
            <a:r>
              <a:rPr sz="800" b="0" i="1">
                <a:solidFill>
                  <a:srgbClr val="5B6472"/>
                </a:solidFill>
                <a:latin typeface="Arial"/>
              </a:rPr>
              <a:t>Photos, Wikimedia Commons: </a:t>
            </a:r>
            <a:r>
              <a:rPr sz="800" b="0" i="1">
                <a:solidFill>
                  <a:srgbClr val="0F766E"/>
                </a:solidFill>
                <a:latin typeface="Arial"/>
                <a:hlinkClick r:id="rId5"/>
              </a:rPr>
              <a:t>NDRF – MHA, GODL-India</a:t>
            </a:r>
            <a:r>
              <a:rPr sz="800" b="0" i="0">
                <a:solidFill>
                  <a:srgbClr val="5B6472"/>
                </a:solidFill>
                <a:latin typeface="Arial"/>
              </a:rPr>
              <a:t> · </a:t>
            </a:r>
            <a:r>
              <a:rPr sz="800" b="0" i="1">
                <a:solidFill>
                  <a:srgbClr val="0F766E"/>
                </a:solidFill>
                <a:latin typeface="Arial"/>
                <a:hlinkClick r:id="rId7"/>
              </a:rPr>
              <a:t>fishermen – Saral Shots, CC0</a:t>
            </a:r>
            <a:r>
              <a:rPr sz="800" b="0" i="0">
                <a:solidFill>
                  <a:srgbClr val="5B6472"/>
                </a:solidFill>
                <a:latin typeface="Arial"/>
              </a:rPr>
              <a:t> · </a:t>
            </a:r>
            <a:r>
              <a:rPr sz="800" b="0" i="1">
                <a:solidFill>
                  <a:srgbClr val="0F766E"/>
                </a:solidFill>
                <a:latin typeface="Arial"/>
                <a:hlinkClick r:id="rId9"/>
              </a:rPr>
              <a:t>woman on phone – Ammalu, CC BY-SA 3.0</a:t>
            </a:r>
            <a:r>
              <a:rPr sz="800" b="0" i="0">
                <a:solidFill>
                  <a:srgbClr val="5B6472"/>
                </a:solidFill>
                <a:latin typeface="Arial"/>
              </a:rPr>
              <a:t> · </a:t>
            </a:r>
            <a:r>
              <a:rPr sz="800" b="0" i="1">
                <a:solidFill>
                  <a:srgbClr val="0F766E"/>
                </a:solidFill>
                <a:latin typeface="Arial"/>
                <a:hlinkClick r:id="rId11"/>
              </a:rPr>
              <a:t>rail workers – David Brossard, CC BY-SA 2.0</a:t>
            </a:r>
          </a:p>
        </p:txBody>
      </p:sp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RESEARCH  AND REFERENCES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9" name="Oval 8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z="1200" b="1"/>
              <a:t>Team Turtle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0" name="TextBox 17409"/>
          <p:cNvSpPr txBox="1"/>
          <p:nvPr/>
        </p:nvSpPr>
        <p:spPr>
          <a:xfrm>
            <a:off x="411480" y="11887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1B2433"/>
                </a:solidFill>
                <a:latin typeface="Arial"/>
              </a:rPr>
              <a:t>Details / Links of the reference and research work</a:t>
            </a:r>
          </a:p>
        </p:txBody>
      </p:sp>
      <p:sp>
        <p:nvSpPr>
          <p:cNvPr id="17411" name="Rounded Rectangle 17410"/>
          <p:cNvSpPr/>
          <p:nvPr/>
        </p:nvSpPr>
        <p:spPr>
          <a:xfrm>
            <a:off x="411480" y="1572768"/>
            <a:ext cx="2926080" cy="2651760"/>
          </a:xfrm>
          <a:prstGeom prst="roundRect">
            <a:avLst>
              <a:gd name="adj" fmla="val 5000"/>
            </a:avLst>
          </a:prstGeom>
          <a:solidFill>
            <a:srgbClr val="F6F7F9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7412" name="Oval 17411"/>
          <p:cNvSpPr/>
          <p:nvPr/>
        </p:nvSpPr>
        <p:spPr>
          <a:xfrm>
            <a:off x="502920" y="1664208"/>
            <a:ext cx="365760" cy="365760"/>
          </a:xfrm>
          <a:prstGeom prst="ellipse">
            <a:avLst/>
          </a:prstGeom>
          <a:solidFill>
            <a:srgbClr val="EA580C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pic>
        <p:nvPicPr>
          <p:cNvPr id="17413" name="Picture 17412" descr="brain-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3387" y="1744675"/>
            <a:ext cx="204825" cy="204825"/>
          </a:xfrm>
          <a:prstGeom prst="rect">
            <a:avLst/>
          </a:prstGeom>
        </p:spPr>
      </p:pic>
      <p:sp>
        <p:nvSpPr>
          <p:cNvPr id="17414" name="TextBox 17413"/>
          <p:cNvSpPr txBox="1"/>
          <p:nvPr/>
        </p:nvSpPr>
        <p:spPr>
          <a:xfrm>
            <a:off x="960120" y="1728216"/>
            <a:ext cx="228600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0"/>
              </a:spcAft>
            </a:pPr>
            <a:r>
              <a:rPr sz="1150" b="1" i="0">
                <a:solidFill>
                  <a:srgbClr val="EA580C"/>
                </a:solidFill>
                <a:latin typeface="Arial"/>
              </a:rPr>
              <a:t>Open models</a:t>
            </a:r>
          </a:p>
        </p:txBody>
      </p:sp>
      <p:sp>
        <p:nvSpPr>
          <p:cNvPr id="17415" name="TextBox 17414"/>
          <p:cNvSpPr txBox="1"/>
          <p:nvPr/>
        </p:nvSpPr>
        <p:spPr>
          <a:xfrm>
            <a:off x="594360" y="2121408"/>
            <a:ext cx="2651760" cy="38404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0"/>
              </a:spcAft>
            </a:pPr>
            <a:r>
              <a:rPr sz="950" b="1" i="0">
                <a:solidFill>
                  <a:srgbClr val="1B2433"/>
                </a:solidFill>
                <a:latin typeface="Arial"/>
                <a:hlinkClick r:id="rId5"/>
              </a:rPr>
              <a:t>SraVaani-1.0 STT · ARTPARK, IISc</a:t>
            </a:r>
          </a:p>
          <a:p>
            <a:pPr algn="l">
              <a:spcAft>
                <a:spcPts val="0"/>
              </a:spcAft>
            </a:pPr>
            <a:r>
              <a:rPr sz="750" b="0" i="0">
                <a:solidFill>
                  <a:srgbClr val="0F766E"/>
                </a:solidFill>
                <a:latin typeface="Arial"/>
                <a:hlinkClick r:id="rId5"/>
              </a:rPr>
              <a:t>huggingface.co/ARTPARK-IISc/SraVaani-1.0</a:t>
            </a:r>
          </a:p>
        </p:txBody>
      </p:sp>
      <p:sp>
        <p:nvSpPr>
          <p:cNvPr id="17416" name="TextBox 17415"/>
          <p:cNvSpPr txBox="1"/>
          <p:nvPr/>
        </p:nvSpPr>
        <p:spPr>
          <a:xfrm>
            <a:off x="594360" y="2532888"/>
            <a:ext cx="2651760" cy="38404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0"/>
              </a:spcAft>
            </a:pPr>
            <a:r>
              <a:rPr sz="950" b="1" i="0">
                <a:solidFill>
                  <a:srgbClr val="1B2433"/>
                </a:solidFill>
                <a:latin typeface="Arial"/>
                <a:hlinkClick r:id="rId6"/>
              </a:rPr>
              <a:t>Indic-Mio TTS · SPRING Lab, IIT-M</a:t>
            </a:r>
          </a:p>
          <a:p>
            <a:pPr algn="l">
              <a:spcAft>
                <a:spcPts val="0"/>
              </a:spcAft>
            </a:pPr>
            <a:r>
              <a:rPr sz="750" b="0" i="0">
                <a:solidFill>
                  <a:srgbClr val="0F766E"/>
                </a:solidFill>
                <a:latin typeface="Arial"/>
                <a:hlinkClick r:id="rId6"/>
              </a:rPr>
              <a:t>huggingface.co/SPRINGLab/Indic-Mio</a:t>
            </a:r>
          </a:p>
        </p:txBody>
      </p:sp>
      <p:sp>
        <p:nvSpPr>
          <p:cNvPr id="17417" name="TextBox 17416"/>
          <p:cNvSpPr txBox="1"/>
          <p:nvPr/>
        </p:nvSpPr>
        <p:spPr>
          <a:xfrm>
            <a:off x="594360" y="2944368"/>
            <a:ext cx="2651760" cy="38404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0"/>
              </a:spcAft>
            </a:pPr>
            <a:r>
              <a:rPr sz="950" b="1" i="0">
                <a:solidFill>
                  <a:srgbClr val="1B2433"/>
                </a:solidFill>
                <a:latin typeface="Arial"/>
                <a:hlinkClick r:id="rId7"/>
              </a:rPr>
              <a:t>VITS Rasa 13 TTS · AI4Bharat</a:t>
            </a:r>
          </a:p>
          <a:p>
            <a:pPr algn="l">
              <a:spcAft>
                <a:spcPts val="0"/>
              </a:spcAft>
            </a:pPr>
            <a:r>
              <a:rPr sz="750" b="0" i="0">
                <a:solidFill>
                  <a:srgbClr val="0F766E"/>
                </a:solidFill>
                <a:latin typeface="Arial"/>
                <a:hlinkClick r:id="rId7"/>
              </a:rPr>
              <a:t>huggingface.co/ai4bharat/vits_rasa_13</a:t>
            </a:r>
          </a:p>
        </p:txBody>
      </p:sp>
      <p:sp>
        <p:nvSpPr>
          <p:cNvPr id="17418" name="TextBox 17417"/>
          <p:cNvSpPr txBox="1"/>
          <p:nvPr/>
        </p:nvSpPr>
        <p:spPr>
          <a:xfrm>
            <a:off x="594360" y="3355848"/>
            <a:ext cx="2651760" cy="38404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0"/>
              </a:spcAft>
            </a:pPr>
            <a:r>
              <a:rPr sz="950" b="1" i="0">
                <a:solidFill>
                  <a:srgbClr val="1B2433"/>
                </a:solidFill>
                <a:latin typeface="Arial"/>
                <a:hlinkClick r:id="rId8"/>
              </a:rPr>
              <a:t>Silero VAD</a:t>
            </a:r>
          </a:p>
          <a:p>
            <a:pPr algn="l">
              <a:spcAft>
                <a:spcPts val="0"/>
              </a:spcAft>
            </a:pPr>
            <a:r>
              <a:rPr sz="750" b="0" i="0">
                <a:solidFill>
                  <a:srgbClr val="0F766E"/>
                </a:solidFill>
                <a:latin typeface="Arial"/>
                <a:hlinkClick r:id="rId8"/>
              </a:rPr>
              <a:t>github.com/snakers4/silero-vad</a:t>
            </a:r>
          </a:p>
        </p:txBody>
      </p:sp>
      <p:sp>
        <p:nvSpPr>
          <p:cNvPr id="17419" name="TextBox 17418"/>
          <p:cNvSpPr txBox="1"/>
          <p:nvPr/>
        </p:nvSpPr>
        <p:spPr>
          <a:xfrm>
            <a:off x="594360" y="3767328"/>
            <a:ext cx="2651760" cy="38404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0"/>
              </a:spcAft>
            </a:pPr>
            <a:r>
              <a:rPr sz="950" b="1" i="0">
                <a:solidFill>
                  <a:srgbClr val="1B2433"/>
                </a:solidFill>
                <a:latin typeface="Arial"/>
                <a:hlinkClick r:id="rId9"/>
              </a:rPr>
              <a:t>IndicTrans2 (planned translation) · AI4Bharat</a:t>
            </a:r>
          </a:p>
          <a:p>
            <a:pPr algn="l">
              <a:spcAft>
                <a:spcPts val="0"/>
              </a:spcAft>
            </a:pPr>
            <a:r>
              <a:rPr sz="750" b="0" i="0">
                <a:solidFill>
                  <a:srgbClr val="0F766E"/>
                </a:solidFill>
                <a:latin typeface="Arial"/>
                <a:hlinkClick r:id="rId9"/>
              </a:rPr>
              <a:t>github.com/AI4Bharat/IndicTrans2</a:t>
            </a:r>
          </a:p>
        </p:txBody>
      </p:sp>
      <p:sp>
        <p:nvSpPr>
          <p:cNvPr id="17420" name="Rounded Rectangle 17419"/>
          <p:cNvSpPr/>
          <p:nvPr/>
        </p:nvSpPr>
        <p:spPr>
          <a:xfrm>
            <a:off x="3429000" y="1572768"/>
            <a:ext cx="2926080" cy="2651760"/>
          </a:xfrm>
          <a:prstGeom prst="roundRect">
            <a:avLst>
              <a:gd name="adj" fmla="val 5000"/>
            </a:avLst>
          </a:prstGeom>
          <a:solidFill>
            <a:srgbClr val="F6F7F9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7421" name="Oval 17420"/>
          <p:cNvSpPr/>
          <p:nvPr/>
        </p:nvSpPr>
        <p:spPr>
          <a:xfrm>
            <a:off x="3520439" y="1664208"/>
            <a:ext cx="365760" cy="365760"/>
          </a:xfrm>
          <a:prstGeom prst="ellipse">
            <a:avLst/>
          </a:prstGeom>
          <a:solidFill>
            <a:srgbClr val="0F766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pic>
        <p:nvPicPr>
          <p:cNvPr id="17422" name="Picture 17421" descr="code-whit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600907" y="1744675"/>
            <a:ext cx="204825" cy="204825"/>
          </a:xfrm>
          <a:prstGeom prst="rect">
            <a:avLst/>
          </a:prstGeom>
        </p:spPr>
      </p:pic>
      <p:sp>
        <p:nvSpPr>
          <p:cNvPr id="17423" name="TextBox 17422"/>
          <p:cNvSpPr txBox="1"/>
          <p:nvPr/>
        </p:nvSpPr>
        <p:spPr>
          <a:xfrm>
            <a:off x="3977639" y="1728216"/>
            <a:ext cx="228600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0"/>
              </a:spcAft>
            </a:pPr>
            <a:r>
              <a:rPr sz="1150" b="1" i="0">
                <a:solidFill>
                  <a:srgbClr val="0F766E"/>
                </a:solidFill>
                <a:latin typeface="Arial"/>
              </a:rPr>
              <a:t>Runtimes and libraries</a:t>
            </a:r>
          </a:p>
        </p:txBody>
      </p:sp>
      <p:sp>
        <p:nvSpPr>
          <p:cNvPr id="17424" name="TextBox 17423"/>
          <p:cNvSpPr txBox="1"/>
          <p:nvPr/>
        </p:nvSpPr>
        <p:spPr>
          <a:xfrm>
            <a:off x="3611880" y="2121408"/>
            <a:ext cx="2651760" cy="38404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0"/>
              </a:spcAft>
            </a:pPr>
            <a:r>
              <a:rPr sz="950" b="1" i="0">
                <a:solidFill>
                  <a:srgbClr val="1B2433"/>
                </a:solidFill>
                <a:latin typeface="Arial"/>
                <a:hlinkClick r:id="rId11"/>
              </a:rPr>
              <a:t>sherpa-onnx</a:t>
            </a:r>
          </a:p>
          <a:p>
            <a:pPr algn="l">
              <a:spcAft>
                <a:spcPts val="0"/>
              </a:spcAft>
            </a:pPr>
            <a:r>
              <a:rPr sz="750" b="0" i="0">
                <a:solidFill>
                  <a:srgbClr val="0F766E"/>
                </a:solidFill>
                <a:latin typeface="Arial"/>
                <a:hlinkClick r:id="rId11"/>
              </a:rPr>
              <a:t>github.com/k2-fsa/sherpa-onnx</a:t>
            </a:r>
          </a:p>
        </p:txBody>
      </p:sp>
      <p:sp>
        <p:nvSpPr>
          <p:cNvPr id="17425" name="TextBox 17424"/>
          <p:cNvSpPr txBox="1"/>
          <p:nvPr/>
        </p:nvSpPr>
        <p:spPr>
          <a:xfrm>
            <a:off x="3611880" y="2532888"/>
            <a:ext cx="2651760" cy="38404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0"/>
              </a:spcAft>
            </a:pPr>
            <a:r>
              <a:rPr sz="950" b="1" i="0">
                <a:solidFill>
                  <a:srgbClr val="1B2433"/>
                </a:solidFill>
                <a:latin typeface="Arial"/>
                <a:hlinkClick r:id="rId12"/>
              </a:rPr>
              <a:t>llama.cpp / ggml</a:t>
            </a:r>
          </a:p>
          <a:p>
            <a:pPr algn="l">
              <a:spcAft>
                <a:spcPts val="0"/>
              </a:spcAft>
            </a:pPr>
            <a:r>
              <a:rPr sz="750" b="0" i="0">
                <a:solidFill>
                  <a:srgbClr val="0F766E"/>
                </a:solidFill>
                <a:latin typeface="Arial"/>
                <a:hlinkClick r:id="rId12"/>
              </a:rPr>
              <a:t>github.com/ggml-org/llama.cpp</a:t>
            </a:r>
          </a:p>
        </p:txBody>
      </p:sp>
      <p:sp>
        <p:nvSpPr>
          <p:cNvPr id="17426" name="TextBox 17425"/>
          <p:cNvSpPr txBox="1"/>
          <p:nvPr/>
        </p:nvSpPr>
        <p:spPr>
          <a:xfrm>
            <a:off x="3611880" y="2944368"/>
            <a:ext cx="2651760" cy="38404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0"/>
              </a:spcAft>
            </a:pPr>
            <a:r>
              <a:rPr sz="950" b="1" i="0">
                <a:solidFill>
                  <a:srgbClr val="1B2433"/>
                </a:solidFill>
                <a:latin typeface="Arial"/>
                <a:hlinkClick r:id="rId13"/>
              </a:rPr>
              <a:t>mio-tts-cpp</a:t>
            </a:r>
          </a:p>
          <a:p>
            <a:pPr algn="l">
              <a:spcAft>
                <a:spcPts val="0"/>
              </a:spcAft>
            </a:pPr>
            <a:r>
              <a:rPr sz="750" b="0" i="0">
                <a:solidFill>
                  <a:srgbClr val="0F766E"/>
                </a:solidFill>
                <a:latin typeface="Arial"/>
                <a:hlinkClick r:id="rId13"/>
              </a:rPr>
              <a:t>github.com/mmnga/mio-tts-cpp</a:t>
            </a:r>
          </a:p>
        </p:txBody>
      </p:sp>
      <p:sp>
        <p:nvSpPr>
          <p:cNvPr id="17427" name="TextBox 17426"/>
          <p:cNvSpPr txBox="1"/>
          <p:nvPr/>
        </p:nvSpPr>
        <p:spPr>
          <a:xfrm>
            <a:off x="3611880" y="3355848"/>
            <a:ext cx="2651760" cy="38404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0"/>
              </a:spcAft>
            </a:pPr>
            <a:r>
              <a:rPr sz="950" b="1" i="0">
                <a:solidFill>
                  <a:srgbClr val="1B2433"/>
                </a:solidFill>
                <a:latin typeface="Arial"/>
                <a:hlinkClick r:id="rId14"/>
              </a:rPr>
              <a:t>Bouncy Castle (encryption)</a:t>
            </a:r>
          </a:p>
          <a:p>
            <a:pPr algn="l">
              <a:spcAft>
                <a:spcPts val="0"/>
              </a:spcAft>
            </a:pPr>
            <a:r>
              <a:rPr sz="750" b="0" i="0">
                <a:solidFill>
                  <a:srgbClr val="0F766E"/>
                </a:solidFill>
                <a:latin typeface="Arial"/>
                <a:hlinkClick r:id="rId14"/>
              </a:rPr>
              <a:t>www.bouncycastle.org</a:t>
            </a:r>
          </a:p>
        </p:txBody>
      </p:sp>
      <p:sp>
        <p:nvSpPr>
          <p:cNvPr id="17428" name="TextBox 17427"/>
          <p:cNvSpPr txBox="1"/>
          <p:nvPr/>
        </p:nvSpPr>
        <p:spPr>
          <a:xfrm>
            <a:off x="3611880" y="3767328"/>
            <a:ext cx="2651760" cy="38404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0"/>
              </a:spcAft>
            </a:pPr>
            <a:r>
              <a:rPr sz="950" b="1" i="0">
                <a:solidFill>
                  <a:srgbClr val="1B2433"/>
                </a:solidFill>
                <a:latin typeface="Arial"/>
                <a:hlinkClick r:id="rId15"/>
              </a:rPr>
              <a:t>RadioLib (LoRa)</a:t>
            </a:r>
          </a:p>
          <a:p>
            <a:pPr algn="l">
              <a:spcAft>
                <a:spcPts val="0"/>
              </a:spcAft>
            </a:pPr>
            <a:r>
              <a:rPr sz="750" b="0" i="0">
                <a:solidFill>
                  <a:srgbClr val="0F766E"/>
                </a:solidFill>
                <a:latin typeface="Arial"/>
                <a:hlinkClick r:id="rId15"/>
              </a:rPr>
              <a:t>github.com/jgromes/RadioLib</a:t>
            </a:r>
          </a:p>
        </p:txBody>
      </p:sp>
      <p:sp>
        <p:nvSpPr>
          <p:cNvPr id="17429" name="Rounded Rectangle 17428"/>
          <p:cNvSpPr/>
          <p:nvPr/>
        </p:nvSpPr>
        <p:spPr>
          <a:xfrm>
            <a:off x="6446520" y="1572768"/>
            <a:ext cx="2926080" cy="2651760"/>
          </a:xfrm>
          <a:prstGeom prst="roundRect">
            <a:avLst>
              <a:gd name="adj" fmla="val 5000"/>
            </a:avLst>
          </a:prstGeom>
          <a:solidFill>
            <a:srgbClr val="F6F7F9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7430" name="Oval 17429"/>
          <p:cNvSpPr/>
          <p:nvPr/>
        </p:nvSpPr>
        <p:spPr>
          <a:xfrm>
            <a:off x="6537959" y="1664208"/>
            <a:ext cx="365760" cy="365760"/>
          </a:xfrm>
          <a:prstGeom prst="ellipse">
            <a:avLst/>
          </a:prstGeom>
          <a:solidFill>
            <a:srgbClr val="1B2433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pic>
        <p:nvPicPr>
          <p:cNvPr id="17431" name="Picture 17430" descr="book-whit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618427" y="1744675"/>
            <a:ext cx="204825" cy="204825"/>
          </a:xfrm>
          <a:prstGeom prst="rect">
            <a:avLst/>
          </a:prstGeom>
        </p:spPr>
      </p:pic>
      <p:sp>
        <p:nvSpPr>
          <p:cNvPr id="17432" name="TextBox 17431"/>
          <p:cNvSpPr txBox="1"/>
          <p:nvPr/>
        </p:nvSpPr>
        <p:spPr>
          <a:xfrm>
            <a:off x="6995159" y="1728216"/>
            <a:ext cx="228600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0"/>
              </a:spcAft>
            </a:pPr>
            <a:r>
              <a:rPr sz="1150" b="1" i="0">
                <a:solidFill>
                  <a:srgbClr val="1B2433"/>
                </a:solidFill>
                <a:latin typeface="Arial"/>
              </a:rPr>
              <a:t>Standards and data</a:t>
            </a:r>
          </a:p>
        </p:txBody>
      </p:sp>
      <p:sp>
        <p:nvSpPr>
          <p:cNvPr id="17433" name="TextBox 17432"/>
          <p:cNvSpPr txBox="1"/>
          <p:nvPr/>
        </p:nvSpPr>
        <p:spPr>
          <a:xfrm>
            <a:off x="6629400" y="2121408"/>
            <a:ext cx="2651760" cy="38404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0"/>
              </a:spcAft>
            </a:pPr>
            <a:r>
              <a:rPr sz="950" b="1" i="0">
                <a:solidFill>
                  <a:srgbClr val="1B2433"/>
                </a:solidFill>
                <a:latin typeface="Arial"/>
                <a:hlinkClick r:id="rId17"/>
              </a:rPr>
              <a:t>OASIS CAP 1.2 alerts</a:t>
            </a:r>
          </a:p>
          <a:p>
            <a:pPr algn="l">
              <a:spcAft>
                <a:spcPts val="0"/>
              </a:spcAft>
            </a:pPr>
            <a:r>
              <a:rPr sz="750" b="0" i="0">
                <a:solidFill>
                  <a:srgbClr val="0F766E"/>
                </a:solidFill>
                <a:latin typeface="Arial"/>
                <a:hlinkClick r:id="rId17"/>
              </a:rPr>
              <a:t>docs.oasis-open.org/emergency/cap/v1.2/CAP-v1.2.html</a:t>
            </a:r>
          </a:p>
        </p:txBody>
      </p:sp>
      <p:sp>
        <p:nvSpPr>
          <p:cNvPr id="17434" name="TextBox 17433"/>
          <p:cNvSpPr txBox="1"/>
          <p:nvPr/>
        </p:nvSpPr>
        <p:spPr>
          <a:xfrm>
            <a:off x="6629400" y="2532888"/>
            <a:ext cx="2651760" cy="38404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0"/>
              </a:spcAft>
            </a:pPr>
            <a:r>
              <a:rPr sz="950" b="1" i="0">
                <a:solidFill>
                  <a:srgbClr val="1B2433"/>
                </a:solidFill>
                <a:latin typeface="Arial"/>
                <a:hlinkClick r:id="rId18"/>
              </a:rPr>
              <a:t>NDMA SACHET</a:t>
            </a:r>
          </a:p>
          <a:p>
            <a:pPr algn="l">
              <a:spcAft>
                <a:spcPts val="0"/>
              </a:spcAft>
            </a:pPr>
            <a:r>
              <a:rPr sz="750" b="0" i="0">
                <a:solidFill>
                  <a:srgbClr val="0F766E"/>
                </a:solidFill>
                <a:latin typeface="Arial"/>
                <a:hlinkClick r:id="rId18"/>
              </a:rPr>
              <a:t>sachet.ndma.gov.in</a:t>
            </a:r>
          </a:p>
        </p:txBody>
      </p:sp>
      <p:sp>
        <p:nvSpPr>
          <p:cNvPr id="17435" name="TextBox 17434"/>
          <p:cNvSpPr txBox="1"/>
          <p:nvPr/>
        </p:nvSpPr>
        <p:spPr>
          <a:xfrm>
            <a:off x="6629400" y="2944368"/>
            <a:ext cx="2651760" cy="38404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0"/>
              </a:spcAft>
            </a:pPr>
            <a:r>
              <a:rPr sz="950" b="1" i="0">
                <a:solidFill>
                  <a:srgbClr val="1B2433"/>
                </a:solidFill>
                <a:latin typeface="Arial"/>
                <a:hlinkClick r:id="rId19"/>
              </a:rPr>
              <a:t>Google FLEURS (STT test set)</a:t>
            </a:r>
          </a:p>
          <a:p>
            <a:pPr algn="l">
              <a:spcAft>
                <a:spcPts val="0"/>
              </a:spcAft>
            </a:pPr>
            <a:r>
              <a:rPr sz="750" b="0" i="0">
                <a:solidFill>
                  <a:srgbClr val="0F766E"/>
                </a:solidFill>
                <a:latin typeface="Arial"/>
                <a:hlinkClick r:id="rId19"/>
              </a:rPr>
              <a:t>huggingface.co/datasets/google/fleurs</a:t>
            </a:r>
          </a:p>
        </p:txBody>
      </p:sp>
      <p:sp>
        <p:nvSpPr>
          <p:cNvPr id="17436" name="TextBox 17435"/>
          <p:cNvSpPr txBox="1"/>
          <p:nvPr/>
        </p:nvSpPr>
        <p:spPr>
          <a:xfrm>
            <a:off x="6629400" y="3355848"/>
            <a:ext cx="2651760" cy="38404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0"/>
              </a:spcAft>
            </a:pPr>
            <a:r>
              <a:rPr sz="950" b="1" i="0">
                <a:solidFill>
                  <a:srgbClr val="1B2433"/>
                </a:solidFill>
                <a:latin typeface="Arial"/>
                <a:hlinkClick r:id="rId20"/>
              </a:rPr>
              <a:t>Codec2 (bitrate baseline)</a:t>
            </a:r>
          </a:p>
          <a:p>
            <a:pPr algn="l">
              <a:spcAft>
                <a:spcPts val="0"/>
              </a:spcAft>
            </a:pPr>
            <a:r>
              <a:rPr sz="750" b="0" i="0">
                <a:solidFill>
                  <a:srgbClr val="0F766E"/>
                </a:solidFill>
                <a:latin typeface="Arial"/>
                <a:hlinkClick r:id="rId20"/>
              </a:rPr>
              <a:t>github.com/drowe67/codec2</a:t>
            </a:r>
          </a:p>
        </p:txBody>
      </p:sp>
      <p:sp>
        <p:nvSpPr>
          <p:cNvPr id="17437" name="TextBox 17436"/>
          <p:cNvSpPr txBox="1"/>
          <p:nvPr/>
        </p:nvSpPr>
        <p:spPr>
          <a:xfrm>
            <a:off x="6629400" y="3767328"/>
            <a:ext cx="2651760" cy="38404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0"/>
              </a:spcAft>
            </a:pPr>
            <a:r>
              <a:rPr sz="950" b="1" i="0">
                <a:solidFill>
                  <a:srgbClr val="1B2433"/>
                </a:solidFill>
                <a:latin typeface="Arial"/>
                <a:hlinkClick r:id="rId21"/>
              </a:rPr>
              <a:t>Meshtastic (LoRa mesh)</a:t>
            </a:r>
          </a:p>
          <a:p>
            <a:pPr algn="l">
              <a:spcAft>
                <a:spcPts val="0"/>
              </a:spcAft>
            </a:pPr>
            <a:r>
              <a:rPr sz="750" b="0" i="0">
                <a:solidFill>
                  <a:srgbClr val="0F766E"/>
                </a:solidFill>
                <a:latin typeface="Arial"/>
                <a:hlinkClick r:id="rId21"/>
              </a:rPr>
              <a:t>meshtastic.org</a:t>
            </a:r>
          </a:p>
        </p:txBody>
      </p:sp>
      <p:sp>
        <p:nvSpPr>
          <p:cNvPr id="17438" name="Rounded Rectangle 17437"/>
          <p:cNvSpPr/>
          <p:nvPr/>
        </p:nvSpPr>
        <p:spPr>
          <a:xfrm>
            <a:off x="411480" y="4315968"/>
            <a:ext cx="3566160" cy="1901952"/>
          </a:xfrm>
          <a:prstGeom prst="roundRect">
            <a:avLst>
              <a:gd name="adj" fmla="val 5000"/>
            </a:avLst>
          </a:prstGeom>
          <a:solidFill>
            <a:srgbClr val="F6F7F9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7439" name="Oval 17438"/>
          <p:cNvSpPr/>
          <p:nvPr/>
        </p:nvSpPr>
        <p:spPr>
          <a:xfrm>
            <a:off x="502920" y="4407407"/>
            <a:ext cx="365760" cy="365760"/>
          </a:xfrm>
          <a:prstGeom prst="ellipse">
            <a:avLst/>
          </a:prstGeom>
          <a:solidFill>
            <a:srgbClr val="1B2433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pic>
        <p:nvPicPr>
          <p:cNvPr id="17440" name="Picture 17439" descr="android-white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583387" y="4487875"/>
            <a:ext cx="204825" cy="204825"/>
          </a:xfrm>
          <a:prstGeom prst="rect">
            <a:avLst/>
          </a:prstGeom>
        </p:spPr>
      </p:pic>
      <p:sp>
        <p:nvSpPr>
          <p:cNvPr id="17441" name="TextBox 17440"/>
          <p:cNvSpPr txBox="1"/>
          <p:nvPr/>
        </p:nvSpPr>
        <p:spPr>
          <a:xfrm>
            <a:off x="960120" y="4471416"/>
            <a:ext cx="292608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0"/>
              </a:spcAft>
            </a:pPr>
            <a:r>
              <a:rPr sz="1150" b="1" i="0">
                <a:solidFill>
                  <a:srgbClr val="1B2433"/>
                </a:solidFill>
                <a:latin typeface="Arial"/>
              </a:rPr>
              <a:t>Android guides</a:t>
            </a:r>
          </a:p>
        </p:txBody>
      </p:sp>
      <p:sp>
        <p:nvSpPr>
          <p:cNvPr id="17442" name="TextBox 17441"/>
          <p:cNvSpPr txBox="1"/>
          <p:nvPr/>
        </p:nvSpPr>
        <p:spPr>
          <a:xfrm>
            <a:off x="594360" y="4864607"/>
            <a:ext cx="3291840" cy="38404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0"/>
              </a:spcAft>
            </a:pPr>
            <a:r>
              <a:rPr sz="950" b="1" i="0">
                <a:solidFill>
                  <a:srgbClr val="1B2433"/>
                </a:solidFill>
                <a:latin typeface="Arial"/>
                <a:hlinkClick r:id="rId23"/>
              </a:rPr>
              <a:t>Wi-Fi Direct</a:t>
            </a:r>
          </a:p>
          <a:p>
            <a:pPr algn="l">
              <a:spcAft>
                <a:spcPts val="0"/>
              </a:spcAft>
            </a:pPr>
            <a:r>
              <a:rPr sz="750" b="0" i="0">
                <a:solidFill>
                  <a:srgbClr val="0F766E"/>
                </a:solidFill>
                <a:latin typeface="Arial"/>
                <a:hlinkClick r:id="rId23"/>
              </a:rPr>
              <a:t>developer.android.com/develop/connectivity/wifi/wifi-direct</a:t>
            </a:r>
          </a:p>
        </p:txBody>
      </p:sp>
      <p:sp>
        <p:nvSpPr>
          <p:cNvPr id="17443" name="TextBox 17442"/>
          <p:cNvSpPr txBox="1"/>
          <p:nvPr/>
        </p:nvSpPr>
        <p:spPr>
          <a:xfrm>
            <a:off x="594360" y="5294375"/>
            <a:ext cx="3291840" cy="38404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0"/>
              </a:spcAft>
            </a:pPr>
            <a:r>
              <a:rPr sz="950" b="1" i="0">
                <a:solidFill>
                  <a:srgbClr val="1B2433"/>
                </a:solidFill>
                <a:latin typeface="Arial"/>
                <a:hlinkClick r:id="rId24"/>
              </a:rPr>
              <a:t>Bluetooth and BLE</a:t>
            </a:r>
          </a:p>
          <a:p>
            <a:pPr algn="l">
              <a:spcAft>
                <a:spcPts val="0"/>
              </a:spcAft>
            </a:pPr>
            <a:r>
              <a:rPr sz="750" b="0" i="0">
                <a:solidFill>
                  <a:srgbClr val="0F766E"/>
                </a:solidFill>
                <a:latin typeface="Arial"/>
                <a:hlinkClick r:id="rId24"/>
              </a:rPr>
              <a:t>developer.android.com/develop/connectivity/bluetooth</a:t>
            </a:r>
          </a:p>
        </p:txBody>
      </p:sp>
      <p:sp>
        <p:nvSpPr>
          <p:cNvPr id="17444" name="TextBox 17443"/>
          <p:cNvSpPr txBox="1"/>
          <p:nvPr/>
        </p:nvSpPr>
        <p:spPr>
          <a:xfrm>
            <a:off x="594360" y="5724144"/>
            <a:ext cx="3291840" cy="38404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0"/>
              </a:spcAft>
            </a:pPr>
            <a:r>
              <a:rPr sz="950" b="1" i="0">
                <a:solidFill>
                  <a:srgbClr val="1B2433"/>
                </a:solidFill>
                <a:latin typeface="Arial"/>
                <a:hlinkClick r:id="rId25"/>
              </a:rPr>
              <a:t>Audio focus (ALERT)</a:t>
            </a:r>
          </a:p>
          <a:p>
            <a:pPr algn="l">
              <a:spcAft>
                <a:spcPts val="0"/>
              </a:spcAft>
            </a:pPr>
            <a:r>
              <a:rPr sz="750" b="0" i="0">
                <a:solidFill>
                  <a:srgbClr val="0F766E"/>
                </a:solidFill>
                <a:latin typeface="Arial"/>
                <a:hlinkClick r:id="rId25"/>
              </a:rPr>
              <a:t>developer.android.com/media/optimize/audio-focus</a:t>
            </a:r>
          </a:p>
        </p:txBody>
      </p:sp>
      <p:sp>
        <p:nvSpPr>
          <p:cNvPr id="17445" name="Rounded Rectangle 17444"/>
          <p:cNvSpPr/>
          <p:nvPr/>
        </p:nvSpPr>
        <p:spPr>
          <a:xfrm>
            <a:off x="4069080" y="4315968"/>
            <a:ext cx="5303520" cy="1901952"/>
          </a:xfrm>
          <a:prstGeom prst="roundRect">
            <a:avLst>
              <a:gd name="adj" fmla="val 5000"/>
            </a:avLst>
          </a:prstGeom>
          <a:solidFill>
            <a:srgbClr val="F6F7F9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7446" name="Oval 17445"/>
          <p:cNvSpPr/>
          <p:nvPr/>
        </p:nvSpPr>
        <p:spPr>
          <a:xfrm>
            <a:off x="4160520" y="4407407"/>
            <a:ext cx="365760" cy="365760"/>
          </a:xfrm>
          <a:prstGeom prst="ellipse">
            <a:avLst/>
          </a:prstGeom>
          <a:solidFill>
            <a:srgbClr val="15803D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pic>
        <p:nvPicPr>
          <p:cNvPr id="17447" name="Picture 17446" descr="github-white.png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4240987" y="4487875"/>
            <a:ext cx="204825" cy="204825"/>
          </a:xfrm>
          <a:prstGeom prst="rect">
            <a:avLst/>
          </a:prstGeom>
        </p:spPr>
      </p:pic>
      <p:sp>
        <p:nvSpPr>
          <p:cNvPr id="17448" name="TextBox 17447"/>
          <p:cNvSpPr txBox="1"/>
          <p:nvPr/>
        </p:nvSpPr>
        <p:spPr>
          <a:xfrm>
            <a:off x="4617720" y="4471416"/>
            <a:ext cx="466344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0"/>
              </a:spcAft>
            </a:pPr>
            <a:r>
              <a:rPr sz="1150" b="1" i="0">
                <a:solidFill>
                  <a:srgbClr val="15803D"/>
                </a:solidFill>
                <a:latin typeface="Arial"/>
              </a:rPr>
              <a:t>Our work</a:t>
            </a:r>
          </a:p>
        </p:txBody>
      </p:sp>
      <p:sp>
        <p:nvSpPr>
          <p:cNvPr id="17449" name="TextBox 17448"/>
          <p:cNvSpPr txBox="1"/>
          <p:nvPr/>
        </p:nvSpPr>
        <p:spPr>
          <a:xfrm>
            <a:off x="4251960" y="4864607"/>
            <a:ext cx="2423160" cy="38404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0"/>
              </a:spcAft>
            </a:pPr>
            <a:r>
              <a:rPr sz="950" b="1" i="0">
                <a:solidFill>
                  <a:srgbClr val="1B2433"/>
                </a:solidFill>
                <a:latin typeface="Arial"/>
                <a:hlinkClick r:id="rId27"/>
              </a:rPr>
              <a:t>Source code</a:t>
            </a:r>
          </a:p>
          <a:p>
            <a:pPr algn="l">
              <a:spcAft>
                <a:spcPts val="0"/>
              </a:spcAft>
            </a:pPr>
            <a:r>
              <a:rPr sz="750" b="0" i="0">
                <a:solidFill>
                  <a:srgbClr val="0F766E"/>
                </a:solidFill>
                <a:latin typeface="Arial"/>
                <a:hlinkClick r:id="rId27"/>
              </a:rPr>
              <a:t>github.com/prasadxa/itantra</a:t>
            </a:r>
          </a:p>
        </p:txBody>
      </p:sp>
      <p:sp>
        <p:nvSpPr>
          <p:cNvPr id="17450" name="TextBox 17449"/>
          <p:cNvSpPr txBox="1"/>
          <p:nvPr/>
        </p:nvSpPr>
        <p:spPr>
          <a:xfrm>
            <a:off x="4251960" y="5294375"/>
            <a:ext cx="2423160" cy="38404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0"/>
              </a:spcAft>
            </a:pPr>
            <a:r>
              <a:rPr sz="950" b="1" i="0">
                <a:solidFill>
                  <a:srgbClr val="1B2433"/>
                </a:solidFill>
                <a:latin typeface="Arial"/>
                <a:hlinkClick r:id="rId28"/>
              </a:rPr>
              <a:t>4 GB-class memory test</a:t>
            </a:r>
          </a:p>
          <a:p>
            <a:pPr algn="l">
              <a:spcAft>
                <a:spcPts val="0"/>
              </a:spcAft>
            </a:pPr>
            <a:r>
              <a:rPr sz="750" b="0" i="0">
                <a:solidFill>
                  <a:srgbClr val="0F766E"/>
                </a:solidFill>
                <a:latin typeface="Arial"/>
                <a:hlinkClick r:id="rId28"/>
              </a:rPr>
              <a:t>github.com/prasadxa/itantra/tree/main/tools/lowram</a:t>
            </a:r>
          </a:p>
        </p:txBody>
      </p:sp>
      <p:sp>
        <p:nvSpPr>
          <p:cNvPr id="17451" name="TextBox 17450"/>
          <p:cNvSpPr txBox="1"/>
          <p:nvPr/>
        </p:nvSpPr>
        <p:spPr>
          <a:xfrm>
            <a:off x="4251960" y="5724144"/>
            <a:ext cx="2423160" cy="38404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0"/>
              </a:spcAft>
            </a:pPr>
            <a:r>
              <a:rPr sz="950" b="1" i="0">
                <a:solidFill>
                  <a:srgbClr val="1B2433"/>
                </a:solidFill>
                <a:latin typeface="Arial"/>
                <a:hlinkClick r:id="rId29"/>
              </a:rPr>
              <a:t>Model pack (1.2 GB)</a:t>
            </a:r>
          </a:p>
          <a:p>
            <a:pPr algn="l">
              <a:spcAft>
                <a:spcPts val="0"/>
              </a:spcAft>
            </a:pPr>
            <a:r>
              <a:rPr sz="750" b="0" i="0">
                <a:solidFill>
                  <a:srgbClr val="0F766E"/>
                </a:solidFill>
                <a:latin typeface="Arial"/>
                <a:hlinkClick r:id="rId29"/>
              </a:rPr>
              <a:t>r2.dev/models/v1/manifest.json</a:t>
            </a:r>
          </a:p>
        </p:txBody>
      </p:sp>
      <p:sp>
        <p:nvSpPr>
          <p:cNvPr id="17452" name="TextBox 17451"/>
          <p:cNvSpPr txBox="1"/>
          <p:nvPr/>
        </p:nvSpPr>
        <p:spPr>
          <a:xfrm>
            <a:off x="6858000" y="4864607"/>
            <a:ext cx="2423160" cy="38404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0"/>
              </a:spcAft>
            </a:pPr>
            <a:r>
              <a:rPr sz="950" b="1" i="0">
                <a:solidFill>
                  <a:srgbClr val="1B2433"/>
                </a:solidFill>
                <a:latin typeface="Arial"/>
                <a:hlinkClick r:id="rId30"/>
              </a:rPr>
              <a:t>Website and results</a:t>
            </a:r>
          </a:p>
          <a:p>
            <a:pPr algn="l">
              <a:spcAft>
                <a:spcPts val="0"/>
              </a:spcAft>
            </a:pPr>
            <a:r>
              <a:rPr sz="750" b="0" i="0">
                <a:solidFill>
                  <a:srgbClr val="0F766E"/>
                </a:solidFill>
                <a:latin typeface="Arial"/>
                <a:hlinkClick r:id="rId30"/>
              </a:rPr>
              <a:t>itantra-106.pages.dev</a:t>
            </a:r>
          </a:p>
        </p:txBody>
      </p:sp>
      <p:sp>
        <p:nvSpPr>
          <p:cNvPr id="17453" name="TextBox 17452"/>
          <p:cNvSpPr txBox="1"/>
          <p:nvPr/>
        </p:nvSpPr>
        <p:spPr>
          <a:xfrm>
            <a:off x="6858000" y="5294375"/>
            <a:ext cx="2423160" cy="38404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0"/>
              </a:spcAft>
            </a:pPr>
            <a:r>
              <a:rPr sz="950" b="1" i="0">
                <a:solidFill>
                  <a:srgbClr val="1B2433"/>
                </a:solidFill>
                <a:latin typeface="Arial"/>
                <a:hlinkClick r:id="rId31"/>
              </a:rPr>
              <a:t>Demo film, 1 min 55 s</a:t>
            </a:r>
          </a:p>
          <a:p>
            <a:pPr algn="l">
              <a:spcAft>
                <a:spcPts val="0"/>
              </a:spcAft>
            </a:pPr>
            <a:r>
              <a:rPr sz="750" b="0" i="0">
                <a:solidFill>
                  <a:srgbClr val="0F766E"/>
                </a:solidFill>
                <a:latin typeface="Arial"/>
                <a:hlinkClick r:id="rId31"/>
              </a:rPr>
              <a:t>itantra-106.pages.dev/demo</a:t>
            </a:r>
          </a:p>
        </p:txBody>
      </p:sp>
      <p:sp>
        <p:nvSpPr>
          <p:cNvPr id="17454" name="TextBox 17453"/>
          <p:cNvSpPr txBox="1"/>
          <p:nvPr/>
        </p:nvSpPr>
        <p:spPr>
          <a:xfrm>
            <a:off x="6858000" y="5724144"/>
            <a:ext cx="2423160" cy="38404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0"/>
              </a:spcAft>
            </a:pPr>
            <a:r>
              <a:rPr sz="950" b="1" i="0">
                <a:solidFill>
                  <a:srgbClr val="1B2433"/>
                </a:solidFill>
                <a:latin typeface="Arial"/>
                <a:hlinkClick r:id="rId32"/>
              </a:rPr>
              <a:t>Reviewer install guide</a:t>
            </a:r>
          </a:p>
          <a:p>
            <a:pPr algn="l">
              <a:spcAft>
                <a:spcPts val="0"/>
              </a:spcAft>
            </a:pPr>
            <a:r>
              <a:rPr sz="750" b="0" i="0">
                <a:solidFill>
                  <a:srgbClr val="0F766E"/>
                </a:solidFill>
                <a:latin typeface="Arial"/>
                <a:hlinkClick r:id="rId32"/>
              </a:rPr>
              <a:t>itantra-106.pages.dev/#try</a:t>
            </a:r>
          </a:p>
        </p:txBody>
      </p:sp>
      <p:sp>
        <p:nvSpPr>
          <p:cNvPr id="17455" name="Rounded Rectangle 17454">
            <a:hlinkClick r:id="rId33"/>
          </p:cNvPr>
          <p:cNvSpPr/>
          <p:nvPr/>
        </p:nvSpPr>
        <p:spPr>
          <a:xfrm>
            <a:off x="9509760" y="1572768"/>
            <a:ext cx="2267712" cy="10789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DE1E7"/>
            </a:solidFill>
          </a:ln>
          <a:effectLst/>
        </p:spPr>
        <p:txBody>
          <a:bodyPr rtlCol="0" anchor="ctr"/>
          <a:lstStyle/>
          <a:p/>
        </p:txBody>
      </p:sp>
      <p:pic>
        <p:nvPicPr>
          <p:cNvPr id="17456" name="Picture 17455" descr="qr-site.png">
            <a:hlinkClick r:id="rId33"/>
          </p:cNvPr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>
            <a:off x="9601200" y="1655064"/>
            <a:ext cx="914400" cy="914400"/>
          </a:xfrm>
          <a:prstGeom prst="rect">
            <a:avLst/>
          </a:prstGeom>
        </p:spPr>
      </p:pic>
      <p:sp>
        <p:nvSpPr>
          <p:cNvPr id="17457" name="TextBox 17456"/>
          <p:cNvSpPr txBox="1"/>
          <p:nvPr/>
        </p:nvSpPr>
        <p:spPr>
          <a:xfrm>
            <a:off x="10607040" y="1572768"/>
            <a:ext cx="1143000" cy="107899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1B2433"/>
                </a:solidFill>
                <a:latin typeface="Arial"/>
                <a:hlinkClick r:id="rId33"/>
              </a:rPr>
              <a:t>Website</a:t>
            </a:r>
          </a:p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5B6472"/>
                </a:solidFill>
                <a:latin typeface="Arial"/>
              </a:rPr>
              <a:t>overview · results</a:t>
            </a:r>
          </a:p>
        </p:txBody>
      </p:sp>
      <p:sp>
        <p:nvSpPr>
          <p:cNvPr id="17458" name="Rounded Rectangle 17457">
            <a:hlinkClick r:id="rId35"/>
          </p:cNvPr>
          <p:cNvSpPr/>
          <p:nvPr/>
        </p:nvSpPr>
        <p:spPr>
          <a:xfrm>
            <a:off x="9509760" y="2743200"/>
            <a:ext cx="2267712" cy="10789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DE1E7"/>
            </a:solidFill>
          </a:ln>
          <a:effectLst/>
        </p:spPr>
        <p:txBody>
          <a:bodyPr rtlCol="0" anchor="ctr"/>
          <a:lstStyle/>
          <a:p/>
        </p:txBody>
      </p:sp>
      <p:pic>
        <p:nvPicPr>
          <p:cNvPr id="17459" name="Picture 17458" descr="qr-demo.png">
            <a:hlinkClick r:id="rId35"/>
          </p:cNvPr>
          <p:cNvPicPr>
            <a:picLocks noChangeAspect="1"/>
          </p:cNvPicPr>
          <p:nvPr/>
        </p:nvPicPr>
        <p:blipFill>
          <a:blip r:embed="rId36"/>
          <a:stretch>
            <a:fillRect/>
          </a:stretch>
        </p:blipFill>
        <p:spPr>
          <a:xfrm>
            <a:off x="9601200" y="2825496"/>
            <a:ext cx="914400" cy="914400"/>
          </a:xfrm>
          <a:prstGeom prst="rect">
            <a:avLst/>
          </a:prstGeom>
        </p:spPr>
      </p:pic>
      <p:sp>
        <p:nvSpPr>
          <p:cNvPr id="17460" name="TextBox 17459"/>
          <p:cNvSpPr txBox="1"/>
          <p:nvPr/>
        </p:nvSpPr>
        <p:spPr>
          <a:xfrm>
            <a:off x="10607040" y="2743200"/>
            <a:ext cx="1143000" cy="107899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1B2433"/>
                </a:solidFill>
                <a:latin typeface="Arial"/>
                <a:hlinkClick r:id="rId35"/>
              </a:rPr>
              <a:t>Demo film</a:t>
            </a:r>
          </a:p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5B6472"/>
                </a:solidFill>
                <a:latin typeface="Arial"/>
              </a:rPr>
              <a:t>1 min 55 s</a:t>
            </a:r>
          </a:p>
        </p:txBody>
      </p:sp>
      <p:sp>
        <p:nvSpPr>
          <p:cNvPr id="17461" name="Rounded Rectangle 17460">
            <a:hlinkClick r:id="rId27"/>
          </p:cNvPr>
          <p:cNvSpPr/>
          <p:nvPr/>
        </p:nvSpPr>
        <p:spPr>
          <a:xfrm>
            <a:off x="9509760" y="3913632"/>
            <a:ext cx="2267712" cy="10789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DE1E7"/>
            </a:solidFill>
          </a:ln>
          <a:effectLst/>
        </p:spPr>
        <p:txBody>
          <a:bodyPr rtlCol="0" anchor="ctr"/>
          <a:lstStyle/>
          <a:p/>
        </p:txBody>
      </p:sp>
      <p:pic>
        <p:nvPicPr>
          <p:cNvPr id="17462" name="Picture 17461" descr="qr-github.png">
            <a:hlinkClick r:id="rId27"/>
          </p:cNvPr>
          <p:cNvPicPr>
            <a:picLocks noChangeAspect="1"/>
          </p:cNvPicPr>
          <p:nvPr/>
        </p:nvPicPr>
        <p:blipFill>
          <a:blip r:embed="rId37"/>
          <a:stretch>
            <a:fillRect/>
          </a:stretch>
        </p:blipFill>
        <p:spPr>
          <a:xfrm>
            <a:off x="9601200" y="3995928"/>
            <a:ext cx="914400" cy="914400"/>
          </a:xfrm>
          <a:prstGeom prst="rect">
            <a:avLst/>
          </a:prstGeom>
        </p:spPr>
      </p:pic>
      <p:sp>
        <p:nvSpPr>
          <p:cNvPr id="17463" name="TextBox 17462"/>
          <p:cNvSpPr txBox="1"/>
          <p:nvPr/>
        </p:nvSpPr>
        <p:spPr>
          <a:xfrm>
            <a:off x="10607040" y="3913632"/>
            <a:ext cx="1143000" cy="107899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1B2433"/>
                </a:solidFill>
                <a:latin typeface="Arial"/>
                <a:hlinkClick r:id="rId27"/>
              </a:rPr>
              <a:t>Code</a:t>
            </a:r>
          </a:p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5B6472"/>
                </a:solidFill>
                <a:latin typeface="Arial"/>
              </a:rPr>
              <a:t>GitHub</a:t>
            </a:r>
          </a:p>
        </p:txBody>
      </p:sp>
      <p:sp>
        <p:nvSpPr>
          <p:cNvPr id="17464" name="Rounded Rectangle 17463">
            <a:hlinkClick r:id="rId38"/>
          </p:cNvPr>
          <p:cNvSpPr/>
          <p:nvPr/>
        </p:nvSpPr>
        <p:spPr>
          <a:xfrm>
            <a:off x="9509760" y="5084064"/>
            <a:ext cx="2267712" cy="10789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DE1E7"/>
            </a:solidFill>
          </a:ln>
          <a:effectLst/>
        </p:spPr>
        <p:txBody>
          <a:bodyPr rtlCol="0" anchor="ctr"/>
          <a:lstStyle/>
          <a:p/>
        </p:txBody>
      </p:sp>
      <p:pic>
        <p:nvPicPr>
          <p:cNvPr id="17465" name="Picture 17464" descr="qr-apk.png">
            <a:hlinkClick r:id="rId38"/>
          </p:cNvPr>
          <p:cNvPicPr>
            <a:picLocks noChangeAspect="1"/>
          </p:cNvPicPr>
          <p:nvPr/>
        </p:nvPicPr>
        <p:blipFill>
          <a:blip r:embed="rId39"/>
          <a:stretch>
            <a:fillRect/>
          </a:stretch>
        </p:blipFill>
        <p:spPr>
          <a:xfrm>
            <a:off x="9601200" y="5166359"/>
            <a:ext cx="914400" cy="914400"/>
          </a:xfrm>
          <a:prstGeom prst="rect">
            <a:avLst/>
          </a:prstGeom>
        </p:spPr>
      </p:pic>
      <p:sp>
        <p:nvSpPr>
          <p:cNvPr id="17466" name="TextBox 17465"/>
          <p:cNvSpPr txBox="1"/>
          <p:nvPr/>
        </p:nvSpPr>
        <p:spPr>
          <a:xfrm>
            <a:off x="10607040" y="5084064"/>
            <a:ext cx="1143000" cy="107899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1B2433"/>
                </a:solidFill>
                <a:latin typeface="Arial"/>
                <a:hlinkClick r:id="rId38"/>
              </a:rPr>
              <a:t>APK</a:t>
            </a:r>
          </a:p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5B6472"/>
                </a:solidFill>
                <a:latin typeface="Arial"/>
              </a:rPr>
              <a:t>Android 8+</a:t>
            </a:r>
          </a:p>
        </p:txBody>
      </p:sp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7489</TotalTime>
  <Words>325</Words>
  <Application>Microsoft Office PowerPoint</Application>
  <PresentationFormat>Widescreen</PresentationFormat>
  <Paragraphs>62</Paragraphs>
  <Slides>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5" baseType="lpstr">
      <vt:lpstr>ＭＳ Ｐゴシック</vt:lpstr>
      <vt:lpstr>Arial</vt:lpstr>
      <vt:lpstr>Calibri</vt:lpstr>
      <vt:lpstr>Garamond</vt:lpstr>
      <vt:lpstr>Times New Roman</vt:lpstr>
      <vt:lpstr>TradeGothic</vt:lpstr>
      <vt:lpstr>Wingdings</vt:lpstr>
      <vt:lpstr>Office Theme</vt:lpstr>
      <vt:lpstr>SMART INDIA HACKATHON 2026</vt:lpstr>
      <vt:lpstr> IDEA TITLE</vt:lpstr>
      <vt:lpstr>TECHNICAL APPROACH</vt:lpstr>
      <vt:lpstr>FEASIBILITY AND VIABILITY</vt:lpstr>
      <vt:lpstr>IMPACT AND BENEFITS</vt:lpstr>
      <vt:lpstr>RESEARCH  AND REFERENCES</vt:lpstr>
      <vt:lpstr>PowerPoint Presentation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AICTE</cp:lastModifiedBy>
  <cp:revision>148</cp:revision>
  <dcterms:created xsi:type="dcterms:W3CDTF">2013-12-12T18:46:50Z</dcterms:created>
  <dcterms:modified xsi:type="dcterms:W3CDTF">2026-06-02T09:29:39Z</dcterms:modified>
  <cp:category/>
</cp:coreProperties>
</file>