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bps</c:v>
                </c:pt>
              </c:strCache>
            </c:strRef>
          </c:tx>
          <c:dPt>
            <c:idx val="0"/>
            <c:spPr>
              <a:solidFill>
                <a:srgbClr val="9AA3AF"/>
              </a:solidFill>
            </c:spPr>
          </c:dPt>
          <c:dPt>
            <c:idx val="1"/>
            <c:spPr>
              <a:solidFill>
                <a:srgbClr val="9AA3AF"/>
              </a:solidFill>
            </c:spPr>
          </c:dPt>
          <c:dPt>
            <c:idx val="2"/>
            <c:spPr>
              <a:solidFill>
                <a:srgbClr val="EA580C"/>
              </a:solidFill>
            </c:spPr>
          </c:dPt>
          <c:cat>
            <c:strRef>
              <c:f>Sheet1!$A$2:$A$4</c:f>
              <c:strCache>
                <c:ptCount val="3"/>
                <c:pt idx="0">
                  <c:v>Raw audio</c:v>
                </c:pt>
                <c:pt idx="1">
                  <c:v>Opus voice</c:v>
                </c:pt>
                <c:pt idx="2">
                  <c:v>iTantra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256000</c:v>
                </c:pt>
                <c:pt idx="1">
                  <c:v>12000</c:v>
                </c:pt>
                <c:pt idx="2">
                  <c:v>165</c:v>
                </c:pt>
              </c:numCache>
            </c:numRef>
          </c:val>
        </c:ser>
        <c:dLbls>
          <c:numFmt formatCode="[&gt;=1000]0,&quot;k&quot;;0" sourceLinked="0"/>
          <c:txPr>
            <a:bodyPr/>
            <a:lstStyle/>
            <a:p>
              <a:pPr>
                <a:defRPr sz="900" b="1">
                  <a:solidFill>
                    <a:srgbClr val="1B24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1B243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max val="100000000.0"/>
          <c:min val="1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itantra-106.pages.dev/" TargetMode="External"/><Relationship Id="rId5" Type="http://schemas.openxmlformats.org/officeDocument/2006/relationships/image" Target="../media/image3.png"/><Relationship Id="rId6" Type="http://schemas.openxmlformats.org/officeDocument/2006/relationships/hyperlink" Target="https://itantra-106.pages.dev/demo/" TargetMode="External"/><Relationship Id="rId7" Type="http://schemas.openxmlformats.org/officeDocument/2006/relationships/image" Target="../media/image4.png"/><Relationship Id="rId8" Type="http://schemas.openxmlformats.org/officeDocument/2006/relationships/hyperlink" Target="https://github.com/prasadxa/itantra" TargetMode="External"/><Relationship Id="rId9" Type="http://schemas.openxmlformats.org/officeDocument/2006/relationships/image" Target="../media/image5.png"/><Relationship Id="rId10" Type="http://schemas.openxmlformats.org/officeDocument/2006/relationships/hyperlink" Target="https://pub-d139da76dbb3434bbcb332e210a95fcf.r2.dev/apk/iTantra-0.1.0-debug.apk" TargetMode="External"/><Relationship Id="rId11" Type="http://schemas.openxmlformats.org/officeDocument/2006/relationships/image" Target="../media/image6.png"/><Relationship Id="rId1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jpg"/><Relationship Id="rId10" Type="http://schemas.openxmlformats.org/officeDocument/2006/relationships/hyperlink" Target="https://itantra-106.pages.dev/demo/" TargetMode="External"/><Relationship Id="rId11" Type="http://schemas.openxmlformats.org/officeDocument/2006/relationships/image" Target="../media/image14.jpg"/><Relationship Id="rId12" Type="http://schemas.openxmlformats.org/officeDocument/2006/relationships/image" Target="../media/image15.png"/><Relationship Id="rId13" Type="http://schemas.openxmlformats.org/officeDocument/2006/relationships/image" Target="../media/image16.png"/><Relationship Id="rId14" Type="http://schemas.openxmlformats.org/officeDocument/2006/relationships/image" Target="../media/image17.png"/><Relationship Id="rId15" Type="http://schemas.openxmlformats.org/officeDocument/2006/relationships/image" Target="../media/image18.png"/><Relationship Id="rId16" Type="http://schemas.openxmlformats.org/officeDocument/2006/relationships/image" Target="../media/image19.png"/><Relationship Id="rId17" Type="http://schemas.openxmlformats.org/officeDocument/2006/relationships/chart" Target="../charts/chart1.xml"/><Relationship Id="rId18" Type="http://schemas.openxmlformats.org/officeDocument/2006/relationships/image" Target="../media/image20.png"/><Relationship Id="rId19" Type="http://schemas.openxmlformats.org/officeDocument/2006/relationships/image" Target="../media/image21.png"/><Relationship Id="rId20" Type="http://schemas.openxmlformats.org/officeDocument/2006/relationships/image" Target="../media/image22.png"/><Relationship Id="rId21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1.png"/><Relationship Id="rId9" Type="http://schemas.openxmlformats.org/officeDocument/2006/relationships/image" Target="../media/image26.png"/><Relationship Id="rId10" Type="http://schemas.openxmlformats.org/officeDocument/2006/relationships/image" Target="../media/image19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29.png"/><Relationship Id="rId14" Type="http://schemas.openxmlformats.org/officeDocument/2006/relationships/image" Target="../media/image30.png"/><Relationship Id="rId15" Type="http://schemas.openxmlformats.org/officeDocument/2006/relationships/image" Target="../media/image31.png"/><Relationship Id="rId16" Type="http://schemas.openxmlformats.org/officeDocument/2006/relationships/image" Target="../media/image32.png"/><Relationship Id="rId17" Type="http://schemas.openxmlformats.org/officeDocument/2006/relationships/image" Target="../media/image33.png"/><Relationship Id="rId18" Type="http://schemas.openxmlformats.org/officeDocument/2006/relationships/image" Target="../media/image34.png"/><Relationship Id="rId19" Type="http://schemas.openxmlformats.org/officeDocument/2006/relationships/image" Target="../media/image35.png"/><Relationship Id="rId20" Type="http://schemas.openxmlformats.org/officeDocument/2006/relationships/image" Target="../media/image36.png"/><Relationship Id="rId21" Type="http://schemas.openxmlformats.org/officeDocument/2006/relationships/image" Target="../media/image22.png"/><Relationship Id="rId22" Type="http://schemas.openxmlformats.org/officeDocument/2006/relationships/image" Target="../media/image37.jpg"/><Relationship Id="rId23" Type="http://schemas.openxmlformats.org/officeDocument/2006/relationships/hyperlink" Target="https://itantra-106.pages.dev/" TargetMode="External"/><Relationship Id="rId24" Type="http://schemas.openxmlformats.org/officeDocument/2006/relationships/image" Target="../media/image38.jpg"/><Relationship Id="rId25" Type="http://schemas.openxmlformats.org/officeDocument/2006/relationships/image" Target="../media/image39.jpg"/><Relationship Id="rId26" Type="http://schemas.openxmlformats.org/officeDocument/2006/relationships/image" Target="../media/image4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27.png"/><Relationship Id="rId13" Type="http://schemas.openxmlformats.org/officeDocument/2006/relationships/hyperlink" Target="https://itantra-106.pages.dev/" TargetMode="External"/><Relationship Id="rId14" Type="http://schemas.openxmlformats.org/officeDocument/2006/relationships/image" Target="../media/image49.png"/><Relationship Id="rId15" Type="http://schemas.openxmlformats.org/officeDocument/2006/relationships/hyperlink" Target="https://pub-d139da76dbb3434bbcb332e210a95fcf.r2.dev/models/v1/manifest.json" TargetMode="External"/><Relationship Id="rId16" Type="http://schemas.openxmlformats.org/officeDocument/2006/relationships/image" Target="../media/image50.png"/><Relationship Id="rId17" Type="http://schemas.openxmlformats.org/officeDocument/2006/relationships/hyperlink" Target="https://github.com/prasadxa/itantra" TargetMode="External"/><Relationship Id="rId18" Type="http://schemas.openxmlformats.org/officeDocument/2006/relationships/image" Target="../media/image5.png"/><Relationship Id="rId19" Type="http://schemas.openxmlformats.org/officeDocument/2006/relationships/image" Target="../media/image5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2.jpg"/><Relationship Id="rId5" Type="http://schemas.openxmlformats.org/officeDocument/2006/relationships/hyperlink" Target="https://commons.wikimedia.org/wiki/File:The_NDRF_teams_carrying_out_rescue_and_relief_operations_in_flood-affected_areas_of_Kerala_on_August_11,_2018.JPG" TargetMode="External"/><Relationship Id="rId6" Type="http://schemas.openxmlformats.org/officeDocument/2006/relationships/image" Target="../media/image53.png"/><Relationship Id="rId7" Type="http://schemas.openxmlformats.org/officeDocument/2006/relationships/image" Target="../media/image54.jpg"/><Relationship Id="rId8" Type="http://schemas.openxmlformats.org/officeDocument/2006/relationships/hyperlink" Target="https://commons.wikimedia.org/wiki/File:Fishermen_in_sea.jpg" TargetMode="External"/><Relationship Id="rId9" Type="http://schemas.openxmlformats.org/officeDocument/2006/relationships/image" Target="../media/image55.png"/><Relationship Id="rId10" Type="http://schemas.openxmlformats.org/officeDocument/2006/relationships/image" Target="../media/image56.jpg"/><Relationship Id="rId11" Type="http://schemas.openxmlformats.org/officeDocument/2006/relationships/hyperlink" Target="https://commons.wikimedia.org/wiki/File:Tamil_rural_woman_with_a_mobile_phone_facility.jpg" TargetMode="External"/><Relationship Id="rId12" Type="http://schemas.openxmlformats.org/officeDocument/2006/relationships/image" Target="../media/image27.png"/><Relationship Id="rId13" Type="http://schemas.openxmlformats.org/officeDocument/2006/relationships/image" Target="../media/image57.jpg"/><Relationship Id="rId14" Type="http://schemas.openxmlformats.org/officeDocument/2006/relationships/hyperlink" Target="https://commons.wikimedia.org/wiki/File:Rail_workers_-_Bina_Etawa_Junction_Station_-_India_(4609971779).jpg" TargetMode="External"/><Relationship Id="rId15" Type="http://schemas.openxmlformats.org/officeDocument/2006/relationships/image" Target="../media/image58.png"/><Relationship Id="rId16" Type="http://schemas.openxmlformats.org/officeDocument/2006/relationships/image" Target="../media/image59.png"/><Relationship Id="rId17" Type="http://schemas.openxmlformats.org/officeDocument/2006/relationships/image" Target="../media/image60.png"/><Relationship Id="rId18" Type="http://schemas.openxmlformats.org/officeDocument/2006/relationships/image" Target="../media/image6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62.png"/><Relationship Id="rId5" Type="http://schemas.openxmlformats.org/officeDocument/2006/relationships/hyperlink" Target="https://huggingface.co/ARTPARK-IISc/SraVaani-1.0" TargetMode="External"/><Relationship Id="rId6" Type="http://schemas.openxmlformats.org/officeDocument/2006/relationships/hyperlink" Target="https://huggingface.co/SPRINGLab/Indic-Mio" TargetMode="External"/><Relationship Id="rId7" Type="http://schemas.openxmlformats.org/officeDocument/2006/relationships/hyperlink" Target="https://huggingface.co/ai4bharat/vits_rasa_13" TargetMode="External"/><Relationship Id="rId8" Type="http://schemas.openxmlformats.org/officeDocument/2006/relationships/hyperlink" Target="https://github.com/snakers4/silero-vad" TargetMode="External"/><Relationship Id="rId9" Type="http://schemas.openxmlformats.org/officeDocument/2006/relationships/image" Target="../media/image63.png"/><Relationship Id="rId10" Type="http://schemas.openxmlformats.org/officeDocument/2006/relationships/hyperlink" Target="https://github.com/k2-fsa/sherpa-onnx" TargetMode="External"/><Relationship Id="rId11" Type="http://schemas.openxmlformats.org/officeDocument/2006/relationships/hyperlink" Target="https://github.com/ggml-org/llama.cpp" TargetMode="External"/><Relationship Id="rId12" Type="http://schemas.openxmlformats.org/officeDocument/2006/relationships/hyperlink" Target="https://github.com/mmnga/mio-tts-cpp" TargetMode="External"/><Relationship Id="rId13" Type="http://schemas.openxmlformats.org/officeDocument/2006/relationships/hyperlink" Target="https://www.bouncycastle.org" TargetMode="External"/><Relationship Id="rId14" Type="http://schemas.openxmlformats.org/officeDocument/2006/relationships/hyperlink" Target="https://github.com/jgromes/RadioLib" TargetMode="External"/><Relationship Id="rId15" Type="http://schemas.openxmlformats.org/officeDocument/2006/relationships/image" Target="../media/image64.png"/><Relationship Id="rId16" Type="http://schemas.openxmlformats.org/officeDocument/2006/relationships/hyperlink" Target="https://docs.oasis-open.org/emergency/cap/v1.2/CAP-v1.2.html" TargetMode="External"/><Relationship Id="rId17" Type="http://schemas.openxmlformats.org/officeDocument/2006/relationships/hyperlink" Target="https://sachet.ndma.gov.in" TargetMode="External"/><Relationship Id="rId18" Type="http://schemas.openxmlformats.org/officeDocument/2006/relationships/hyperlink" Target="https://huggingface.co/datasets/google/fleurs" TargetMode="External"/><Relationship Id="rId19" Type="http://schemas.openxmlformats.org/officeDocument/2006/relationships/hyperlink" Target="https://github.com/drowe67/codec2" TargetMode="External"/><Relationship Id="rId20" Type="http://schemas.openxmlformats.org/officeDocument/2006/relationships/hyperlink" Target="https://meshtastic.org" TargetMode="External"/><Relationship Id="rId21" Type="http://schemas.openxmlformats.org/officeDocument/2006/relationships/image" Target="../media/image24.png"/><Relationship Id="rId22" Type="http://schemas.openxmlformats.org/officeDocument/2006/relationships/hyperlink" Target="https://developer.android.com/develop/connectivity/wifi/wifi-direct" TargetMode="External"/><Relationship Id="rId23" Type="http://schemas.openxmlformats.org/officeDocument/2006/relationships/hyperlink" Target="https://developer.android.com/develop/connectivity/bluetooth" TargetMode="External"/><Relationship Id="rId24" Type="http://schemas.openxmlformats.org/officeDocument/2006/relationships/hyperlink" Target="https://developer.android.com/media/optimize/audio-focus" TargetMode="External"/><Relationship Id="rId25" Type="http://schemas.openxmlformats.org/officeDocument/2006/relationships/image" Target="../media/image65.png"/><Relationship Id="rId26" Type="http://schemas.openxmlformats.org/officeDocument/2006/relationships/hyperlink" Target="https://github.com/prasadxa/itantra" TargetMode="External"/><Relationship Id="rId27" Type="http://schemas.openxmlformats.org/officeDocument/2006/relationships/hyperlink" Target="https://itantra-106.pages.dev" TargetMode="External"/><Relationship Id="rId28" Type="http://schemas.openxmlformats.org/officeDocument/2006/relationships/hyperlink" Target="https://itantra-106.pages.dev/demo" TargetMode="External"/><Relationship Id="rId29" Type="http://schemas.openxmlformats.org/officeDocument/2006/relationships/hyperlink" Target="https://pub-d139da76dbb3434bbcb332e210a95fcf.r2.dev/models/v1/manifest.json" TargetMode="External"/><Relationship Id="rId30" Type="http://schemas.openxmlformats.org/officeDocument/2006/relationships/hyperlink" Target="https://itantra-106.pages.dev/" TargetMode="External"/><Relationship Id="rId31" Type="http://schemas.openxmlformats.org/officeDocument/2006/relationships/image" Target="../media/image66.png"/><Relationship Id="rId32" Type="http://schemas.openxmlformats.org/officeDocument/2006/relationships/hyperlink" Target="https://itantra-106.pages.dev/demo/" TargetMode="External"/><Relationship Id="rId33" Type="http://schemas.openxmlformats.org/officeDocument/2006/relationships/image" Target="../media/image67.png"/><Relationship Id="rId34" Type="http://schemas.openxmlformats.org/officeDocument/2006/relationships/image" Target="../media/image68.png"/><Relationship Id="rId35" Type="http://schemas.openxmlformats.org/officeDocument/2006/relationships/hyperlink" Target="https://pub-d139da76dbb3434bbcb332e210a95fcf.r2.dev/apk/iTantra-0.1.0-debug.apk" TargetMode="External"/><Relationship Id="rId36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b="0" sz="1700">
                <a:solidFill>
                  <a:srgbClr val="EA580C"/>
                </a:solidFill>
                <a:latin typeface="Arial"/>
              </a:rPr>
              <a:t> SIH26173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b="0" sz="1300">
                <a:solidFill>
                  <a:srgbClr val="1B2433"/>
                </a:solidFill>
                <a:latin typeface="Arial"/>
              </a:rPr>
              <a:t> iTantra – Indian Multilingual TTS &amp; STT Aided Neural Transceiver Radio Access for low bitrate links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b="0" sz="1700">
                <a:solidFill>
                  <a:srgbClr val="EA580C"/>
                </a:solidFill>
                <a:latin typeface="Arial"/>
              </a:rPr>
              <a:t> Smart Automation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PS Category-</a:t>
            </a:r>
            <a:r>
              <a:rPr b="0" sz="1700">
                <a:solidFill>
                  <a:srgbClr val="EA580C"/>
                </a:solidFill>
                <a:latin typeface="Arial"/>
              </a:rPr>
              <a:t> Software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r>
              <a:rPr b="0" sz="1700">
                <a:solidFill>
                  <a:srgbClr val="EA580C"/>
                </a:solidFill>
                <a:latin typeface="Arial"/>
              </a:rPr>
              <a:t> 188881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b="0" sz="1700">
                <a:solidFill>
                  <a:srgbClr val="EA580C"/>
                </a:solidFill>
                <a:latin typeface="Arial"/>
              </a:rPr>
              <a:t> Team Turtle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>
            <a:hlinkClick r:id="rId4"/>
          </p:cNvPr>
          <p:cNvSpPr/>
          <p:nvPr/>
        </p:nvSpPr>
        <p:spPr>
          <a:xfrm>
            <a:off x="566928" y="523036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globe-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5285231"/>
            <a:ext cx="219456" cy="219456"/>
          </a:xfrm>
          <a:prstGeom prst="rect">
            <a:avLst/>
          </a:prstGeom>
        </p:spPr>
      </p:pic>
      <p:sp>
        <p:nvSpPr>
          <p:cNvPr id="40" name="TextBox 39">
            <a:hlinkClick r:id="rId4"/>
          </p:cNvPr>
          <p:cNvSpPr txBox="1"/>
          <p:nvPr/>
        </p:nvSpPr>
        <p:spPr>
          <a:xfrm>
            <a:off x="950976" y="5230368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0F766E"/>
                </a:solidFill>
                <a:latin typeface="Arial"/>
              </a:rPr>
              <a:t>Website</a:t>
            </a:r>
          </a:p>
        </p:txBody>
      </p:sp>
      <p:sp>
        <p:nvSpPr>
          <p:cNvPr id="41" name="Rounded Rectangle 40">
            <a:hlinkClick r:id="rId6"/>
          </p:cNvPr>
          <p:cNvSpPr/>
          <p:nvPr/>
        </p:nvSpPr>
        <p:spPr>
          <a:xfrm>
            <a:off x="1911096" y="5230368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film-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20824" y="5285231"/>
            <a:ext cx="219456" cy="219456"/>
          </a:xfrm>
          <a:prstGeom prst="rect">
            <a:avLst/>
          </a:prstGeom>
        </p:spPr>
      </p:pic>
      <p:sp>
        <p:nvSpPr>
          <p:cNvPr id="43" name="TextBox 42">
            <a:hlinkClick r:id="rId6"/>
          </p:cNvPr>
          <p:cNvSpPr txBox="1"/>
          <p:nvPr/>
        </p:nvSpPr>
        <p:spPr>
          <a:xfrm>
            <a:off x="2295144" y="5230368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0F766E"/>
                </a:solidFill>
                <a:latin typeface="Arial"/>
              </a:rPr>
              <a:t>Demo film</a:t>
            </a:r>
          </a:p>
        </p:txBody>
      </p:sp>
      <p:sp>
        <p:nvSpPr>
          <p:cNvPr id="44" name="Rounded Rectangle 43">
            <a:hlinkClick r:id="rId8"/>
          </p:cNvPr>
          <p:cNvSpPr/>
          <p:nvPr/>
        </p:nvSpPr>
        <p:spPr>
          <a:xfrm>
            <a:off x="3392424" y="523036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github-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02152" y="5285231"/>
            <a:ext cx="219456" cy="219456"/>
          </a:xfrm>
          <a:prstGeom prst="rect">
            <a:avLst/>
          </a:prstGeom>
        </p:spPr>
      </p:pic>
      <p:sp>
        <p:nvSpPr>
          <p:cNvPr id="46" name="TextBox 45">
            <a:hlinkClick r:id="rId8"/>
          </p:cNvPr>
          <p:cNvSpPr txBox="1"/>
          <p:nvPr/>
        </p:nvSpPr>
        <p:spPr>
          <a:xfrm>
            <a:off x="3776472" y="5230368"/>
            <a:ext cx="50292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0F766E"/>
                </a:solidFill>
                <a:latin typeface="Arial"/>
              </a:rPr>
              <a:t>Code</a:t>
            </a:r>
          </a:p>
        </p:txBody>
      </p:sp>
      <p:sp>
        <p:nvSpPr>
          <p:cNvPr id="47" name="Rounded Rectangle 46">
            <a:hlinkClick r:id="rId10"/>
          </p:cNvPr>
          <p:cNvSpPr/>
          <p:nvPr/>
        </p:nvSpPr>
        <p:spPr>
          <a:xfrm>
            <a:off x="4462272" y="523036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download-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5285231"/>
            <a:ext cx="219456" cy="219456"/>
          </a:xfrm>
          <a:prstGeom prst="rect">
            <a:avLst/>
          </a:prstGeom>
        </p:spPr>
      </p:pic>
      <p:sp>
        <p:nvSpPr>
          <p:cNvPr id="49" name="TextBox 48">
            <a:hlinkClick r:id="rId10"/>
          </p:cNvPr>
          <p:cNvSpPr txBox="1"/>
          <p:nvPr/>
        </p:nvSpPr>
        <p:spPr>
          <a:xfrm>
            <a:off x="4846320" y="523036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0F766E"/>
                </a:solidFill>
                <a:latin typeface="Arial"/>
              </a:rPr>
              <a:t>APK</a:t>
            </a:r>
          </a:p>
        </p:txBody>
      </p:sp>
      <p:pic>
        <p:nvPicPr>
          <p:cNvPr id="50" name="Picture 49" descr="logo.png">
            <a:hlinkClick r:id="rId4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67728" y="6089904"/>
            <a:ext cx="512064" cy="512064"/>
          </a:xfrm>
          <a:prstGeom prst="roundRect">
            <a:avLst>
              <a:gd name="adj" fmla="val 20000"/>
            </a:avLst>
          </a:prstGeom>
        </p:spPr>
      </p:pic>
      <p:sp>
        <p:nvSpPr>
          <p:cNvPr id="51" name="TextBox 50"/>
          <p:cNvSpPr txBox="1"/>
          <p:nvPr/>
        </p:nvSpPr>
        <p:spPr>
          <a:xfrm>
            <a:off x="7589520" y="6071616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433"/>
                </a:solidFill>
                <a:latin typeface="Arial"/>
              </a:rPr>
              <a:t>iTantra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472"/>
                </a:solidFill>
                <a:latin typeface="Arial"/>
              </a:rPr>
              <a:t>Speak. Send text. Hear it back — offline.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iTantra: Speak. Send Text. Hear It Back — Offline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2433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11480" y="14813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472"/>
                </a:solidFill>
                <a:latin typeface="Arial"/>
              </a:rPr>
              <a:t>Only text crosses the link; the receiver hears speech. </a:t>
            </a:r>
            <a:r>
              <a:rPr sz="1200" b="1" i="0">
                <a:solidFill>
                  <a:srgbClr val="EA580C"/>
                </a:solidFill>
                <a:latin typeface="Arial"/>
              </a:rPr>
              <a:t>No tower. No internet. No cloud.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411480" y="1874519"/>
            <a:ext cx="7315200" cy="1188720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5" name="Oval 15364"/>
          <p:cNvSpPr/>
          <p:nvPr/>
        </p:nvSpPr>
        <p:spPr>
          <a:xfrm>
            <a:off x="877824" y="2048255"/>
            <a:ext cx="530352" cy="530352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66" name="Picture 15365" descr="mic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501" y="2164933"/>
            <a:ext cx="296997" cy="296997"/>
          </a:xfrm>
          <a:prstGeom prst="rect">
            <a:avLst/>
          </a:prstGeom>
        </p:spPr>
      </p:pic>
      <p:sp>
        <p:nvSpPr>
          <p:cNvPr id="15367" name="TextBox 15366"/>
          <p:cNvSpPr txBox="1"/>
          <p:nvPr/>
        </p:nvSpPr>
        <p:spPr>
          <a:xfrm>
            <a:off x="411479" y="26517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A580C"/>
                </a:solidFill>
                <a:latin typeface="Arial"/>
              </a:rPr>
              <a:t>Speak</a:t>
            </a:r>
          </a:p>
        </p:txBody>
      </p:sp>
      <p:cxnSp>
        <p:nvCxnSpPr>
          <p:cNvPr id="15368" name="Connector 15367"/>
          <p:cNvCxnSpPr/>
          <p:nvPr/>
        </p:nvCxnSpPr>
        <p:spPr>
          <a:xfrm>
            <a:off x="1508760" y="2313432"/>
            <a:ext cx="731520" cy="0"/>
          </a:xfrm>
          <a:prstGeom prst="line">
            <a:avLst/>
          </a:prstGeom>
          <a:ln w="19050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9" name="Oval 15368"/>
          <p:cNvSpPr/>
          <p:nvPr/>
        </p:nvSpPr>
        <p:spPr>
          <a:xfrm>
            <a:off x="2340864" y="2048255"/>
            <a:ext cx="530352" cy="530352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0" name="Picture 15369" descr="wav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7541" y="2164933"/>
            <a:ext cx="296997" cy="296997"/>
          </a:xfrm>
          <a:prstGeom prst="rect">
            <a:avLst/>
          </a:prstGeom>
        </p:spPr>
      </p:pic>
      <p:sp>
        <p:nvSpPr>
          <p:cNvPr id="15371" name="TextBox 15370"/>
          <p:cNvSpPr txBox="1"/>
          <p:nvPr/>
        </p:nvSpPr>
        <p:spPr>
          <a:xfrm>
            <a:off x="1874520" y="26517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A580C"/>
                </a:solidFill>
                <a:latin typeface="Arial"/>
              </a:rPr>
              <a:t>Speech → text</a:t>
            </a:r>
          </a:p>
        </p:txBody>
      </p:sp>
      <p:cxnSp>
        <p:nvCxnSpPr>
          <p:cNvPr id="15372" name="Connector 15371"/>
          <p:cNvCxnSpPr/>
          <p:nvPr/>
        </p:nvCxnSpPr>
        <p:spPr>
          <a:xfrm>
            <a:off x="2971800" y="2313432"/>
            <a:ext cx="731520" cy="0"/>
          </a:xfrm>
          <a:prstGeom prst="line">
            <a:avLst/>
          </a:prstGeom>
          <a:ln w="19050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3" name="Oval 15372"/>
          <p:cNvSpPr/>
          <p:nvPr/>
        </p:nvSpPr>
        <p:spPr>
          <a:xfrm>
            <a:off x="3803904" y="2048255"/>
            <a:ext cx="530352" cy="530352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4" name="Picture 15373" descr="bytes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0581" y="2164933"/>
            <a:ext cx="296997" cy="296997"/>
          </a:xfrm>
          <a:prstGeom prst="rect">
            <a:avLst/>
          </a:prstGeom>
        </p:spPr>
      </p:pic>
      <p:sp>
        <p:nvSpPr>
          <p:cNvPr id="15375" name="TextBox 15374"/>
          <p:cNvSpPr txBox="1"/>
          <p:nvPr/>
        </p:nvSpPr>
        <p:spPr>
          <a:xfrm>
            <a:off x="3337560" y="26517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A580C"/>
                </a:solidFill>
                <a:latin typeface="Arial"/>
              </a:rPr>
              <a:t>≈62-byte frame*</a:t>
            </a:r>
          </a:p>
        </p:txBody>
      </p:sp>
      <p:cxnSp>
        <p:nvCxnSpPr>
          <p:cNvPr id="15376" name="Connector 15375"/>
          <p:cNvCxnSpPr/>
          <p:nvPr/>
        </p:nvCxnSpPr>
        <p:spPr>
          <a:xfrm>
            <a:off x="4434840" y="2313432"/>
            <a:ext cx="731520" cy="0"/>
          </a:xfrm>
          <a:prstGeom prst="line">
            <a:avLst/>
          </a:prstGeom>
          <a:ln w="19050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7" name="Oval 15376"/>
          <p:cNvSpPr/>
          <p:nvPr/>
        </p:nvSpPr>
        <p:spPr>
          <a:xfrm>
            <a:off x="5266944" y="2048255"/>
            <a:ext cx="530352" cy="530352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8" name="Picture 15377" descr="wifi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3621" y="2164933"/>
            <a:ext cx="296997" cy="296997"/>
          </a:xfrm>
          <a:prstGeom prst="rect">
            <a:avLst/>
          </a:prstGeom>
        </p:spPr>
      </p:pic>
      <p:sp>
        <p:nvSpPr>
          <p:cNvPr id="15379" name="TextBox 15378"/>
          <p:cNvSpPr txBox="1"/>
          <p:nvPr/>
        </p:nvSpPr>
        <p:spPr>
          <a:xfrm>
            <a:off x="4800600" y="26517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Wi-Fi · Direct · BLE</a:t>
            </a:r>
          </a:p>
        </p:txBody>
      </p:sp>
      <p:cxnSp>
        <p:nvCxnSpPr>
          <p:cNvPr id="15380" name="Connector 15379"/>
          <p:cNvCxnSpPr/>
          <p:nvPr/>
        </p:nvCxnSpPr>
        <p:spPr>
          <a:xfrm>
            <a:off x="5897880" y="2313432"/>
            <a:ext cx="731520" cy="0"/>
          </a:xfrm>
          <a:prstGeom prst="line">
            <a:avLst/>
          </a:prstGeom>
          <a:ln w="19050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1" name="Oval 15380"/>
          <p:cNvSpPr/>
          <p:nvPr/>
        </p:nvSpPr>
        <p:spPr>
          <a:xfrm>
            <a:off x="6729984" y="2048255"/>
            <a:ext cx="530352" cy="530352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2" name="Picture 15381" descr="speaker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46661" y="2164933"/>
            <a:ext cx="296997" cy="296997"/>
          </a:xfrm>
          <a:prstGeom prst="rect">
            <a:avLst/>
          </a:prstGeom>
        </p:spPr>
      </p:pic>
      <p:sp>
        <p:nvSpPr>
          <p:cNvPr id="15383" name="TextBox 15382"/>
          <p:cNvSpPr txBox="1"/>
          <p:nvPr/>
        </p:nvSpPr>
        <p:spPr>
          <a:xfrm>
            <a:off x="6263640" y="26517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0F766E"/>
                </a:solidFill>
                <a:latin typeface="Arial"/>
              </a:rPr>
              <a:t>Text → speech</a:t>
            </a:r>
          </a:p>
        </p:txBody>
      </p:sp>
      <p:pic>
        <p:nvPicPr>
          <p:cNvPr id="15384" name="Picture 15383" descr="03_sos_sheet.jpg">
            <a:hlinkClick r:id="rId10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2127" y="1207008"/>
            <a:ext cx="1884706" cy="4041648"/>
          </a:xfrm>
          <a:prstGeom prst="roundRect">
            <a:avLst>
              <a:gd name="adj" fmla="val 8000"/>
            </a:avLst>
          </a:prstGeom>
          <a:ln w="9525">
            <a:solidFill>
              <a:srgbClr val="DDE1E7"/>
            </a:solidFill>
          </a:ln>
        </p:spPr>
      </p:pic>
      <p:pic>
        <p:nvPicPr>
          <p:cNvPr id="15385" name="Picture 15384" descr="01_alert_card.jpg">
            <a:hlinkClick r:id="rId10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5520" y="1207008"/>
            <a:ext cx="1884706" cy="4041648"/>
          </a:xfrm>
          <a:prstGeom prst="roundRect">
            <a:avLst>
              <a:gd name="adj" fmla="val 8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5386" name="TextBox 15385"/>
          <p:cNvSpPr txBox="1"/>
          <p:nvPr/>
        </p:nvSpPr>
        <p:spPr>
          <a:xfrm>
            <a:off x="7882127" y="5303520"/>
            <a:ext cx="1883664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EA580C"/>
                </a:solidFill>
                <a:latin typeface="Arial"/>
              </a:rPr>
              <a:t>Sender · SOS</a:t>
            </a:r>
          </a:p>
        </p:txBody>
      </p:sp>
      <p:sp>
        <p:nvSpPr>
          <p:cNvPr id="15387" name="TextBox 15386"/>
          <p:cNvSpPr txBox="1"/>
          <p:nvPr/>
        </p:nvSpPr>
        <p:spPr>
          <a:xfrm>
            <a:off x="9875520" y="5303520"/>
            <a:ext cx="1883664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0F766E"/>
                </a:solidFill>
                <a:latin typeface="Arial"/>
              </a:rPr>
              <a:t>Receiver · ALERT</a:t>
            </a:r>
          </a:p>
        </p:txBody>
      </p:sp>
      <p:sp>
        <p:nvSpPr>
          <p:cNvPr id="15388" name="Rounded Rectangle 15387">
            <a:hlinkClick r:id="rId10"/>
          </p:cNvPr>
          <p:cNvSpPr/>
          <p:nvPr/>
        </p:nvSpPr>
        <p:spPr>
          <a:xfrm>
            <a:off x="7882127" y="5650992"/>
            <a:ext cx="3877056" cy="329184"/>
          </a:xfrm>
          <a:prstGeom prst="roundRect">
            <a:avLst>
              <a:gd name="adj" fmla="val 50000"/>
            </a:avLst>
          </a:prstGeom>
          <a:solidFill>
            <a:srgbClr val="FF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9" name="Picture 15388" descr="film-s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91855" y="5705855"/>
            <a:ext cx="219456" cy="219456"/>
          </a:xfrm>
          <a:prstGeom prst="rect">
            <a:avLst/>
          </a:prstGeom>
        </p:spPr>
      </p:pic>
      <p:sp>
        <p:nvSpPr>
          <p:cNvPr id="15390" name="TextBox 15389">
            <a:hlinkClick r:id="rId10"/>
          </p:cNvPr>
          <p:cNvSpPr txBox="1"/>
          <p:nvPr/>
        </p:nvSpPr>
        <p:spPr>
          <a:xfrm>
            <a:off x="8266175" y="5650992"/>
            <a:ext cx="3419856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EA580C"/>
                </a:solidFill>
                <a:latin typeface="Arial"/>
              </a:rPr>
              <a:t>Watch the demo film  ·  1 min 55 s</a:t>
            </a:r>
          </a:p>
        </p:txBody>
      </p:sp>
      <p:sp>
        <p:nvSpPr>
          <p:cNvPr id="15391" name="Rounded Rectangle 15390"/>
          <p:cNvSpPr/>
          <p:nvPr/>
        </p:nvSpPr>
        <p:spPr>
          <a:xfrm>
            <a:off x="411480" y="3218688"/>
            <a:ext cx="23774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2" name="Rounded Rectangle 15391"/>
          <p:cNvSpPr/>
          <p:nvPr/>
        </p:nvSpPr>
        <p:spPr>
          <a:xfrm>
            <a:off x="2880360" y="3218688"/>
            <a:ext cx="23774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3" name="Rounded Rectangle 15392"/>
          <p:cNvSpPr/>
          <p:nvPr/>
        </p:nvSpPr>
        <p:spPr>
          <a:xfrm>
            <a:off x="5349240" y="3218688"/>
            <a:ext cx="23774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4" name="TextBox 15393"/>
          <p:cNvSpPr txBox="1"/>
          <p:nvPr/>
        </p:nvSpPr>
        <p:spPr>
          <a:xfrm>
            <a:off x="530352" y="3310128"/>
            <a:ext cx="214884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Detailed explanation of the proposed solution</a:t>
            </a:r>
          </a:p>
        </p:txBody>
      </p:sp>
      <p:pic>
        <p:nvPicPr>
          <p:cNvPr id="15395" name="Picture 15394" descr="langs-s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640" y="3877056"/>
            <a:ext cx="274320" cy="274320"/>
          </a:xfrm>
          <a:prstGeom prst="rect">
            <a:avLst/>
          </a:prstGeom>
        </p:spPr>
      </p:pic>
      <p:sp>
        <p:nvSpPr>
          <p:cNvPr id="15396" name="TextBox 15395"/>
          <p:cNvSpPr txBox="1"/>
          <p:nvPr/>
        </p:nvSpPr>
        <p:spPr>
          <a:xfrm>
            <a:off x="914400" y="384048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10 Indian languages, on the phone</a:t>
            </a:r>
          </a:p>
        </p:txBody>
      </p:sp>
      <p:pic>
        <p:nvPicPr>
          <p:cNvPr id="15397" name="Picture 15396" descr="siren-s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4407408"/>
            <a:ext cx="274320" cy="274320"/>
          </a:xfrm>
          <a:prstGeom prst="rect">
            <a:avLst/>
          </a:prstGeom>
        </p:spPr>
      </p:pic>
      <p:sp>
        <p:nvSpPr>
          <p:cNvPr id="15398" name="TextBox 15397"/>
          <p:cNvSpPr txBox="1"/>
          <p:nvPr/>
        </p:nvSpPr>
        <p:spPr>
          <a:xfrm>
            <a:off x="914400" y="437083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ALERT at alarm volume</a:t>
            </a:r>
          </a:p>
        </p:txBody>
      </p:sp>
      <p:pic>
        <p:nvPicPr>
          <p:cNvPr id="15399" name="Picture 15398" descr="pin-s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8640" y="4937760"/>
            <a:ext cx="274320" cy="274320"/>
          </a:xfrm>
          <a:prstGeom prst="rect">
            <a:avLst/>
          </a:prstGeom>
        </p:spPr>
      </p:pic>
      <p:sp>
        <p:nvSpPr>
          <p:cNvPr id="15400" name="TextBox 15399"/>
          <p:cNvSpPr txBox="1"/>
          <p:nvPr/>
        </p:nvSpPr>
        <p:spPr>
          <a:xfrm>
            <a:off x="914400" y="4901184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One-tap SOS with GPS/NavIC</a:t>
            </a:r>
          </a:p>
        </p:txBody>
      </p:sp>
      <p:pic>
        <p:nvPicPr>
          <p:cNvPr id="15401" name="Picture 15400" descr="mic-s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48640" y="5468112"/>
            <a:ext cx="274320" cy="274320"/>
          </a:xfrm>
          <a:prstGeom prst="rect">
            <a:avLst/>
          </a:prstGeom>
        </p:spPr>
      </p:pic>
      <p:sp>
        <p:nvSpPr>
          <p:cNvPr id="15402" name="TextBox 15401"/>
          <p:cNvSpPr txBox="1"/>
          <p:nvPr/>
        </p:nvSpPr>
        <p:spPr>
          <a:xfrm>
            <a:off x="914400" y="543153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Push-to-talk and call mode</a:t>
            </a:r>
          </a:p>
        </p:txBody>
      </p:sp>
      <p:sp>
        <p:nvSpPr>
          <p:cNvPr id="15403" name="TextBox 15402"/>
          <p:cNvSpPr txBox="1"/>
          <p:nvPr/>
        </p:nvSpPr>
        <p:spPr>
          <a:xfrm>
            <a:off x="2999232" y="331012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How it addresses the problem</a:t>
            </a:r>
          </a:p>
        </p:txBody>
      </p:sp>
      <p:graphicFrame>
        <p:nvGraphicFramePr>
          <p:cNvPr id="15404" name="Chart 15403"/>
          <p:cNvGraphicFramePr>
            <a:graphicFrameLocks noGrp="1"/>
          </p:cNvGraphicFramePr>
          <p:nvPr/>
        </p:nvGraphicFramePr>
        <p:xfrm>
          <a:off x="2926080" y="3630168"/>
          <a:ext cx="2267712" cy="1417320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15405" name="TextBox 15404"/>
          <p:cNvSpPr txBox="1"/>
          <p:nvPr/>
        </p:nvSpPr>
        <p:spPr>
          <a:xfrm>
            <a:off x="2999232" y="5065776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5B6472"/>
                </a:solidFill>
                <a:latin typeface="Arial"/>
              </a:rPr>
              <a:t>bits/s per sentence (log scale)</a:t>
            </a:r>
          </a:p>
        </p:txBody>
      </p:sp>
      <p:sp>
        <p:nvSpPr>
          <p:cNvPr id="15406" name="TextBox 15405"/>
          <p:cNvSpPr txBox="1"/>
          <p:nvPr/>
        </p:nvSpPr>
        <p:spPr>
          <a:xfrm>
            <a:off x="2999232" y="5367528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EA580C"/>
                </a:solidFill>
                <a:latin typeface="Arial"/>
              </a:rPr>
              <a:t>Thin links carry it.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0F766E"/>
                </a:solidFill>
                <a:latin typeface="Arial"/>
              </a:rPr>
              <a:t>Output is still speech.</a:t>
            </a:r>
          </a:p>
        </p:txBody>
      </p:sp>
      <p:sp>
        <p:nvSpPr>
          <p:cNvPr id="15407" name="TextBox 15406"/>
          <p:cNvSpPr txBox="1"/>
          <p:nvPr/>
        </p:nvSpPr>
        <p:spPr>
          <a:xfrm>
            <a:off x="5468112" y="3310128"/>
            <a:ext cx="214884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Innovation and uniqueness of the solution</a:t>
            </a:r>
          </a:p>
        </p:txBody>
      </p:sp>
      <p:pic>
        <p:nvPicPr>
          <p:cNvPr id="15408" name="Picture 15407" descr="layers-t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486400" y="3877056"/>
            <a:ext cx="274320" cy="274320"/>
          </a:xfrm>
          <a:prstGeom prst="rect">
            <a:avLst/>
          </a:prstGeom>
        </p:spPr>
      </p:pic>
      <p:sp>
        <p:nvSpPr>
          <p:cNvPr id="15409" name="TextBox 15408"/>
          <p:cNvSpPr txBox="1"/>
          <p:nvPr/>
        </p:nvSpPr>
        <p:spPr>
          <a:xfrm>
            <a:off x="5852160" y="384048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Speech itself is the codec</a:t>
            </a:r>
          </a:p>
        </p:txBody>
      </p:sp>
      <p:pic>
        <p:nvPicPr>
          <p:cNvPr id="15410" name="Picture 15409" descr="link-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86400" y="4407408"/>
            <a:ext cx="274320" cy="274320"/>
          </a:xfrm>
          <a:prstGeom prst="rect">
            <a:avLst/>
          </a:prstGeom>
        </p:spPr>
      </p:pic>
      <p:sp>
        <p:nvSpPr>
          <p:cNvPr id="15411" name="TextBox 15410"/>
          <p:cNvSpPr txBox="1"/>
          <p:nvPr/>
        </p:nvSpPr>
        <p:spPr>
          <a:xfrm>
            <a:off x="5852160" y="437083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Auto link fallback, one packet format</a:t>
            </a:r>
          </a:p>
        </p:txBody>
      </p:sp>
      <p:pic>
        <p:nvPicPr>
          <p:cNvPr id="15412" name="Picture 15411" descr="siren-t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86400" y="4937760"/>
            <a:ext cx="274320" cy="274320"/>
          </a:xfrm>
          <a:prstGeom prst="rect">
            <a:avLst/>
          </a:prstGeom>
        </p:spPr>
      </p:pic>
      <p:sp>
        <p:nvSpPr>
          <p:cNvPr id="15413" name="TextBox 15412"/>
          <p:cNvSpPr txBox="1"/>
          <p:nvPr/>
        </p:nvSpPr>
        <p:spPr>
          <a:xfrm>
            <a:off x="5852160" y="4901184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Alerts cannot be interrupted</a:t>
            </a:r>
          </a:p>
        </p:txBody>
      </p:sp>
      <p:pic>
        <p:nvPicPr>
          <p:cNvPr id="15414" name="Picture 15413" descr="gauge-t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486400" y="5468112"/>
            <a:ext cx="274320" cy="274320"/>
          </a:xfrm>
          <a:prstGeom prst="rect">
            <a:avLst/>
          </a:prstGeom>
        </p:spPr>
      </p:pic>
      <p:sp>
        <p:nvSpPr>
          <p:cNvPr id="15415" name="TextBox 15414"/>
          <p:cNvSpPr txBox="1"/>
          <p:nvPr/>
        </p:nvSpPr>
        <p:spPr>
          <a:xfrm>
            <a:off x="5852160" y="543153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LITE mode below 6 GB RAM</a:t>
            </a:r>
          </a:p>
        </p:txBody>
      </p:sp>
      <p:sp>
        <p:nvSpPr>
          <p:cNvPr id="15416" name="TextBox 15415"/>
          <p:cNvSpPr txBox="1"/>
          <p:nvPr/>
        </p:nvSpPr>
        <p:spPr>
          <a:xfrm>
            <a:off x="411480" y="6126480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B6472"/>
                </a:solidFill>
                <a:latin typeface="Arial"/>
              </a:rPr>
              <a:t>*Median of 310 FLEURS sentences (unit test), before encryption and link headers. Bars assume a ~3 s sentence.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700784"/>
            <a:ext cx="3566160" cy="457200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Oval 17411"/>
          <p:cNvSpPr/>
          <p:nvPr/>
        </p:nvSpPr>
        <p:spPr>
          <a:xfrm>
            <a:off x="521208" y="1755648"/>
            <a:ext cx="347472" cy="347472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andro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651" y="1832091"/>
            <a:ext cx="194584" cy="194584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987552" y="1737360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Android app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987552" y="1938528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Kotlin · Jetpack Compose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11480" y="2231136"/>
            <a:ext cx="3566160" cy="457200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Oval 17416"/>
          <p:cNvSpPr/>
          <p:nvPr/>
        </p:nvSpPr>
        <p:spPr>
          <a:xfrm>
            <a:off x="521208" y="2286000"/>
            <a:ext cx="347472" cy="347472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ear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651" y="2362443"/>
            <a:ext cx="194584" cy="194584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987552" y="2267712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Voice detection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987552" y="2468880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Silero VAD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11480" y="2761488"/>
            <a:ext cx="3566160" cy="457200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521208" y="2816352"/>
            <a:ext cx="347472" cy="347472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wave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651" y="2892795"/>
            <a:ext cx="194584" cy="194584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987552" y="2798064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Speech-to-text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987552" y="299923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SraVaani-1.0 · sherpa-onnx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11480" y="3291839"/>
            <a:ext cx="3566160" cy="457200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521208" y="3346703"/>
            <a:ext cx="347472" cy="347472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8" name="Picture 17427" descr="speaker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7651" y="3423147"/>
            <a:ext cx="194584" cy="194584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987552" y="3328415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Text-to-speech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987552" y="3529583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VITS Rasa · Indic-Mio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11480" y="3822191"/>
            <a:ext cx="3566160" cy="457200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521208" y="3877055"/>
            <a:ext cx="347472" cy="347472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3" name="Picture 17432" descr="wifi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7651" y="3953499"/>
            <a:ext cx="194584" cy="194584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987552" y="3858768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Links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987552" y="4059935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Wi-Fi · Wi-Fi Direct · BLE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411480" y="4352544"/>
            <a:ext cx="3566160" cy="457200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521208" y="4407407"/>
            <a:ext cx="347472" cy="347472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server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7651" y="4483851"/>
            <a:ext cx="194584" cy="194584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987552" y="4389120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Control room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987552" y="4590288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Python gateway · CAP 1.2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411480" y="498348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2" name="TextBox 17441"/>
          <p:cNvSpPr txBox="1"/>
          <p:nvPr/>
        </p:nvSpPr>
        <p:spPr>
          <a:xfrm>
            <a:off x="411480" y="4983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5803D"/>
                </a:solidFill>
                <a:latin typeface="Arial"/>
              </a:rPr>
              <a:t>BUILT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1691640" y="498348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10-language STT/TTS, ALERT, SOS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411480" y="5385816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411480" y="538581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B45309"/>
                </a:solidFill>
                <a:latin typeface="Arial"/>
              </a:rPr>
              <a:t>TEST PENDING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1691640" y="5385816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Wi-Fi Direct, BLE phone-to-phone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411480" y="5788152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411480" y="57881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64748B"/>
                </a:solidFill>
                <a:latin typeface="Arial"/>
              </a:rPr>
              <a:t>PLANNED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1691640" y="5788152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ESP32 LoRa bridge, smaller voices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4206240" y="118872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4206240" y="1517904"/>
            <a:ext cx="2395728" cy="2103120"/>
          </a:xfrm>
          <a:prstGeom prst="roundRect">
            <a:avLst>
              <a:gd name="adj" fmla="val 7000"/>
            </a:avLst>
          </a:prstGeom>
          <a:solidFill>
            <a:srgbClr val="FF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2" name="TextBox 17451"/>
          <p:cNvSpPr txBox="1"/>
          <p:nvPr/>
        </p:nvSpPr>
        <p:spPr>
          <a:xfrm>
            <a:off x="4206240" y="1581912"/>
            <a:ext cx="239572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EA580C"/>
                </a:solidFill>
                <a:latin typeface="Arial"/>
              </a:rPr>
              <a:t>SENDER PHONE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4370831" y="1847088"/>
            <a:ext cx="2066544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4" name="Picture 17453" descr="mic-s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80559" y="1911095"/>
            <a:ext cx="219456" cy="219456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4791455" y="1847088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Mic 16 kHz</a:t>
            </a:r>
          </a:p>
        </p:txBody>
      </p:sp>
      <p:cxnSp>
        <p:nvCxnSpPr>
          <p:cNvPr id="17456" name="Connector 17455"/>
          <p:cNvCxnSpPr/>
          <p:nvPr/>
        </p:nvCxnSpPr>
        <p:spPr>
          <a:xfrm>
            <a:off x="5404104" y="2194560"/>
            <a:ext cx="0" cy="82296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7" name="Rounded Rectangle 17456"/>
          <p:cNvSpPr/>
          <p:nvPr/>
        </p:nvSpPr>
        <p:spPr>
          <a:xfrm>
            <a:off x="4370831" y="2276856"/>
            <a:ext cx="2066544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8" name="Picture 17457" descr="ear-s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80559" y="2340864"/>
            <a:ext cx="219456" cy="219456"/>
          </a:xfrm>
          <a:prstGeom prst="rect">
            <a:avLst/>
          </a:prstGeom>
        </p:spPr>
      </p:pic>
      <p:sp>
        <p:nvSpPr>
          <p:cNvPr id="17459" name="TextBox 17458"/>
          <p:cNvSpPr txBox="1"/>
          <p:nvPr/>
        </p:nvSpPr>
        <p:spPr>
          <a:xfrm>
            <a:off x="4791455" y="2276856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VAD: cut at pause</a:t>
            </a:r>
          </a:p>
        </p:txBody>
      </p:sp>
      <p:cxnSp>
        <p:nvCxnSpPr>
          <p:cNvPr id="17460" name="Connector 17459"/>
          <p:cNvCxnSpPr/>
          <p:nvPr/>
        </p:nvCxnSpPr>
        <p:spPr>
          <a:xfrm>
            <a:off x="5404104" y="2624328"/>
            <a:ext cx="0" cy="82296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1" name="Rounded Rectangle 17460"/>
          <p:cNvSpPr/>
          <p:nvPr/>
        </p:nvSpPr>
        <p:spPr>
          <a:xfrm>
            <a:off x="4370831" y="2706624"/>
            <a:ext cx="2066544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wave-s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80559" y="2770632"/>
            <a:ext cx="219456" cy="219456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4791455" y="2706624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STT (int8)</a:t>
            </a:r>
          </a:p>
        </p:txBody>
      </p:sp>
      <p:cxnSp>
        <p:nvCxnSpPr>
          <p:cNvPr id="17464" name="Connector 17463"/>
          <p:cNvCxnSpPr/>
          <p:nvPr/>
        </p:nvCxnSpPr>
        <p:spPr>
          <a:xfrm>
            <a:off x="5404104" y="3054096"/>
            <a:ext cx="0" cy="82295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5" name="Rounded Rectangle 17464"/>
          <p:cNvSpPr/>
          <p:nvPr/>
        </p:nvSpPr>
        <p:spPr>
          <a:xfrm>
            <a:off x="4370831" y="3136391"/>
            <a:ext cx="2066544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6" name="Picture 17465" descr="bytes-s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80559" y="3200399"/>
            <a:ext cx="219456" cy="219456"/>
          </a:xfrm>
          <a:prstGeom prst="rect">
            <a:avLst/>
          </a:prstGeom>
        </p:spPr>
      </p:pic>
      <p:sp>
        <p:nvSpPr>
          <p:cNvPr id="17467" name="TextBox 17466"/>
          <p:cNvSpPr txBox="1"/>
          <p:nvPr/>
        </p:nvSpPr>
        <p:spPr>
          <a:xfrm>
            <a:off x="4791455" y="3136391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Compact frame</a:t>
            </a:r>
          </a:p>
        </p:txBody>
      </p:sp>
      <p:cxnSp>
        <p:nvCxnSpPr>
          <p:cNvPr id="17468" name="Connector 17467"/>
          <p:cNvCxnSpPr/>
          <p:nvPr/>
        </p:nvCxnSpPr>
        <p:spPr>
          <a:xfrm>
            <a:off x="6620255" y="2569463"/>
            <a:ext cx="155449" cy="0"/>
          </a:xfrm>
          <a:prstGeom prst="line">
            <a:avLst/>
          </a:prstGeom>
          <a:ln w="25400">
            <a:solidFill>
              <a:srgbClr val="1B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9" name="Rounded Rectangle 17468"/>
          <p:cNvSpPr/>
          <p:nvPr/>
        </p:nvSpPr>
        <p:spPr>
          <a:xfrm>
            <a:off x="6793992" y="1517904"/>
            <a:ext cx="2395728" cy="2103120"/>
          </a:xfrm>
          <a:prstGeom prst="roundRect">
            <a:avLst>
              <a:gd name="adj" fmla="val 7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0" name="TextBox 17469"/>
          <p:cNvSpPr txBox="1"/>
          <p:nvPr/>
        </p:nvSpPr>
        <p:spPr>
          <a:xfrm>
            <a:off x="6793992" y="1581912"/>
            <a:ext cx="239572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</a:rPr>
              <a:t>ANY LINK</a:t>
            </a:r>
          </a:p>
        </p:txBody>
      </p:sp>
      <p:sp>
        <p:nvSpPr>
          <p:cNvPr id="17471" name="Rounded Rectangle 17470"/>
          <p:cNvSpPr/>
          <p:nvPr/>
        </p:nvSpPr>
        <p:spPr>
          <a:xfrm>
            <a:off x="6958583" y="1847088"/>
            <a:ext cx="2066544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2" name="Picture 17471" descr="wifi-ink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68312" y="1911095"/>
            <a:ext cx="219456" cy="219456"/>
          </a:xfrm>
          <a:prstGeom prst="rect">
            <a:avLst/>
          </a:prstGeom>
        </p:spPr>
      </p:pic>
      <p:sp>
        <p:nvSpPr>
          <p:cNvPr id="17473" name="TextBox 17472"/>
          <p:cNvSpPr txBox="1"/>
          <p:nvPr/>
        </p:nvSpPr>
        <p:spPr>
          <a:xfrm>
            <a:off x="7379208" y="1847088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Wi-Fi LAN</a:t>
            </a:r>
          </a:p>
        </p:txBody>
      </p:sp>
      <p:cxnSp>
        <p:nvCxnSpPr>
          <p:cNvPr id="17474" name="Connector 17473"/>
          <p:cNvCxnSpPr/>
          <p:nvPr/>
        </p:nvCxnSpPr>
        <p:spPr>
          <a:xfrm>
            <a:off x="7991856" y="2194560"/>
            <a:ext cx="0" cy="82296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5" name="Rounded Rectangle 17474"/>
          <p:cNvSpPr/>
          <p:nvPr/>
        </p:nvSpPr>
        <p:spPr>
          <a:xfrm>
            <a:off x="6958583" y="2276856"/>
            <a:ext cx="2066544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6" name="Picture 17475" descr="antenna-ink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68312" y="2340864"/>
            <a:ext cx="219456" cy="219456"/>
          </a:xfrm>
          <a:prstGeom prst="rect">
            <a:avLst/>
          </a:prstGeom>
        </p:spPr>
      </p:pic>
      <p:sp>
        <p:nvSpPr>
          <p:cNvPr id="17477" name="TextBox 17476"/>
          <p:cNvSpPr txBox="1"/>
          <p:nvPr/>
        </p:nvSpPr>
        <p:spPr>
          <a:xfrm>
            <a:off x="7379208" y="2276856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Wi-Fi Direct</a:t>
            </a:r>
          </a:p>
        </p:txBody>
      </p:sp>
      <p:cxnSp>
        <p:nvCxnSpPr>
          <p:cNvPr id="17478" name="Connector 17477"/>
          <p:cNvCxnSpPr/>
          <p:nvPr/>
        </p:nvCxnSpPr>
        <p:spPr>
          <a:xfrm>
            <a:off x="7991856" y="2624328"/>
            <a:ext cx="0" cy="82296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9" name="Rounded Rectangle 17478"/>
          <p:cNvSpPr/>
          <p:nvPr/>
        </p:nvSpPr>
        <p:spPr>
          <a:xfrm>
            <a:off x="6958583" y="2706624"/>
            <a:ext cx="2066544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0" name="Picture 17479" descr="bt-ink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68312" y="2770632"/>
            <a:ext cx="219456" cy="219456"/>
          </a:xfrm>
          <a:prstGeom prst="rect">
            <a:avLst/>
          </a:prstGeom>
        </p:spPr>
      </p:pic>
      <p:sp>
        <p:nvSpPr>
          <p:cNvPr id="17481" name="TextBox 17480"/>
          <p:cNvSpPr txBox="1"/>
          <p:nvPr/>
        </p:nvSpPr>
        <p:spPr>
          <a:xfrm>
            <a:off x="7379208" y="2706624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Bluetooth LE</a:t>
            </a:r>
          </a:p>
        </p:txBody>
      </p:sp>
      <p:cxnSp>
        <p:nvCxnSpPr>
          <p:cNvPr id="17482" name="Connector 17481"/>
          <p:cNvCxnSpPr/>
          <p:nvPr/>
        </p:nvCxnSpPr>
        <p:spPr>
          <a:xfrm>
            <a:off x="7991856" y="3054096"/>
            <a:ext cx="0" cy="82295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3" name="Rounded Rectangle 17482"/>
          <p:cNvSpPr/>
          <p:nvPr/>
        </p:nvSpPr>
        <p:spPr>
          <a:xfrm>
            <a:off x="6958583" y="3136391"/>
            <a:ext cx="2066544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4" name="Picture 17483" descr="server-ink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068312" y="3200399"/>
            <a:ext cx="219456" cy="219456"/>
          </a:xfrm>
          <a:prstGeom prst="rect">
            <a:avLst/>
          </a:prstGeom>
        </p:spPr>
      </p:pic>
      <p:sp>
        <p:nvSpPr>
          <p:cNvPr id="17485" name="TextBox 17484"/>
          <p:cNvSpPr txBox="1"/>
          <p:nvPr/>
        </p:nvSpPr>
        <p:spPr>
          <a:xfrm>
            <a:off x="7379208" y="3136391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PC control room</a:t>
            </a:r>
          </a:p>
        </p:txBody>
      </p:sp>
      <p:cxnSp>
        <p:nvCxnSpPr>
          <p:cNvPr id="17486" name="Connector 17485"/>
          <p:cNvCxnSpPr/>
          <p:nvPr/>
        </p:nvCxnSpPr>
        <p:spPr>
          <a:xfrm>
            <a:off x="9208008" y="2569463"/>
            <a:ext cx="155448" cy="0"/>
          </a:xfrm>
          <a:prstGeom prst="line">
            <a:avLst/>
          </a:prstGeom>
          <a:ln w="25400">
            <a:solidFill>
              <a:srgbClr val="1B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7" name="Rounded Rectangle 17486"/>
          <p:cNvSpPr/>
          <p:nvPr/>
        </p:nvSpPr>
        <p:spPr>
          <a:xfrm>
            <a:off x="9381744" y="1517904"/>
            <a:ext cx="2395728" cy="2103120"/>
          </a:xfrm>
          <a:prstGeom prst="roundRect">
            <a:avLst>
              <a:gd name="adj" fmla="val 7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8" name="TextBox 17487"/>
          <p:cNvSpPr txBox="1"/>
          <p:nvPr/>
        </p:nvSpPr>
        <p:spPr>
          <a:xfrm>
            <a:off x="9381744" y="1581912"/>
            <a:ext cx="239572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0F766E"/>
                </a:solidFill>
                <a:latin typeface="Arial"/>
              </a:rPr>
              <a:t>RECEIVER PHONE</a:t>
            </a:r>
          </a:p>
        </p:txBody>
      </p:sp>
      <p:sp>
        <p:nvSpPr>
          <p:cNvPr id="17489" name="Rounded Rectangle 17488"/>
          <p:cNvSpPr/>
          <p:nvPr/>
        </p:nvSpPr>
        <p:spPr>
          <a:xfrm>
            <a:off x="9546336" y="1847088"/>
            <a:ext cx="2066544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0" name="Picture 17489" descr="check-t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656064" y="1911095"/>
            <a:ext cx="219456" cy="219456"/>
          </a:xfrm>
          <a:prstGeom prst="rect">
            <a:avLst/>
          </a:prstGeom>
        </p:spPr>
      </p:pic>
      <p:sp>
        <p:nvSpPr>
          <p:cNvPr id="17491" name="TextBox 17490"/>
          <p:cNvSpPr txBox="1"/>
          <p:nvPr/>
        </p:nvSpPr>
        <p:spPr>
          <a:xfrm>
            <a:off x="9966960" y="1847088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Decode · ACK</a:t>
            </a:r>
          </a:p>
        </p:txBody>
      </p:sp>
      <p:cxnSp>
        <p:nvCxnSpPr>
          <p:cNvPr id="17492" name="Connector 17491"/>
          <p:cNvCxnSpPr/>
          <p:nvPr/>
        </p:nvCxnSpPr>
        <p:spPr>
          <a:xfrm>
            <a:off x="10579608" y="2194560"/>
            <a:ext cx="0" cy="82296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3" name="Rounded Rectangle 17492"/>
          <p:cNvSpPr/>
          <p:nvPr/>
        </p:nvSpPr>
        <p:spPr>
          <a:xfrm>
            <a:off x="9546336" y="2276856"/>
            <a:ext cx="2066544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4" name="Picture 17493" descr="text-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656064" y="2340864"/>
            <a:ext cx="219456" cy="219456"/>
          </a:xfrm>
          <a:prstGeom prst="rect">
            <a:avLst/>
          </a:prstGeom>
        </p:spPr>
      </p:pic>
      <p:sp>
        <p:nvSpPr>
          <p:cNvPr id="17495" name="TextBox 17494"/>
          <p:cNvSpPr txBox="1"/>
          <p:nvPr/>
        </p:nvSpPr>
        <p:spPr>
          <a:xfrm>
            <a:off x="9966960" y="2276856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Numbers → words</a:t>
            </a:r>
          </a:p>
        </p:txBody>
      </p:sp>
      <p:cxnSp>
        <p:nvCxnSpPr>
          <p:cNvPr id="17496" name="Connector 17495"/>
          <p:cNvCxnSpPr/>
          <p:nvPr/>
        </p:nvCxnSpPr>
        <p:spPr>
          <a:xfrm>
            <a:off x="10579608" y="2624328"/>
            <a:ext cx="0" cy="82296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7" name="Rounded Rectangle 17496"/>
          <p:cNvSpPr/>
          <p:nvPr/>
        </p:nvSpPr>
        <p:spPr>
          <a:xfrm>
            <a:off x="9546336" y="2706624"/>
            <a:ext cx="2066544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8" name="Picture 17497" descr="speaker-t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656064" y="2770632"/>
            <a:ext cx="219456" cy="219456"/>
          </a:xfrm>
          <a:prstGeom prst="rect">
            <a:avLst/>
          </a:prstGeom>
        </p:spPr>
      </p:pic>
      <p:sp>
        <p:nvSpPr>
          <p:cNvPr id="17499" name="TextBox 17498"/>
          <p:cNvSpPr txBox="1"/>
          <p:nvPr/>
        </p:nvSpPr>
        <p:spPr>
          <a:xfrm>
            <a:off x="9966960" y="2706624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TTS</a:t>
            </a:r>
          </a:p>
        </p:txBody>
      </p:sp>
      <p:cxnSp>
        <p:nvCxnSpPr>
          <p:cNvPr id="17500" name="Connector 17499"/>
          <p:cNvCxnSpPr/>
          <p:nvPr/>
        </p:nvCxnSpPr>
        <p:spPr>
          <a:xfrm>
            <a:off x="10579608" y="3054096"/>
            <a:ext cx="0" cy="82295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01" name="Rounded Rectangle 17500"/>
          <p:cNvSpPr/>
          <p:nvPr/>
        </p:nvSpPr>
        <p:spPr>
          <a:xfrm>
            <a:off x="9546336" y="3136391"/>
            <a:ext cx="2066544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2" name="Picture 17501" descr="siren-t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56064" y="3200399"/>
            <a:ext cx="219456" cy="219456"/>
          </a:xfrm>
          <a:prstGeom prst="rect">
            <a:avLst/>
          </a:prstGeom>
        </p:spPr>
      </p:pic>
      <p:sp>
        <p:nvSpPr>
          <p:cNvPr id="17503" name="TextBox 17502"/>
          <p:cNvSpPr txBox="1"/>
          <p:nvPr/>
        </p:nvSpPr>
        <p:spPr>
          <a:xfrm>
            <a:off x="9966960" y="3136391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Voice / ALERT</a:t>
            </a:r>
          </a:p>
        </p:txBody>
      </p:sp>
      <p:sp>
        <p:nvSpPr>
          <p:cNvPr id="17504" name="TextBox 17503"/>
          <p:cNvSpPr txBox="1"/>
          <p:nvPr/>
        </p:nvSpPr>
        <p:spPr>
          <a:xfrm>
            <a:off x="4206240" y="3730752"/>
            <a:ext cx="75895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Working prototype — real screens</a:t>
            </a:r>
          </a:p>
        </p:txBody>
      </p:sp>
      <p:pic>
        <p:nvPicPr>
          <p:cNvPr id="17505" name="Picture 17504" descr="dashboard.jpg">
            <a:hlinkClick r:id="rId23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206240" y="4005072"/>
            <a:ext cx="4180775" cy="1920240"/>
          </a:xfrm>
          <a:prstGeom prst="roundRect">
            <a:avLst>
              <a:gd name="adj" fmla="val 4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7506" name="TextBox 17505"/>
          <p:cNvSpPr txBox="1"/>
          <p:nvPr/>
        </p:nvSpPr>
        <p:spPr>
          <a:xfrm>
            <a:off x="4206240" y="5961888"/>
            <a:ext cx="4180775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PC control room</a:t>
            </a:r>
          </a:p>
        </p:txBody>
      </p:sp>
      <p:pic>
        <p:nvPicPr>
          <p:cNvPr id="17507" name="Picture 17506" descr="pairing.jpg">
            <a:hlinkClick r:id="rId23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533319" y="4005072"/>
            <a:ext cx="893712" cy="1920240"/>
          </a:xfrm>
          <a:prstGeom prst="roundRect">
            <a:avLst>
              <a:gd name="adj" fmla="val 8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7508" name="TextBox 17507"/>
          <p:cNvSpPr txBox="1"/>
          <p:nvPr/>
        </p:nvSpPr>
        <p:spPr>
          <a:xfrm>
            <a:off x="8533319" y="5961888"/>
            <a:ext cx="8937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QR pairing</a:t>
            </a:r>
          </a:p>
        </p:txBody>
      </p:sp>
      <p:pic>
        <p:nvPicPr>
          <p:cNvPr id="17509" name="Picture 17508" descr="language_picker.jpg">
            <a:hlinkClick r:id="rId23"/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573335" y="4005072"/>
            <a:ext cx="893905" cy="1920240"/>
          </a:xfrm>
          <a:prstGeom prst="roundRect">
            <a:avLst>
              <a:gd name="adj" fmla="val 8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7510" name="TextBox 17509"/>
          <p:cNvSpPr txBox="1"/>
          <p:nvPr/>
        </p:nvSpPr>
        <p:spPr>
          <a:xfrm>
            <a:off x="9573335" y="5961888"/>
            <a:ext cx="893905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Language</a:t>
            </a:r>
          </a:p>
        </p:txBody>
      </p:sp>
      <p:pic>
        <p:nvPicPr>
          <p:cNvPr id="17511" name="Picture 17510" descr="08_hindi_ui.jpg">
            <a:hlinkClick r:id="rId23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13544" y="4005072"/>
            <a:ext cx="895449" cy="1920240"/>
          </a:xfrm>
          <a:prstGeom prst="roundRect">
            <a:avLst>
              <a:gd name="adj" fmla="val 8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7512" name="TextBox 17511"/>
          <p:cNvSpPr txBox="1"/>
          <p:nvPr/>
        </p:nvSpPr>
        <p:spPr>
          <a:xfrm>
            <a:off x="10613544" y="5961888"/>
            <a:ext cx="89544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LITE 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433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486400" y="1225296"/>
            <a:ext cx="629107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0"/>
              </a:spcAft>
            </a:pPr>
            <a:r>
              <a:rPr sz="1050" b="0" i="1">
                <a:solidFill>
                  <a:srgbClr val="5B6472"/>
                </a:solidFill>
                <a:latin typeface="Arial"/>
              </a:rPr>
              <a:t>Measured: 4 GB-class memory test, in-app logging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572768"/>
            <a:ext cx="2148840" cy="10972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zap-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1682496"/>
            <a:ext cx="274320" cy="274320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576072" y="195681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766E"/>
                </a:solidFill>
                <a:latin typeface="Arial"/>
              </a:rPr>
              <a:t>14×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76072" y="2377440"/>
            <a:ext cx="18745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faster than speech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715768" y="1572768"/>
            <a:ext cx="2148840" cy="10972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7" name="Picture 17416" descr="clock-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1682496"/>
            <a:ext cx="274320" cy="274320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2880360" y="195681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766E"/>
                </a:solidFill>
                <a:latin typeface="Arial"/>
              </a:rPr>
              <a:t>0.6 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2880360" y="2377440"/>
            <a:ext cx="18745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speech end → text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5020056" y="1572768"/>
            <a:ext cx="2148840" cy="10972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1" name="Picture 17420" descr="memory-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4648" y="1682496"/>
            <a:ext cx="274320" cy="274320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5184648" y="195681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766E"/>
                </a:solidFill>
                <a:latin typeface="Arial"/>
              </a:rPr>
              <a:t>765 MB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5184648" y="2377440"/>
            <a:ext cx="18745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app RAM, idle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7324344" y="1572768"/>
            <a:ext cx="2148840" cy="10972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5" name="Picture 17424" descr="cpu-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8936" y="1682496"/>
            <a:ext cx="274320" cy="274320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7488936" y="195681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766E"/>
                </a:solidFill>
                <a:latin typeface="Arial"/>
              </a:rPr>
              <a:t>0.3%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7488936" y="2377440"/>
            <a:ext cx="18745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idle CPU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9628632" y="1572768"/>
            <a:ext cx="2148840" cy="10972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9" name="Picture 17428" descr="shield-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93224" y="1682496"/>
            <a:ext cx="274320" cy="274320"/>
          </a:xfrm>
          <a:prstGeom prst="rect">
            <a:avLst/>
          </a:prstGeom>
        </p:spPr>
      </p:pic>
      <p:sp>
        <p:nvSpPr>
          <p:cNvPr id="17430" name="TextBox 17429"/>
          <p:cNvSpPr txBox="1"/>
          <p:nvPr/>
        </p:nvSpPr>
        <p:spPr>
          <a:xfrm>
            <a:off x="9793224" y="195681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766E"/>
                </a:solidFill>
                <a:latin typeface="Arial"/>
              </a:rPr>
              <a:t>Alive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9793224" y="2377440"/>
            <a:ext cx="18745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app not killed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11480" y="2743200"/>
            <a:ext cx="113385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B6472"/>
                </a:solidFill>
                <a:latin typeface="Arial"/>
              </a:rPr>
              <a:t>12 GB Snapdragon 870 phone, RAM locked to ~1.7 GB free, LITE profile, chip not slowed (a budget phone will be slower). Median of 10 languages; 1.8 GB peak while speaking; 115 other apps were closed by Android. WER 5.9% (preliminary, 10 clips).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11480" y="324612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433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257800" y="3246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433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411480" y="3566160"/>
            <a:ext cx="9555480" cy="438912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6" name="Picture 17435" descr="speaker-s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3657600"/>
            <a:ext cx="256032" cy="256032"/>
          </a:xfrm>
          <a:prstGeom prst="rect">
            <a:avLst/>
          </a:prstGeom>
        </p:spPr>
      </p:pic>
      <p:sp>
        <p:nvSpPr>
          <p:cNvPr id="17437" name="TextBox 17436"/>
          <p:cNvSpPr txBox="1"/>
          <p:nvPr/>
        </p:nvSpPr>
        <p:spPr>
          <a:xfrm>
            <a:off x="960120" y="356616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Voice starts 3–6 s late in LITE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4754880" y="3785615"/>
            <a:ext cx="365760" cy="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TextBox 17438"/>
          <p:cNvSpPr txBox="1"/>
          <p:nvPr/>
        </p:nvSpPr>
        <p:spPr>
          <a:xfrm>
            <a:off x="5257800" y="3566160"/>
            <a:ext cx="466344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Keep listener's language loaded; smaller voices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411480" y="4078224"/>
            <a:ext cx="9555480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1" name="Picture 17440" descr="database-s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" y="4169663"/>
            <a:ext cx="256032" cy="256032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960120" y="4078224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1.14 GB of model files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4754880" y="4297680"/>
            <a:ext cx="365760" cy="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TextBox 17443"/>
          <p:cNvSpPr txBox="1"/>
          <p:nvPr/>
        </p:nvSpPr>
        <p:spPr>
          <a:xfrm>
            <a:off x="5257800" y="4078224"/>
            <a:ext cx="466344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Download per language on demand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411480" y="4590288"/>
            <a:ext cx="9555480" cy="438912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bt-s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928" y="4681727"/>
            <a:ext cx="256032" cy="256032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960120" y="4590288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Wi-Fi Direct / BLE not yet tested</a:t>
            </a:r>
          </a:p>
        </p:txBody>
      </p:sp>
      <p:cxnSp>
        <p:nvCxnSpPr>
          <p:cNvPr id="17448" name="Connector 17447"/>
          <p:cNvCxnSpPr/>
          <p:nvPr/>
        </p:nvCxnSpPr>
        <p:spPr>
          <a:xfrm>
            <a:off x="4754880" y="4809744"/>
            <a:ext cx="365760" cy="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9" name="TextBox 17448"/>
          <p:cNvSpPr txBox="1"/>
          <p:nvPr/>
        </p:nvSpPr>
        <p:spPr>
          <a:xfrm>
            <a:off x="5257800" y="4590288"/>
            <a:ext cx="466344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Two-phone tests; Wi-Fi stays primary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411480" y="5102352"/>
            <a:ext cx="9555480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1" name="Picture 17450" descr="ear-s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6928" y="5193792"/>
            <a:ext cx="256032" cy="256032"/>
          </a:xfrm>
          <a:prstGeom prst="rect">
            <a:avLst/>
          </a:prstGeom>
        </p:spPr>
      </p:pic>
      <p:sp>
        <p:nvSpPr>
          <p:cNvPr id="17452" name="TextBox 17451"/>
          <p:cNvSpPr txBox="1"/>
          <p:nvPr/>
        </p:nvSpPr>
        <p:spPr>
          <a:xfrm>
            <a:off x="960120" y="5102352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Noise, accents, code-mixing</a:t>
            </a:r>
          </a:p>
        </p:txBody>
      </p:sp>
      <p:cxnSp>
        <p:nvCxnSpPr>
          <p:cNvPr id="17453" name="Connector 17452"/>
          <p:cNvCxnSpPr/>
          <p:nvPr/>
        </p:nvCxnSpPr>
        <p:spPr>
          <a:xfrm>
            <a:off x="4754880" y="5321808"/>
            <a:ext cx="365760" cy="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4" name="TextBox 17453"/>
          <p:cNvSpPr txBox="1"/>
          <p:nvPr/>
        </p:nvSpPr>
        <p:spPr>
          <a:xfrm>
            <a:off x="5257800" y="5102352"/>
            <a:ext cx="466344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Alert-word boosting; typed-text fallback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411480" y="56692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433"/>
                </a:solidFill>
                <a:latin typeface="Arial"/>
              </a:rPr>
              <a:t>Viability</a:t>
            </a:r>
          </a:p>
        </p:txBody>
      </p:sp>
      <p:sp>
        <p:nvSpPr>
          <p:cNvPr id="17456" name="Rounded Rectangle 17455">
            <a:hlinkClick r:id="rId13"/>
          </p:cNvPr>
          <p:cNvSpPr/>
          <p:nvPr/>
        </p:nvSpPr>
        <p:spPr>
          <a:xfrm>
            <a:off x="1417320" y="5687568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7" name="Picture 17456" descr="rupee-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7048" y="5742431"/>
            <a:ext cx="219456" cy="219456"/>
          </a:xfrm>
          <a:prstGeom prst="rect">
            <a:avLst/>
          </a:prstGeom>
        </p:spPr>
      </p:pic>
      <p:sp>
        <p:nvSpPr>
          <p:cNvPr id="17458" name="TextBox 17457">
            <a:hlinkClick r:id="rId13"/>
          </p:cNvPr>
          <p:cNvSpPr txBox="1"/>
          <p:nvPr/>
        </p:nvSpPr>
        <p:spPr>
          <a:xfrm>
            <a:off x="1801368" y="568756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F766E"/>
                </a:solidFill>
                <a:latin typeface="Arial"/>
              </a:rPr>
              <a:t>No airtime or cloud fees</a:t>
            </a:r>
          </a:p>
        </p:txBody>
      </p:sp>
      <p:sp>
        <p:nvSpPr>
          <p:cNvPr id="17459" name="Rounded Rectangle 17458">
            <a:hlinkClick r:id="rId15"/>
          </p:cNvPr>
          <p:cNvSpPr/>
          <p:nvPr/>
        </p:nvSpPr>
        <p:spPr>
          <a:xfrm>
            <a:off x="4160520" y="5687568"/>
            <a:ext cx="2880360" cy="329184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0" name="Picture 17459" descr="package-t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70248" y="5742431"/>
            <a:ext cx="219456" cy="219456"/>
          </a:xfrm>
          <a:prstGeom prst="rect">
            <a:avLst/>
          </a:prstGeom>
        </p:spPr>
      </p:pic>
      <p:sp>
        <p:nvSpPr>
          <p:cNvPr id="17461" name="TextBox 17460">
            <a:hlinkClick r:id="rId15"/>
          </p:cNvPr>
          <p:cNvSpPr txBox="1"/>
          <p:nvPr/>
        </p:nvSpPr>
        <p:spPr>
          <a:xfrm>
            <a:off x="4544568" y="5687568"/>
            <a:ext cx="24231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F766E"/>
                </a:solidFill>
                <a:latin typeface="Arial"/>
              </a:rPr>
              <a:t>Open models: MIT · Apache · CC-BY</a:t>
            </a:r>
          </a:p>
        </p:txBody>
      </p:sp>
      <p:sp>
        <p:nvSpPr>
          <p:cNvPr id="17462" name="Rounded Rectangle 17461">
            <a:hlinkClick r:id="rId17"/>
          </p:cNvPr>
          <p:cNvSpPr/>
          <p:nvPr/>
        </p:nvSpPr>
        <p:spPr>
          <a:xfrm>
            <a:off x="7178040" y="5687568"/>
            <a:ext cx="2788920" cy="329184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3" name="Picture 17462" descr="github-t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287768" y="5742431"/>
            <a:ext cx="219456" cy="219456"/>
          </a:xfrm>
          <a:prstGeom prst="rect">
            <a:avLst/>
          </a:prstGeom>
        </p:spPr>
      </p:pic>
      <p:sp>
        <p:nvSpPr>
          <p:cNvPr id="17464" name="TextBox 17463">
            <a:hlinkClick r:id="rId17"/>
          </p:cNvPr>
          <p:cNvSpPr txBox="1"/>
          <p:nvPr/>
        </p:nvSpPr>
        <p:spPr>
          <a:xfrm>
            <a:off x="7562088" y="5687568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F766E"/>
                </a:solidFill>
                <a:latin typeface="Arial"/>
              </a:rPr>
              <a:t>Open code and measurements</a:t>
            </a:r>
          </a:p>
        </p:txBody>
      </p:sp>
      <p:pic>
        <p:nvPicPr>
          <p:cNvPr id="17465" name="Picture 17464" descr="07_metrics.jp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41280" y="3246120"/>
            <a:ext cx="1300533" cy="2788920"/>
          </a:xfrm>
          <a:prstGeom prst="roundRect">
            <a:avLst>
              <a:gd name="adj" fmla="val 8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7466" name="TextBox 17465"/>
          <p:cNvSpPr txBox="1"/>
          <p:nvPr/>
        </p:nvSpPr>
        <p:spPr>
          <a:xfrm>
            <a:off x="10104120" y="6071616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In-app metrics (real)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433"/>
                </a:solidFill>
                <a:latin typeface="Arial"/>
              </a:rPr>
              <a:t>Potential impact on the target audience</a:t>
            </a:r>
          </a:p>
        </p:txBody>
      </p:sp>
      <p:pic>
        <p:nvPicPr>
          <p:cNvPr id="17411" name="Picture 17410" descr="ndrf.jpg">
            <a:hlinkClick r:id="rId5"/>
          </p:cNvPr>
          <p:cNvPicPr>
            <a:picLocks noChangeAspect="1"/>
          </p:cNvPicPr>
          <p:nvPr/>
        </p:nvPicPr>
        <p:blipFill>
          <a:blip r:embed="rId4"/>
          <a:srcRect l="8806" r="8806"/>
          <a:stretch>
            <a:fillRect/>
          </a:stretch>
        </p:blipFill>
        <p:spPr>
          <a:xfrm>
            <a:off x="411480" y="1536192"/>
            <a:ext cx="2743200" cy="1874519"/>
          </a:xfrm>
          <a:prstGeom prst="rect">
            <a:avLst/>
          </a:prstGeom>
        </p:spPr>
      </p:pic>
      <p:pic>
        <p:nvPicPr>
          <p:cNvPr id="17412" name="Picture 17411" descr="lifebuoy-s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3502152"/>
            <a:ext cx="256032" cy="256032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740664" y="3474720"/>
            <a:ext cx="2414016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Disaster response teams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740664" y="3712463"/>
            <a:ext cx="2414016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Towers and internet down</a:t>
            </a:r>
          </a:p>
        </p:txBody>
      </p:sp>
      <p:pic>
        <p:nvPicPr>
          <p:cNvPr id="17415" name="Picture 17414" descr="fish.jpg">
            <a:hlinkClick r:id="rId8"/>
          </p:cNvPr>
          <p:cNvPicPr>
            <a:picLocks noChangeAspect="1"/>
          </p:cNvPicPr>
          <p:nvPr/>
        </p:nvPicPr>
        <p:blipFill>
          <a:blip r:embed="rId7"/>
          <a:srcRect t="2667" b="6222"/>
          <a:stretch>
            <a:fillRect/>
          </a:stretch>
        </p:blipFill>
        <p:spPr>
          <a:xfrm>
            <a:off x="3282696" y="1536192"/>
            <a:ext cx="2743200" cy="1874519"/>
          </a:xfrm>
          <a:prstGeom prst="rect">
            <a:avLst/>
          </a:prstGeom>
        </p:spPr>
      </p:pic>
      <p:pic>
        <p:nvPicPr>
          <p:cNvPr id="17416" name="Picture 17415" descr="ship-s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82696" y="3502152"/>
            <a:ext cx="256032" cy="256032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3611880" y="3474720"/>
            <a:ext cx="2414016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Coastal fishing communities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611880" y="3712463"/>
            <a:ext cx="2414016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Weak links at sea</a:t>
            </a:r>
          </a:p>
        </p:txBody>
      </p:sp>
      <p:pic>
        <p:nvPicPr>
          <p:cNvPr id="17419" name="Picture 17418" descr="rural2.jpg">
            <a:hlinkClick r:id="rId11"/>
          </p:cNvPr>
          <p:cNvPicPr>
            <a:picLocks noChangeAspect="1"/>
          </p:cNvPicPr>
          <p:nvPr/>
        </p:nvPicPr>
        <p:blipFill>
          <a:blip r:embed="rId10"/>
          <a:srcRect t="2667" b="6222"/>
          <a:stretch>
            <a:fillRect/>
          </a:stretch>
        </p:blipFill>
        <p:spPr>
          <a:xfrm>
            <a:off x="6153912" y="1536192"/>
            <a:ext cx="2743200" cy="1874519"/>
          </a:xfrm>
          <a:prstGeom prst="rect">
            <a:avLst/>
          </a:prstGeom>
        </p:spPr>
      </p:pic>
      <p:pic>
        <p:nvPicPr>
          <p:cNvPr id="17420" name="Picture 17419" descr="ear-s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502152"/>
            <a:ext cx="256032" cy="256032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6483096" y="3474720"/>
            <a:ext cx="2414016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Low-literacy users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483096" y="3712463"/>
            <a:ext cx="2414016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Hear it, don't read it</a:t>
            </a:r>
          </a:p>
        </p:txBody>
      </p:sp>
      <p:pic>
        <p:nvPicPr>
          <p:cNvPr id="17423" name="Picture 17422" descr="rail.jpg">
            <a:hlinkClick r:id="rId14"/>
          </p:cNvPr>
          <p:cNvPicPr>
            <a:picLocks noChangeAspect="1"/>
          </p:cNvPicPr>
          <p:nvPr/>
        </p:nvPicPr>
        <p:blipFill>
          <a:blip r:embed="rId13"/>
          <a:srcRect l="1296" r="1296"/>
          <a:stretch>
            <a:fillRect/>
          </a:stretch>
        </p:blipFill>
        <p:spPr>
          <a:xfrm>
            <a:off x="9025128" y="1536192"/>
            <a:ext cx="2743200" cy="1874519"/>
          </a:xfrm>
          <a:prstGeom prst="rect">
            <a:avLst/>
          </a:prstGeom>
        </p:spPr>
      </p:pic>
      <p:pic>
        <p:nvPicPr>
          <p:cNvPr id="17424" name="Picture 17423" descr="train-s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5128" y="3502152"/>
            <a:ext cx="256032" cy="256032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9354311" y="3474720"/>
            <a:ext cx="2414016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Remote field staff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354311" y="3712463"/>
            <a:ext cx="2414016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Poor-coverage areas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411480" y="40690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A580C"/>
                </a:solidFill>
                <a:latin typeface="Arial"/>
              </a:rPr>
              <a:t>≈1,500×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2240280" y="40690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2433"/>
                </a:solidFill>
                <a:latin typeface="Arial"/>
              </a:rPr>
              <a:t>less data than raw audio*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242816" y="4069080"/>
            <a:ext cx="12344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766E"/>
                </a:solidFill>
                <a:latin typeface="Arial"/>
              </a:rPr>
              <a:t>1.03 s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5568696" y="406908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2433"/>
                </a:solidFill>
                <a:latin typeface="Arial"/>
              </a:rPr>
              <a:t>ALERT arrival → spoken (Wi-Fi)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8074152" y="40690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B2433"/>
                </a:solidFill>
                <a:latin typeface="Arial"/>
              </a:rPr>
              <a:t>10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8714232" y="40690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2433"/>
                </a:solidFill>
                <a:latin typeface="Arial"/>
              </a:rPr>
              <a:t>Indian languages, in and out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11480" y="47365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2433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411480" y="5074920"/>
            <a:ext cx="3703320" cy="731520"/>
          </a:xfrm>
          <a:prstGeom prst="roundRect">
            <a:avLst>
              <a:gd name="adj" fmla="val 12000"/>
            </a:avLst>
          </a:prstGeom>
          <a:solidFill>
            <a:srgbClr val="FF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Oval 17434"/>
          <p:cNvSpPr/>
          <p:nvPr/>
        </p:nvSpPr>
        <p:spPr>
          <a:xfrm>
            <a:off x="566928" y="5212080"/>
            <a:ext cx="457200" cy="45720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6" name="Picture 17435" descr="heart-whit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7512" y="5312664"/>
            <a:ext cx="256032" cy="256032"/>
          </a:xfrm>
          <a:prstGeom prst="rect">
            <a:avLst/>
          </a:prstGeom>
        </p:spPr>
      </p:pic>
      <p:sp>
        <p:nvSpPr>
          <p:cNvPr id="17437" name="TextBox 17436"/>
          <p:cNvSpPr txBox="1"/>
          <p:nvPr/>
        </p:nvSpPr>
        <p:spPr>
          <a:xfrm>
            <a:off x="1143000" y="512064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A580C"/>
                </a:solidFill>
                <a:latin typeface="Arial"/>
              </a:rPr>
              <a:t>Social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Alerts heard, not read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4242816" y="5074920"/>
            <a:ext cx="3703320" cy="731520"/>
          </a:xfrm>
          <a:prstGeom prst="roundRect">
            <a:avLst>
              <a:gd name="adj" fmla="val 12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9" name="Oval 17438"/>
          <p:cNvSpPr/>
          <p:nvPr/>
        </p:nvSpPr>
        <p:spPr>
          <a:xfrm>
            <a:off x="4398264" y="5212080"/>
            <a:ext cx="457200" cy="4572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0" name="Picture 17439" descr="rupee-whi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98848" y="5312664"/>
            <a:ext cx="256032" cy="256032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4974336" y="512064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766E"/>
                </a:solidFill>
                <a:latin typeface="Arial"/>
              </a:rPr>
              <a:t>Economic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Phones people already own; no fees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8074152" y="5074920"/>
            <a:ext cx="3703320" cy="73152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Oval 17442"/>
          <p:cNvSpPr/>
          <p:nvPr/>
        </p:nvSpPr>
        <p:spPr>
          <a:xfrm>
            <a:off x="8229600" y="5212080"/>
            <a:ext cx="457200" cy="45720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4" name="Picture 17443" descr="leaf-whit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30183" y="5312664"/>
            <a:ext cx="256032" cy="256032"/>
          </a:xfrm>
          <a:prstGeom prst="rect">
            <a:avLst/>
          </a:prstGeom>
        </p:spPr>
      </p:pic>
      <p:sp>
        <p:nvSpPr>
          <p:cNvPr id="17445" name="TextBox 17444"/>
          <p:cNvSpPr txBox="1"/>
          <p:nvPr/>
        </p:nvSpPr>
        <p:spPr>
          <a:xfrm>
            <a:off x="8805672" y="512064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5803D"/>
                </a:solidFill>
                <a:latin typeface="Arial"/>
              </a:rPr>
              <a:t>Environmental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Fewer bytes on air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5B6472"/>
                </a:solidFill>
                <a:latin typeface="Arial"/>
              </a:rPr>
              <a:t>*62 B per ~3 s sentence (unit-test median) vs 256 kbps raw audio. No field pilot yet; battery gain not measured.</a:t>
            </a:r>
          </a:p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5B6472"/>
                </a:solidFill>
                <a:latin typeface="Arial"/>
              </a:rPr>
              <a:t>Photos, Wikimedia Commons: </a:t>
            </a:r>
            <a:r>
              <a:rPr sz="850" b="0" i="1">
                <a:solidFill>
                  <a:srgbClr val="0F766E"/>
                </a:solidFill>
                <a:latin typeface="Arial"/>
                <a:hlinkClick r:id="rId5"/>
              </a:rPr>
              <a:t>NDRF – MHA, GODL-India</a:t>
            </a:r>
            <a:r>
              <a:rPr sz="850" b="0" i="0">
                <a:solidFill>
                  <a:srgbClr val="5B6472"/>
                </a:solidFill>
                <a:latin typeface="Arial"/>
              </a:rPr>
              <a:t> · </a:t>
            </a:r>
            <a:r>
              <a:rPr sz="850" b="0" i="1">
                <a:solidFill>
                  <a:srgbClr val="0F766E"/>
                </a:solidFill>
                <a:latin typeface="Arial"/>
                <a:hlinkClick r:id="rId8"/>
              </a:rPr>
              <a:t>fishermen – Saral Shots, CC0</a:t>
            </a:r>
            <a:r>
              <a:rPr sz="850" b="0" i="0">
                <a:solidFill>
                  <a:srgbClr val="5B6472"/>
                </a:solidFill>
                <a:latin typeface="Arial"/>
              </a:rPr>
              <a:t> · </a:t>
            </a:r>
            <a:r>
              <a:rPr sz="850" b="0" i="1">
                <a:solidFill>
                  <a:srgbClr val="0F766E"/>
                </a:solidFill>
                <a:latin typeface="Arial"/>
                <a:hlinkClick r:id="rId11"/>
              </a:rPr>
              <a:t>woman on phone – Ammalu, CC BY-SA 3.0</a:t>
            </a:r>
            <a:r>
              <a:rPr sz="850" b="0" i="0">
                <a:solidFill>
                  <a:srgbClr val="5B6472"/>
                </a:solidFill>
                <a:latin typeface="Arial"/>
              </a:rPr>
              <a:t> · </a:t>
            </a:r>
            <a:r>
              <a:rPr sz="850" b="0" i="1">
                <a:solidFill>
                  <a:srgbClr val="0F766E"/>
                </a:solidFill>
                <a:latin typeface="Arial"/>
                <a:hlinkClick r:id="rId14"/>
              </a:rPr>
              <a:t>rail workers – David Brossard, CC BY-SA 2.0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433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572768"/>
            <a:ext cx="2926080" cy="2651760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Oval 17411"/>
          <p:cNvSpPr/>
          <p:nvPr/>
        </p:nvSpPr>
        <p:spPr>
          <a:xfrm>
            <a:off x="502920" y="1664208"/>
            <a:ext cx="365760" cy="36576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brain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387" y="1744675"/>
            <a:ext cx="204825" cy="204825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960120" y="1728216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A580C"/>
                </a:solidFill>
                <a:latin typeface="Arial"/>
              </a:rPr>
              <a:t>Open models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94360" y="212140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5"/>
              </a:rPr>
              <a:t>SraVaani-1.0 STT · ARTPARK, IISc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5"/>
              </a:rPr>
              <a:t>huggingface.co/ARTPARK-IISc/SraVaani-1.0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94360" y="253288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6"/>
              </a:rPr>
              <a:t>Indic-Mio TTS · SPRING Lab, IIT-M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6"/>
              </a:rPr>
              <a:t>huggingface.co/SPRINGLab/Indic-Mio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94360" y="294436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7"/>
              </a:rPr>
              <a:t>VITS Rasa 13 TTS · AI4Bharat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7"/>
              </a:rPr>
              <a:t>huggingface.co/ai4bharat/vits_rasa_13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94360" y="335584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8"/>
              </a:rPr>
              <a:t>Silero VAD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8"/>
              </a:rPr>
              <a:t>github.com/snakers4/silero-vad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429000" y="1572768"/>
            <a:ext cx="2926080" cy="2651760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Oval 17419"/>
          <p:cNvSpPr/>
          <p:nvPr/>
        </p:nvSpPr>
        <p:spPr>
          <a:xfrm>
            <a:off x="3520439" y="1664208"/>
            <a:ext cx="365760" cy="3657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1" name="Picture 17420" descr="code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0907" y="1744675"/>
            <a:ext cx="204825" cy="204825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3977639" y="1728216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766E"/>
                </a:solidFill>
                <a:latin typeface="Arial"/>
              </a:rPr>
              <a:t>Runtimes and libraries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611880" y="212140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0"/>
              </a:rPr>
              <a:t>sherpa-onnx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0"/>
              </a:rPr>
              <a:t>github.com/k2-fsa/sherpa-onnx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3611880" y="253288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1"/>
              </a:rPr>
              <a:t>llama.cpp / ggml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1"/>
              </a:rPr>
              <a:t>github.com/ggml-org/llama.cpp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611880" y="294436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2"/>
              </a:rPr>
              <a:t>mio-tts-cpp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2"/>
              </a:rPr>
              <a:t>github.com/mmnga/mio-tts-cpp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3611880" y="335584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3"/>
              </a:rPr>
              <a:t>Bouncy Castle (encryption)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3"/>
              </a:rPr>
              <a:t>www.bouncycastle.org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3611880" y="376732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4"/>
              </a:rPr>
              <a:t>RadioLib (LoRa)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4"/>
              </a:rPr>
              <a:t>github.com/jgromes/RadioLib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446520" y="1572768"/>
            <a:ext cx="2926080" cy="2651760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Oval 17428"/>
          <p:cNvSpPr/>
          <p:nvPr/>
        </p:nvSpPr>
        <p:spPr>
          <a:xfrm>
            <a:off x="6537959" y="1664208"/>
            <a:ext cx="365760" cy="365760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0" name="Picture 17429" descr="book-whit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18427" y="1744675"/>
            <a:ext cx="204825" cy="204825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6995159" y="1728216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2433"/>
                </a:solidFill>
                <a:latin typeface="Arial"/>
              </a:rPr>
              <a:t>Standards and data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6629400" y="212140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6"/>
              </a:rPr>
              <a:t>OASIS CAP 1.2 alerts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6"/>
              </a:rPr>
              <a:t>docs.oasis-open.org/emergency/cap/v1.2/CAP-v1.2.html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629400" y="253288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7"/>
              </a:rPr>
              <a:t>NDMA SACHET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7"/>
              </a:rPr>
              <a:t>sachet.ndma.gov.in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6629400" y="294436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8"/>
              </a:rPr>
              <a:t>Google FLEURS (STT test set)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8"/>
              </a:rPr>
              <a:t>huggingface.co/datasets/google/fleurs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6629400" y="335584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19"/>
              </a:rPr>
              <a:t>Codec2 (bitrate baseline)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19"/>
              </a:rPr>
              <a:t>github.com/drowe67/codec2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6629400" y="376732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20"/>
              </a:rPr>
              <a:t>Meshtastic (LoRa mesh)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0F766E"/>
                </a:solidFill>
                <a:latin typeface="Arial"/>
                <a:hlinkClick r:id="rId20"/>
              </a:rPr>
              <a:t>meshtastic.org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11480" y="4315968"/>
            <a:ext cx="4434840" cy="1901952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8" name="Oval 17437"/>
          <p:cNvSpPr/>
          <p:nvPr/>
        </p:nvSpPr>
        <p:spPr>
          <a:xfrm>
            <a:off x="502920" y="4407407"/>
            <a:ext cx="365760" cy="365760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9" name="Picture 17438" descr="android-whit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83387" y="4487875"/>
            <a:ext cx="204825" cy="204825"/>
          </a:xfrm>
          <a:prstGeom prst="rect">
            <a:avLst/>
          </a:prstGeom>
        </p:spPr>
      </p:pic>
      <p:sp>
        <p:nvSpPr>
          <p:cNvPr id="17440" name="TextBox 17439"/>
          <p:cNvSpPr txBox="1"/>
          <p:nvPr/>
        </p:nvSpPr>
        <p:spPr>
          <a:xfrm>
            <a:off x="960120" y="4471416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2433"/>
                </a:solidFill>
                <a:latin typeface="Arial"/>
              </a:rPr>
              <a:t>Android guides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594360" y="4846320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22"/>
              </a:rPr>
              <a:t>Wi-Fi Direct  </a:t>
            </a:r>
            <a:r>
              <a:rPr sz="800" b="0" i="0">
                <a:solidFill>
                  <a:srgbClr val="0F766E"/>
                </a:solidFill>
                <a:latin typeface="Arial"/>
                <a:hlinkClick r:id="rId22"/>
              </a:rPr>
              <a:t>developer.android.com/develop/connectivity/wifi/wifi-direct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594360" y="518464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23"/>
              </a:rPr>
              <a:t>Bluetooth and BLE  </a:t>
            </a:r>
            <a:r>
              <a:rPr sz="800" b="0" i="0">
                <a:solidFill>
                  <a:srgbClr val="0F766E"/>
                </a:solidFill>
                <a:latin typeface="Arial"/>
                <a:hlinkClick r:id="rId23"/>
              </a:rPr>
              <a:t>developer.android.com/develop/connectivity/bluetooth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594360" y="5522976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24"/>
              </a:rPr>
              <a:t>Audio focus (ALERT)  </a:t>
            </a:r>
            <a:r>
              <a:rPr sz="800" b="0" i="0">
                <a:solidFill>
                  <a:srgbClr val="0F766E"/>
                </a:solidFill>
                <a:latin typeface="Arial"/>
                <a:hlinkClick r:id="rId24"/>
              </a:rPr>
              <a:t>developer.android.com/media/optimize/audio-focus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4937760" y="4315968"/>
            <a:ext cx="4434840" cy="1901952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Oval 17444"/>
          <p:cNvSpPr/>
          <p:nvPr/>
        </p:nvSpPr>
        <p:spPr>
          <a:xfrm>
            <a:off x="5029200" y="4407407"/>
            <a:ext cx="365760" cy="36576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github-whit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109667" y="4487875"/>
            <a:ext cx="204825" cy="204825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5486400" y="4471416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5803D"/>
                </a:solidFill>
                <a:latin typeface="Arial"/>
              </a:rPr>
              <a:t>Our work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5120640" y="4846320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26"/>
              </a:rPr>
              <a:t>Code and measurements  </a:t>
            </a:r>
            <a:r>
              <a:rPr sz="800" b="0" i="0">
                <a:solidFill>
                  <a:srgbClr val="0F766E"/>
                </a:solidFill>
                <a:latin typeface="Arial"/>
                <a:hlinkClick r:id="rId26"/>
              </a:rPr>
              <a:t>github.com/prasadxa/itantra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5120640" y="518464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27"/>
              </a:rPr>
              <a:t>Website  </a:t>
            </a:r>
            <a:r>
              <a:rPr sz="800" b="0" i="0">
                <a:solidFill>
                  <a:srgbClr val="0F766E"/>
                </a:solidFill>
                <a:latin typeface="Arial"/>
                <a:hlinkClick r:id="rId27"/>
              </a:rPr>
              <a:t>itantra-106.pages.dev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5120640" y="5522976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28"/>
              </a:rPr>
              <a:t>Demo film  </a:t>
            </a:r>
            <a:r>
              <a:rPr sz="800" b="0" i="0">
                <a:solidFill>
                  <a:srgbClr val="0F766E"/>
                </a:solidFill>
                <a:latin typeface="Arial"/>
                <a:hlinkClick r:id="rId28"/>
              </a:rPr>
              <a:t>itantra-106.pages.dev/demo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5120640" y="5861304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  <a:hlinkClick r:id="rId29"/>
              </a:rPr>
              <a:t>Model pack  </a:t>
            </a:r>
            <a:r>
              <a:rPr sz="800" b="0" i="0">
                <a:solidFill>
                  <a:srgbClr val="0F766E"/>
                </a:solidFill>
                <a:latin typeface="Arial"/>
                <a:hlinkClick r:id="rId29"/>
              </a:rPr>
              <a:t>r2.dev/models/v1/manifest.json</a:t>
            </a:r>
          </a:p>
        </p:txBody>
      </p:sp>
      <p:sp>
        <p:nvSpPr>
          <p:cNvPr id="17452" name="Rounded Rectangle 17451">
            <a:hlinkClick r:id="rId30"/>
          </p:cNvPr>
          <p:cNvSpPr/>
          <p:nvPr/>
        </p:nvSpPr>
        <p:spPr>
          <a:xfrm>
            <a:off x="9509760" y="1572768"/>
            <a:ext cx="2267712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3" name="Picture 17452" descr="qr-site.png">
            <a:hlinkClick r:id="rId30"/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601200" y="1655064"/>
            <a:ext cx="914400" cy="914400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10607040" y="1572768"/>
            <a:ext cx="114300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  <a:hlinkClick r:id="rId30"/>
              </a:rPr>
              <a:t>Website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overview · results</a:t>
            </a:r>
          </a:p>
        </p:txBody>
      </p:sp>
      <p:sp>
        <p:nvSpPr>
          <p:cNvPr id="17455" name="Rounded Rectangle 17454">
            <a:hlinkClick r:id="rId32"/>
          </p:cNvPr>
          <p:cNvSpPr/>
          <p:nvPr/>
        </p:nvSpPr>
        <p:spPr>
          <a:xfrm>
            <a:off x="9509760" y="2743200"/>
            <a:ext cx="2267712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6" name="Picture 17455" descr="qr-demo.png">
            <a:hlinkClick r:id="rId32"/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601200" y="2825496"/>
            <a:ext cx="914400" cy="914400"/>
          </a:xfrm>
          <a:prstGeom prst="rect">
            <a:avLst/>
          </a:prstGeom>
        </p:spPr>
      </p:pic>
      <p:sp>
        <p:nvSpPr>
          <p:cNvPr id="17457" name="TextBox 17456"/>
          <p:cNvSpPr txBox="1"/>
          <p:nvPr/>
        </p:nvSpPr>
        <p:spPr>
          <a:xfrm>
            <a:off x="10607040" y="2743200"/>
            <a:ext cx="114300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  <a:hlinkClick r:id="rId32"/>
              </a:rPr>
              <a:t>Demo film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1 min 55 s</a:t>
            </a:r>
          </a:p>
        </p:txBody>
      </p:sp>
      <p:sp>
        <p:nvSpPr>
          <p:cNvPr id="17458" name="Rounded Rectangle 17457">
            <a:hlinkClick r:id="rId26"/>
          </p:cNvPr>
          <p:cNvSpPr/>
          <p:nvPr/>
        </p:nvSpPr>
        <p:spPr>
          <a:xfrm>
            <a:off x="9509760" y="3913632"/>
            <a:ext cx="2267712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9" name="Picture 17458" descr="qr-github.png">
            <a:hlinkClick r:id="rId26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601200" y="3995928"/>
            <a:ext cx="914400" cy="914400"/>
          </a:xfrm>
          <a:prstGeom prst="rect">
            <a:avLst/>
          </a:prstGeom>
        </p:spPr>
      </p:pic>
      <p:sp>
        <p:nvSpPr>
          <p:cNvPr id="17460" name="TextBox 17459"/>
          <p:cNvSpPr txBox="1"/>
          <p:nvPr/>
        </p:nvSpPr>
        <p:spPr>
          <a:xfrm>
            <a:off x="10607040" y="3913632"/>
            <a:ext cx="114300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  <a:hlinkClick r:id="rId26"/>
              </a:rPr>
              <a:t>Code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GitHub</a:t>
            </a:r>
          </a:p>
        </p:txBody>
      </p:sp>
      <p:sp>
        <p:nvSpPr>
          <p:cNvPr id="17461" name="Rounded Rectangle 17460">
            <a:hlinkClick r:id="rId35"/>
          </p:cNvPr>
          <p:cNvSpPr/>
          <p:nvPr/>
        </p:nvSpPr>
        <p:spPr>
          <a:xfrm>
            <a:off x="9509760" y="5084064"/>
            <a:ext cx="2267712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qr-apk.png">
            <a:hlinkClick r:id="rId35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601200" y="5166359"/>
            <a:ext cx="914400" cy="914400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10607040" y="5084064"/>
            <a:ext cx="114300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  <a:hlinkClick r:id="rId35"/>
              </a:rPr>
              <a:t>APK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Android 8+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